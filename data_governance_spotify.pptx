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85" r:id="rId3"/>
    <p:sldId id="286" r:id="rId4"/>
    <p:sldId id="258" r:id="rId5"/>
    <p:sldId id="278" r:id="rId6"/>
    <p:sldId id="279" r:id="rId7"/>
    <p:sldId id="260" r:id="rId8"/>
    <p:sldId id="280" r:id="rId9"/>
    <p:sldId id="281" r:id="rId10"/>
    <p:sldId id="263" r:id="rId11"/>
    <p:sldId id="264" r:id="rId12"/>
    <p:sldId id="265" r:id="rId13"/>
    <p:sldId id="266" r:id="rId14"/>
    <p:sldId id="267" r:id="rId15"/>
    <p:sldId id="277" r:id="rId16"/>
    <p:sldId id="269" r:id="rId17"/>
    <p:sldId id="284" r:id="rId18"/>
    <p:sldId id="271" r:id="rId19"/>
    <p:sldId id="275" r:id="rId20"/>
    <p:sldId id="273" r:id="rId21"/>
    <p:sldId id="282" r:id="rId22"/>
    <p:sldId id="283" r:id="rId23"/>
    <p:sldId id="261" r:id="rId24"/>
    <p:sldId id="268" r:id="rId25"/>
    <p:sldId id="272" r:id="rId26"/>
    <p:sldId id="259" r:id="rId27"/>
    <p:sldId id="270" r:id="rId28"/>
    <p:sldId id="276" r:id="rId29"/>
    <p:sldId id="27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B95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694" autoAdjust="0"/>
  </p:normalViewPr>
  <p:slideViewPr>
    <p:cSldViewPr snapToGrid="0" snapToObjects="1">
      <p:cViewPr varScale="1">
        <p:scale>
          <a:sx n="108" d="100"/>
          <a:sy n="108" d="100"/>
        </p:scale>
        <p:origin x="141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F7A68-3DB3-4CDF-BF8D-5929E6B302D6}" type="datetimeFigureOut">
              <a:rPr lang="fr-FR" smtClean="0"/>
              <a:t>10/06/2026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000ABB-DDDE-4CEB-8AF7-E965FFF7A354}" type="slidenum">
              <a:rPr lang="fr-FR" smtClean="0"/>
              <a:t>‹N°›</a:t>
            </a:fld>
            <a:endParaRPr lang="fr-FR"/>
          </a:p>
        </p:txBody>
      </p:sp>
    </p:spTree>
    <p:extLst>
      <p:ext uri="{BB962C8B-B14F-4D97-AF65-F5344CB8AC3E}">
        <p14:creationId xmlns:p14="http://schemas.microsoft.com/office/powerpoint/2010/main" val="3476307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a:t>
            </a:fld>
            <a:endParaRPr lang="fr-FR"/>
          </a:p>
        </p:txBody>
      </p:sp>
    </p:spTree>
    <p:extLst>
      <p:ext uri="{BB962C8B-B14F-4D97-AF65-F5344CB8AC3E}">
        <p14:creationId xmlns:p14="http://schemas.microsoft.com/office/powerpoint/2010/main" val="2370918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Bonjour à tous, et merci pour votre accueil. Je suis ravie de vous présenter aujourd'hui le fruit de mon travail sur la gouvernance des données chez Spotify S.A. </a:t>
            </a:r>
          </a:p>
          <a:p>
            <a:r>
              <a:rPr lang="fr-FR" sz="1200" b="0" kern="1200" dirty="0">
                <a:solidFill>
                  <a:schemeClr val="tx1"/>
                </a:solidFill>
                <a:effectLst/>
                <a:latin typeface="+mn-lt"/>
                <a:ea typeface="+mn-ea"/>
                <a:cs typeface="+mn-cs"/>
              </a:rPr>
              <a:t>En tant qu'architecte en IA, j'ai voulu aborder ce sujet sous un angle très pragmatique. </a:t>
            </a:r>
          </a:p>
          <a:p>
            <a:r>
              <a:rPr lang="fr-FR" sz="1200" b="0" kern="1200" dirty="0">
                <a:solidFill>
                  <a:schemeClr val="tx1"/>
                </a:solidFill>
                <a:effectLst/>
                <a:latin typeface="+mn-lt"/>
                <a:ea typeface="+mn-ea"/>
                <a:cs typeface="+mn-cs"/>
              </a:rPr>
              <a:t>L'idée ici, ce n'est pas de créer une énième charte papier poussiéreuse que personne ne lira. </a:t>
            </a:r>
          </a:p>
          <a:p>
            <a:r>
              <a:rPr lang="fr-FR" sz="1200" b="0" kern="1200" dirty="0">
                <a:solidFill>
                  <a:schemeClr val="tx1"/>
                </a:solidFill>
                <a:effectLst/>
                <a:latin typeface="+mn-lt"/>
                <a:ea typeface="+mn-ea"/>
                <a:cs typeface="+mn-cs"/>
              </a:rPr>
              <a:t>Mon but a été de concevoir un </a:t>
            </a:r>
            <a:r>
              <a:rPr lang="fr-FR" sz="1200" b="0" kern="1200" dirty="0" err="1">
                <a:solidFill>
                  <a:schemeClr val="tx1"/>
                </a:solidFill>
                <a:effectLst/>
                <a:latin typeface="+mn-lt"/>
                <a:ea typeface="+mn-ea"/>
                <a:cs typeface="+mn-cs"/>
              </a:rPr>
              <a:t>blueprint</a:t>
            </a:r>
            <a:r>
              <a:rPr lang="fr-FR" sz="1200" b="0" kern="1200" dirty="0">
                <a:solidFill>
                  <a:schemeClr val="tx1"/>
                </a:solidFill>
                <a:effectLst/>
                <a:latin typeface="+mn-lt"/>
                <a:ea typeface="+mn-ea"/>
                <a:cs typeface="+mn-cs"/>
              </a:rPr>
              <a:t> opérationnel capable de transformer la gouvernance des données </a:t>
            </a:r>
          </a:p>
          <a:p>
            <a:r>
              <a:rPr lang="fr-FR" sz="1200" b="0" kern="1200" dirty="0">
                <a:solidFill>
                  <a:schemeClr val="tx1"/>
                </a:solidFill>
                <a:effectLst/>
                <a:latin typeface="+mn-lt"/>
                <a:ea typeface="+mn-ea"/>
                <a:cs typeface="+mn-cs"/>
              </a:rPr>
              <a:t>en un véritable levier de performance et d'éthique pour nos équipes de développement, tout en préparant sereinement nos infrastructures à l'accueil de la prochaine génération d'algorithmes d'apprentissage."</a:t>
            </a:r>
          </a:p>
          <a:p>
            <a:pPr>
              <a:spcAft>
                <a:spcPts val="1200"/>
              </a:spcAft>
              <a:defRPr sz="1200" b="1">
                <a:solidFill>
                  <a:srgbClr val="1DB954"/>
                </a:solidFill>
                <a:latin typeface="Arial"/>
              </a:defRPr>
            </a:pPr>
            <a:r>
              <a:rPr lang="fr-FR" dirty="0"/>
              <a:t>1. Vision &amp; Diagnostic</a:t>
            </a:r>
          </a:p>
          <a:p>
            <a:pPr>
              <a:spcAft>
                <a:spcPts val="800"/>
              </a:spcAft>
              <a:defRPr sz="900" b="1">
                <a:solidFill>
                  <a:srgbClr val="FFFFFF"/>
                </a:solidFill>
                <a:latin typeface="Arial"/>
              </a:defRPr>
            </a:pPr>
            <a:r>
              <a:rPr lang="fr-FR" dirty="0"/>
              <a:t>Diagnostic :</a:t>
            </a:r>
            <a:r>
              <a:rPr lang="fr-FR" sz="1200" b="0" dirty="0">
                <a:solidFill>
                  <a:srgbClr val="B3B3B3"/>
                </a:solidFill>
              </a:rPr>
              <a:t> Analyse de maturité (Gartner niveau 2 vs cible 4).</a:t>
            </a:r>
          </a:p>
          <a:p>
            <a:pPr>
              <a:spcAft>
                <a:spcPts val="800"/>
              </a:spcAft>
              <a:defRPr sz="900" b="1">
                <a:solidFill>
                  <a:srgbClr val="FFFFFF"/>
                </a:solidFill>
                <a:latin typeface="Arial"/>
              </a:defRPr>
            </a:pPr>
            <a:r>
              <a:rPr lang="fr-FR" dirty="0"/>
              <a:t>Objectifs :</a:t>
            </a:r>
            <a:r>
              <a:rPr lang="fr-FR" sz="1200" b="0" dirty="0">
                <a:solidFill>
                  <a:srgbClr val="B3B3B3"/>
                </a:solidFill>
              </a:rPr>
              <a:t> Décloisonnement, qualité de la donnée (+20%) &amp; souveraineté.</a:t>
            </a:r>
          </a:p>
          <a:p>
            <a:pPr>
              <a:spcAft>
                <a:spcPts val="800"/>
              </a:spcAft>
              <a:defRPr sz="900" b="1">
                <a:solidFill>
                  <a:srgbClr val="FFFFFF"/>
                </a:solidFill>
                <a:latin typeface="Arial"/>
              </a:defRPr>
            </a:pPr>
            <a:r>
              <a:rPr lang="fr-FR" dirty="0"/>
              <a:t>Cadrage DMBOK :</a:t>
            </a:r>
            <a:r>
              <a:rPr lang="fr-FR" sz="1200" b="0" dirty="0">
                <a:solidFill>
                  <a:srgbClr val="B3B3B3"/>
                </a:solidFill>
              </a:rPr>
              <a:t> Alignement complet sur les axes théoriques de référence.</a:t>
            </a:r>
          </a:p>
          <a:p>
            <a:pPr>
              <a:spcAft>
                <a:spcPts val="800"/>
              </a:spcAft>
              <a:defRPr sz="900" b="1">
                <a:solidFill>
                  <a:srgbClr val="FFFFFF"/>
                </a:solidFill>
                <a:latin typeface="Arial"/>
              </a:defRPr>
            </a:pPr>
            <a:endParaRPr lang="fr-FR" sz="1200" b="0" dirty="0">
              <a:solidFill>
                <a:srgbClr val="B3B3B3"/>
              </a:solidFill>
            </a:endParaRPr>
          </a:p>
          <a:p>
            <a:pPr>
              <a:spcAft>
                <a:spcPts val="1200"/>
              </a:spcAft>
              <a:defRPr sz="1200" b="1">
                <a:solidFill>
                  <a:srgbClr val="1DB954"/>
                </a:solidFill>
                <a:latin typeface="Arial"/>
              </a:defRPr>
            </a:pPr>
            <a:r>
              <a:rPr lang="fr-FR" dirty="0"/>
              <a:t>2. Modèle opératoire cible</a:t>
            </a:r>
          </a:p>
          <a:p>
            <a:pPr>
              <a:spcAft>
                <a:spcPts val="800"/>
              </a:spcAft>
              <a:defRPr sz="900" b="1">
                <a:solidFill>
                  <a:srgbClr val="FFFFFF"/>
                </a:solidFill>
                <a:latin typeface="Arial"/>
              </a:defRPr>
            </a:pPr>
            <a:r>
              <a:rPr lang="fr-FR" dirty="0"/>
              <a:t>Center of Excellence :</a:t>
            </a:r>
            <a:r>
              <a:rPr lang="fr-FR" sz="1200" b="0" dirty="0">
                <a:solidFill>
                  <a:srgbClr val="B3B3B3"/>
                </a:solidFill>
              </a:rPr>
              <a:t> Modèle organisationnel </a:t>
            </a:r>
            <a:r>
              <a:rPr lang="fr-FR" sz="1200" b="0" dirty="0" err="1">
                <a:solidFill>
                  <a:srgbClr val="B3B3B3"/>
                </a:solidFill>
              </a:rPr>
              <a:t>CoE</a:t>
            </a:r>
            <a:r>
              <a:rPr lang="fr-FR" sz="1200" b="0" dirty="0">
                <a:solidFill>
                  <a:srgbClr val="B3B3B3"/>
                </a:solidFill>
              </a:rPr>
              <a:t> hybride Spotify.</a:t>
            </a:r>
          </a:p>
          <a:p>
            <a:pPr>
              <a:spcAft>
                <a:spcPts val="800"/>
              </a:spcAft>
              <a:defRPr sz="900" b="1">
                <a:solidFill>
                  <a:srgbClr val="FFFFFF"/>
                </a:solidFill>
                <a:latin typeface="Arial"/>
              </a:defRPr>
            </a:pPr>
            <a:r>
              <a:rPr lang="fr-FR" dirty="0"/>
              <a:t>Organigramme :</a:t>
            </a:r>
            <a:r>
              <a:rPr lang="fr-FR" sz="1200" b="0" dirty="0">
                <a:solidFill>
                  <a:srgbClr val="B3B3B3"/>
                </a:solidFill>
              </a:rPr>
              <a:t> Rôles clairs (DPO, CDO, Stewards, Custodians).</a:t>
            </a:r>
          </a:p>
          <a:p>
            <a:pPr>
              <a:spcAft>
                <a:spcPts val="800"/>
              </a:spcAft>
              <a:defRPr sz="900" b="1">
                <a:solidFill>
                  <a:srgbClr val="FFFFFF"/>
                </a:solidFill>
                <a:latin typeface="Arial"/>
              </a:defRPr>
            </a:pPr>
            <a:r>
              <a:rPr lang="fr-FR" dirty="0"/>
              <a:t>Matrice RACI :</a:t>
            </a:r>
            <a:r>
              <a:rPr lang="fr-FR" sz="1200" b="0" dirty="0">
                <a:solidFill>
                  <a:srgbClr val="B3B3B3"/>
                </a:solidFill>
              </a:rPr>
              <a:t> Distribution précise des responsabilités clés.</a:t>
            </a:r>
          </a:p>
          <a:p>
            <a:pPr>
              <a:spcAft>
                <a:spcPts val="800"/>
              </a:spcAft>
              <a:defRPr sz="900" b="1">
                <a:solidFill>
                  <a:srgbClr val="FFFFFF"/>
                </a:solidFill>
                <a:latin typeface="Arial"/>
              </a:defRPr>
            </a:pPr>
            <a:endParaRPr lang="fr-FR" sz="1200" b="0" dirty="0">
              <a:solidFill>
                <a:srgbClr val="B3B3B3"/>
              </a:solidFill>
            </a:endParaRPr>
          </a:p>
          <a:p>
            <a:pPr>
              <a:spcAft>
                <a:spcPts val="1200"/>
              </a:spcAft>
              <a:defRPr sz="1200" b="1">
                <a:solidFill>
                  <a:srgbClr val="1DB954"/>
                </a:solidFill>
                <a:latin typeface="Arial"/>
              </a:defRPr>
            </a:pPr>
            <a:r>
              <a:rPr lang="fr-FR" dirty="0"/>
              <a:t>3. </a:t>
            </a:r>
            <a:r>
              <a:rPr lang="fr-FR" sz="1200" b="1" dirty="0">
                <a:solidFill>
                  <a:schemeClr val="bg1"/>
                </a:solidFill>
                <a:latin typeface="Arial" panose="020B0604020202020204" pitchFamily="34" charset="0"/>
                <a:cs typeface="Arial" panose="020B0604020202020204" pitchFamily="34" charset="0"/>
              </a:rPr>
              <a:t>Architecture de données  &amp; conformité </a:t>
            </a:r>
          </a:p>
          <a:p>
            <a:pPr>
              <a:spcAft>
                <a:spcPts val="1200"/>
              </a:spcAft>
              <a:defRPr sz="1200" b="1">
                <a:solidFill>
                  <a:srgbClr val="1DB954"/>
                </a:solidFill>
                <a:latin typeface="Arial"/>
              </a:defRPr>
            </a:pPr>
            <a:r>
              <a:rPr lang="fr-FR" dirty="0"/>
              <a:t>Gouvernance fédérée :</a:t>
            </a:r>
            <a:r>
              <a:rPr lang="fr-FR" sz="1200" b="0" dirty="0">
                <a:solidFill>
                  <a:srgbClr val="B3B3B3"/>
                </a:solidFill>
              </a:rPr>
              <a:t> Fichiers standardisés </a:t>
            </a:r>
            <a:r>
              <a:rPr lang="fr-FR" sz="1200" b="0" dirty="0" err="1">
                <a:solidFill>
                  <a:srgbClr val="B3B3B3"/>
                </a:solidFill>
              </a:rPr>
              <a:t>owner.yaml</a:t>
            </a:r>
            <a:r>
              <a:rPr lang="fr-FR" sz="1200" b="0" dirty="0">
                <a:solidFill>
                  <a:srgbClr val="B3B3B3"/>
                </a:solidFill>
              </a:rPr>
              <a:t> Git Ops.</a:t>
            </a:r>
          </a:p>
          <a:p>
            <a:pPr>
              <a:spcAft>
                <a:spcPts val="800"/>
              </a:spcAft>
              <a:defRPr sz="900" b="1">
                <a:solidFill>
                  <a:srgbClr val="FFFFFF"/>
                </a:solidFill>
                <a:latin typeface="Arial"/>
              </a:defRPr>
            </a:pPr>
            <a:r>
              <a:rPr lang="fr-FR" dirty="0"/>
              <a:t>Portail Backstage :</a:t>
            </a:r>
            <a:r>
              <a:rPr lang="fr-FR" sz="1200" b="0" dirty="0">
                <a:solidFill>
                  <a:srgbClr val="B3B3B3"/>
                </a:solidFill>
              </a:rPr>
              <a:t> Registre automatique, </a:t>
            </a:r>
            <a:r>
              <a:rPr lang="fr-FR" sz="1200" b="0" dirty="0" err="1">
                <a:solidFill>
                  <a:srgbClr val="B3B3B3"/>
                </a:solidFill>
              </a:rPr>
              <a:t>lineage</a:t>
            </a:r>
            <a:r>
              <a:rPr lang="fr-FR" sz="1200" b="0" dirty="0">
                <a:solidFill>
                  <a:srgbClr val="B3B3B3"/>
                </a:solidFill>
              </a:rPr>
              <a:t> &amp; sémantique.</a:t>
            </a:r>
          </a:p>
          <a:p>
            <a:pPr>
              <a:spcAft>
                <a:spcPts val="800"/>
              </a:spcAft>
              <a:defRPr sz="900" b="1">
                <a:solidFill>
                  <a:srgbClr val="FFFFFF"/>
                </a:solidFill>
                <a:latin typeface="Arial"/>
              </a:defRPr>
            </a:pPr>
            <a:r>
              <a:rPr lang="fr-FR" dirty="0"/>
              <a:t>Écosystème outillé :</a:t>
            </a:r>
            <a:r>
              <a:rPr lang="fr-FR" sz="1200" b="0" dirty="0">
                <a:solidFill>
                  <a:srgbClr val="B3B3B3"/>
                </a:solidFill>
              </a:rPr>
              <a:t> GCP KMS, </a:t>
            </a:r>
            <a:r>
              <a:rPr lang="fr-FR" sz="1200" b="0" dirty="0" err="1">
                <a:solidFill>
                  <a:srgbClr val="B3B3B3"/>
                </a:solidFill>
              </a:rPr>
              <a:t>OneTrust</a:t>
            </a:r>
            <a:r>
              <a:rPr lang="fr-FR" sz="1200" b="0" dirty="0">
                <a:solidFill>
                  <a:srgbClr val="B3B3B3"/>
                </a:solidFill>
              </a:rPr>
              <a:t>, </a:t>
            </a:r>
            <a:r>
              <a:rPr lang="fr-FR" sz="1200" b="0" dirty="0" err="1">
                <a:solidFill>
                  <a:srgbClr val="B3B3B3"/>
                </a:solidFill>
              </a:rPr>
              <a:t>BigQuery</a:t>
            </a:r>
            <a:r>
              <a:rPr lang="fr-FR" sz="1200" b="0" dirty="0">
                <a:solidFill>
                  <a:srgbClr val="B3B3B3"/>
                </a:solidFill>
              </a:rPr>
              <a:t>, Talend &amp; Splunk.</a:t>
            </a:r>
          </a:p>
          <a:p>
            <a:pPr>
              <a:spcAft>
                <a:spcPts val="800"/>
              </a:spcAft>
              <a:defRPr sz="900" b="1">
                <a:solidFill>
                  <a:srgbClr val="FFFFFF"/>
                </a:solidFill>
                <a:latin typeface="Arial"/>
              </a:defRPr>
            </a:pPr>
            <a:endParaRPr lang="fr-FR" sz="1200" b="0" dirty="0">
              <a:solidFill>
                <a:srgbClr val="B3B3B3"/>
              </a:solidFill>
            </a:endParaRPr>
          </a:p>
          <a:p>
            <a:r>
              <a:rPr lang="fr-FR" sz="1200" b="1" dirty="0">
                <a:solidFill>
                  <a:schemeClr val="bg1"/>
                </a:solidFill>
                <a:latin typeface="Arial" panose="020B0604020202020204" pitchFamily="34" charset="0"/>
                <a:cs typeface="Arial" panose="020B0604020202020204" pitchFamily="34" charset="0"/>
              </a:rPr>
              <a:t>4. POC  et protocoles d’urgence </a:t>
            </a:r>
          </a:p>
          <a:p>
            <a:pPr>
              <a:spcAft>
                <a:spcPts val="800"/>
              </a:spcAft>
              <a:defRPr sz="900" b="1">
                <a:solidFill>
                  <a:srgbClr val="FFFFFF"/>
                </a:solidFill>
                <a:latin typeface="Arial"/>
              </a:defRPr>
            </a:pPr>
            <a:r>
              <a:rPr lang="fr-FR" dirty="0"/>
              <a:t>Projet Pilote :</a:t>
            </a:r>
            <a:r>
              <a:rPr lang="fr-FR" sz="1200" b="0" dirty="0">
                <a:solidFill>
                  <a:srgbClr val="B3B3B3"/>
                </a:solidFill>
              </a:rPr>
              <a:t> Flux sécurisé d'acquisition de la division marketing.</a:t>
            </a:r>
          </a:p>
          <a:p>
            <a:pPr>
              <a:spcAft>
                <a:spcPts val="800"/>
              </a:spcAft>
              <a:defRPr sz="900" b="1">
                <a:solidFill>
                  <a:srgbClr val="FFFFFF"/>
                </a:solidFill>
                <a:latin typeface="Arial"/>
              </a:defRPr>
            </a:pPr>
            <a:r>
              <a:rPr lang="fr-FR" dirty="0"/>
              <a:t>Sémantique sociale :</a:t>
            </a:r>
            <a:r>
              <a:rPr lang="fr-FR" sz="1200" b="0" dirty="0">
                <a:solidFill>
                  <a:srgbClr val="B3B3B3"/>
                </a:solidFill>
              </a:rPr>
              <a:t> Mapping dictionnaire-Slack (-40% temps recherche).</a:t>
            </a:r>
          </a:p>
          <a:p>
            <a:pPr>
              <a:spcAft>
                <a:spcPts val="800"/>
              </a:spcAft>
              <a:defRPr sz="900" b="1">
                <a:solidFill>
                  <a:srgbClr val="FFFFFF"/>
                </a:solidFill>
                <a:latin typeface="Arial"/>
              </a:defRPr>
            </a:pPr>
            <a:r>
              <a:rPr lang="fr-FR" dirty="0"/>
              <a:t>Inclusion &amp; Veille :</a:t>
            </a:r>
            <a:r>
              <a:rPr lang="fr-FR" sz="1200" b="0" dirty="0">
                <a:solidFill>
                  <a:srgbClr val="B3B3B3"/>
                </a:solidFill>
              </a:rPr>
              <a:t> </a:t>
            </a:r>
            <a:r>
              <a:rPr lang="fr-FR" sz="1200" b="0" dirty="0" err="1">
                <a:solidFill>
                  <a:srgbClr val="B3B3B3"/>
                </a:solidFill>
              </a:rPr>
              <a:t>Dashboards</a:t>
            </a:r>
            <a:r>
              <a:rPr lang="fr-FR" sz="1200" b="0" dirty="0">
                <a:solidFill>
                  <a:srgbClr val="B3B3B3"/>
                </a:solidFill>
              </a:rPr>
              <a:t> Looker / Tableau (RGAA) &amp; EU AI </a:t>
            </a:r>
            <a:r>
              <a:rPr lang="fr-FR" sz="1200" b="0" dirty="0" err="1">
                <a:solidFill>
                  <a:srgbClr val="B3B3B3"/>
                </a:solidFill>
              </a:rPr>
              <a:t>Act</a:t>
            </a:r>
            <a:r>
              <a:rPr lang="fr-FR" sz="1200" b="0" dirty="0">
                <a:solidFill>
                  <a:srgbClr val="B3B3B3"/>
                </a:solidFill>
              </a:rPr>
              <a:t>.</a:t>
            </a:r>
          </a:p>
          <a:p>
            <a:pPr>
              <a:spcAft>
                <a:spcPts val="800"/>
              </a:spcAft>
              <a:defRPr sz="900" b="1">
                <a:solidFill>
                  <a:srgbClr val="FFFFFF"/>
                </a:solidFill>
                <a:latin typeface="Arial"/>
              </a:defRPr>
            </a:pPr>
            <a:r>
              <a:rPr lang="fr-FR" dirty="0"/>
              <a:t>Plans d'urgence :</a:t>
            </a:r>
            <a:r>
              <a:rPr lang="fr-FR" sz="1200" b="0" dirty="0">
                <a:solidFill>
                  <a:srgbClr val="B3B3B3"/>
                </a:solidFill>
              </a:rPr>
              <a:t> Protocoles de crise Alpha (PII </a:t>
            </a:r>
            <a:r>
              <a:rPr lang="fr-FR" sz="1200" b="0" dirty="0" err="1">
                <a:solidFill>
                  <a:srgbClr val="B3B3B3"/>
                </a:solidFill>
              </a:rPr>
              <a:t>leak</a:t>
            </a:r>
            <a:r>
              <a:rPr lang="fr-FR" sz="1200" b="0" dirty="0">
                <a:solidFill>
                  <a:srgbClr val="B3B3B3"/>
                </a:solidFill>
              </a:rPr>
              <a:t>) &amp; Beta (KMS DRP).</a:t>
            </a:r>
          </a:p>
          <a:p>
            <a:endParaRPr lang="fr-FR" dirty="0"/>
          </a:p>
          <a:p>
            <a:r>
              <a:rPr lang="fr-FR" sz="1200" b="1" dirty="0">
                <a:solidFill>
                  <a:schemeClr val="bg1"/>
                </a:solidFill>
                <a:latin typeface="Arial" panose="020B0604020202020204" pitchFamily="34" charset="0"/>
                <a:cs typeface="Arial" panose="020B0604020202020204" pitchFamily="34" charset="0"/>
              </a:rPr>
              <a:t>5. Roadmap &amp; Valorisation</a:t>
            </a:r>
          </a:p>
          <a:p>
            <a:pPr>
              <a:spcAft>
                <a:spcPts val="800"/>
              </a:spcAft>
              <a:defRPr sz="900" b="1">
                <a:solidFill>
                  <a:srgbClr val="FFFFFF"/>
                </a:solidFill>
                <a:latin typeface="Arial"/>
              </a:defRPr>
            </a:pPr>
            <a:r>
              <a:rPr lang="fr-FR" dirty="0"/>
              <a:t>Roadmap :</a:t>
            </a:r>
            <a:r>
              <a:rPr lang="fr-FR" sz="1200" b="0" dirty="0">
                <a:solidFill>
                  <a:srgbClr val="B3B3B3"/>
                </a:solidFill>
              </a:rPr>
              <a:t> Feuille de route d'implémentation sur 18 mois.</a:t>
            </a:r>
          </a:p>
          <a:p>
            <a:pPr>
              <a:spcAft>
                <a:spcPts val="800"/>
              </a:spcAft>
              <a:defRPr sz="900" b="1">
                <a:solidFill>
                  <a:srgbClr val="FFFFFF"/>
                </a:solidFill>
                <a:latin typeface="Arial"/>
              </a:defRPr>
            </a:pPr>
            <a:r>
              <a:rPr lang="fr-FR" dirty="0"/>
              <a:t>Gestion des risques :</a:t>
            </a:r>
            <a:r>
              <a:rPr lang="fr-FR" sz="1200" b="0" dirty="0">
                <a:solidFill>
                  <a:srgbClr val="B3B3B3"/>
                </a:solidFill>
              </a:rPr>
              <a:t> Mitigation, probabilité &amp; impact (25/25).</a:t>
            </a:r>
          </a:p>
          <a:p>
            <a:pPr>
              <a:spcAft>
                <a:spcPts val="800"/>
              </a:spcAft>
              <a:defRPr sz="900" b="1">
                <a:solidFill>
                  <a:srgbClr val="FFFFFF"/>
                </a:solidFill>
                <a:latin typeface="Arial"/>
              </a:defRPr>
            </a:pPr>
            <a:r>
              <a:rPr lang="fr-FR" dirty="0" err="1"/>
              <a:t>Infonomics</a:t>
            </a:r>
            <a:r>
              <a:rPr lang="fr-FR" dirty="0"/>
              <a:t> :</a:t>
            </a:r>
            <a:r>
              <a:rPr lang="fr-FR" sz="1200" b="0" dirty="0">
                <a:solidFill>
                  <a:srgbClr val="B3B3B3"/>
                </a:solidFill>
              </a:rPr>
              <a:t> Gains mesurés (R&amp;D +25%, budget média +15%) &amp; conclusion.</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2</a:t>
            </a:fld>
            <a:endParaRPr lang="fr-FR"/>
          </a:p>
        </p:txBody>
      </p:sp>
    </p:spTree>
    <p:extLst>
      <p:ext uri="{BB962C8B-B14F-4D97-AF65-F5344CB8AC3E}">
        <p14:creationId xmlns:p14="http://schemas.microsoft.com/office/powerpoint/2010/main" val="3264061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Pour commencer, posons le décor. </a:t>
            </a:r>
          </a:p>
          <a:p>
            <a:r>
              <a:rPr lang="fr-FR" sz="1200" b="0" kern="1200" dirty="0">
                <a:solidFill>
                  <a:schemeClr val="tx1"/>
                </a:solidFill>
                <a:effectLst/>
                <a:latin typeface="+mn-lt"/>
                <a:ea typeface="+mn-ea"/>
                <a:cs typeface="+mn-cs"/>
              </a:rPr>
              <a:t>Spotify, c'est environ 500 milliards d'événements traités par jour. </a:t>
            </a:r>
          </a:p>
          <a:p>
            <a:r>
              <a:rPr lang="fr-FR" sz="1200" b="0" kern="1200" dirty="0">
                <a:solidFill>
                  <a:schemeClr val="tx1"/>
                </a:solidFill>
                <a:effectLst/>
                <a:latin typeface="+mn-lt"/>
                <a:ea typeface="+mn-ea"/>
                <a:cs typeface="+mn-cs"/>
              </a:rPr>
              <a:t>C'est une réussite technique incroyable. Mais cette </a:t>
            </a:r>
            <a:r>
              <a:rPr lang="fr-FR" sz="1200" b="0" kern="1200" dirty="0" err="1">
                <a:solidFill>
                  <a:schemeClr val="tx1"/>
                </a:solidFill>
                <a:effectLst/>
                <a:latin typeface="+mn-lt"/>
                <a:ea typeface="+mn-ea"/>
                <a:cs typeface="+mn-cs"/>
              </a:rPr>
              <a:t>hypercroissance</a:t>
            </a:r>
            <a:r>
              <a:rPr lang="fr-FR" sz="1200" b="0" kern="1200" dirty="0">
                <a:solidFill>
                  <a:schemeClr val="tx1"/>
                </a:solidFill>
                <a:effectLst/>
                <a:latin typeface="+mn-lt"/>
                <a:ea typeface="+mn-ea"/>
                <a:cs typeface="+mn-cs"/>
              </a:rPr>
              <a:t> et la migration transition rapide vers le cloud ont généré un effet de bord : une grosse fragmentation. </a:t>
            </a:r>
          </a:p>
          <a:p>
            <a:r>
              <a:rPr lang="fr-FR" sz="1200" b="0" kern="1200" dirty="0">
                <a:solidFill>
                  <a:schemeClr val="tx1"/>
                </a:solidFill>
                <a:effectLst/>
                <a:latin typeface="+mn-lt"/>
                <a:ea typeface="+mn-ea"/>
                <a:cs typeface="+mn-cs"/>
              </a:rPr>
              <a:t>On s'est retrouvé avec des silos entre les équipes agiles, des milliers de tables et de pipelines orphelins – dont plus personne ne revendique la propriété – et une vraie difficulté à tracer l'origine des données qui entraînent nos modèles d'IA. </a:t>
            </a:r>
          </a:p>
          <a:p>
            <a:r>
              <a:rPr lang="fr-FR" sz="1200" b="0" kern="1200" dirty="0">
                <a:solidFill>
                  <a:schemeClr val="tx1"/>
                </a:solidFill>
                <a:effectLst/>
                <a:latin typeface="+mn-lt"/>
                <a:ea typeface="+mn-ea"/>
                <a:cs typeface="+mn-cs"/>
              </a:rPr>
              <a:t>En évaluant notre niveau selon le modèle de maturité de Gartner, le constat est sans appel : on est au niveau 2, 'Réactif'. Notre feuille de route sur 18 mois est claire : atteindre le niveau 4, '</a:t>
            </a:r>
            <a:r>
              <a:rPr lang="fr-FR" sz="1200" b="0" kern="1200" dirty="0" err="1">
                <a:solidFill>
                  <a:schemeClr val="tx1"/>
                </a:solidFill>
                <a:effectLst/>
                <a:latin typeface="+mn-lt"/>
                <a:ea typeface="+mn-ea"/>
                <a:cs typeface="+mn-cs"/>
              </a:rPr>
              <a:t>Managed</a:t>
            </a:r>
            <a:r>
              <a:rPr lang="fr-FR" sz="1200" b="0" kern="1200" dirty="0">
                <a:solidFill>
                  <a:schemeClr val="tx1"/>
                </a:solidFill>
                <a:effectLst/>
                <a:latin typeface="+mn-lt"/>
                <a:ea typeface="+mn-ea"/>
                <a:cs typeface="+mn-cs"/>
              </a:rPr>
              <a:t>', mais d'une manière très 'Spotify', c'est-à-dire sans ajouter de lourdeur administrative."</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3</a:t>
            </a:fld>
            <a:endParaRPr lang="fr-FR"/>
          </a:p>
        </p:txBody>
      </p:sp>
    </p:spTree>
    <p:extLst>
      <p:ext uri="{BB962C8B-B14F-4D97-AF65-F5344CB8AC3E}">
        <p14:creationId xmlns:p14="http://schemas.microsoft.com/office/powerpoint/2010/main" val="1965188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Pour réussir cette transition, nous nous sommes fixés quatre grands objectifs stratégiques guidés par un concept fondamental : la Source Unique de Vérité, ou SSOT. </a:t>
            </a:r>
          </a:p>
          <a:p>
            <a:r>
              <a:rPr lang="fr-FR" sz="1200" b="0" kern="1200" dirty="0">
                <a:solidFill>
                  <a:schemeClr val="tx1"/>
                </a:solidFill>
                <a:effectLst/>
                <a:latin typeface="+mn-lt"/>
                <a:ea typeface="+mn-ea"/>
                <a:cs typeface="+mn-cs"/>
              </a:rPr>
              <a:t>Attention, il ne s'agit pas d'entasser toutes nos données au même endroit de manière rigide, mais d'harmoniser nos définitions pour que tout le monde parle enfin le même langage. </a:t>
            </a:r>
          </a:p>
          <a:p>
            <a:r>
              <a:rPr lang="fr-FR" sz="1200" b="0" kern="1200" dirty="0">
                <a:solidFill>
                  <a:schemeClr val="tx1"/>
                </a:solidFill>
                <a:effectLst/>
                <a:latin typeface="+mn-lt"/>
                <a:ea typeface="+mn-ea"/>
                <a:cs typeface="+mn-cs"/>
              </a:rPr>
              <a:t>Concrètement, on veut briser les barrières entre le marketing, la finance et la technique, </a:t>
            </a:r>
          </a:p>
          <a:p>
            <a:r>
              <a:rPr lang="fr-FR" sz="1200" b="0" kern="1200" dirty="0">
                <a:solidFill>
                  <a:schemeClr val="tx1"/>
                </a:solidFill>
                <a:effectLst/>
                <a:latin typeface="+mn-lt"/>
                <a:ea typeface="+mn-ea"/>
                <a:cs typeface="+mn-cs"/>
              </a:rPr>
              <a:t>garantir une conformité irréprochable au RGPD et au CCPA, </a:t>
            </a:r>
          </a:p>
          <a:p>
            <a:r>
              <a:rPr lang="fr-FR" sz="1200" b="0" kern="1200" dirty="0">
                <a:solidFill>
                  <a:schemeClr val="tx1"/>
                </a:solidFill>
                <a:effectLst/>
                <a:latin typeface="+mn-lt"/>
                <a:ea typeface="+mn-ea"/>
                <a:cs typeface="+mn-cs"/>
              </a:rPr>
              <a:t>améliorer la qualité de nos données de 20 % dès l'ingestion pour éviter les biais algorithmiques, </a:t>
            </a:r>
          </a:p>
          <a:p>
            <a:r>
              <a:rPr lang="fr-FR" sz="1200" b="0" kern="1200" dirty="0">
                <a:solidFill>
                  <a:schemeClr val="tx1"/>
                </a:solidFill>
                <a:effectLst/>
                <a:latin typeface="+mn-lt"/>
                <a:ea typeface="+mn-ea"/>
                <a:cs typeface="+mn-cs"/>
              </a:rPr>
              <a:t>et faire de notre portail interne Backstage le catalogue universel et auditable de toutes nos métadonnées."</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4</a:t>
            </a:fld>
            <a:endParaRPr lang="fr-FR"/>
          </a:p>
        </p:txBody>
      </p:sp>
    </p:spTree>
    <p:extLst>
      <p:ext uri="{BB962C8B-B14F-4D97-AF65-F5344CB8AC3E}">
        <p14:creationId xmlns:p14="http://schemas.microsoft.com/office/powerpoint/2010/main" val="2038407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"Pour donner une assise scientifique solide à ce programme, je me suis appuyé sur le référentiel international DAMA-DMBOK2. </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5</a:t>
            </a:fld>
            <a:endParaRPr lang="fr-FR"/>
          </a:p>
        </p:txBody>
      </p:sp>
    </p:spTree>
    <p:extLst>
      <p:ext uri="{BB962C8B-B14F-4D97-AF65-F5344CB8AC3E}">
        <p14:creationId xmlns:p14="http://schemas.microsoft.com/office/powerpoint/2010/main" val="2208874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 Nous avons décliné notre politique en huit principes fondamentaux. Cela va de la responsabilité claire de nos acteurs à la minimisation des données collectées en passant par la sécurité (avec le chiffrement fort) et la qualité continue. </a:t>
            </a:r>
          </a:p>
          <a:p>
            <a:r>
              <a:rPr lang="fr-FR" sz="1200" b="0" kern="1200" dirty="0">
                <a:solidFill>
                  <a:schemeClr val="tx1"/>
                </a:solidFill>
                <a:effectLst/>
                <a:latin typeface="+mn-lt"/>
                <a:ea typeface="+mn-ea"/>
                <a:cs typeface="+mn-cs"/>
              </a:rPr>
              <a:t>Mais il y a un principe qui me tient particulièrement à cœur en tant qu'architecte IA, c'est l'Éthique Algorithmique. On doit s'assurer que nos modèles d'IA soient équitables, explicables et exempts de biais de genre, d'ethnie ou d'artiste. C'est l'essence même d'une gouvernance moderne."</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6</a:t>
            </a:fld>
            <a:endParaRPr lang="fr-FR"/>
          </a:p>
        </p:txBody>
      </p:sp>
    </p:spTree>
    <p:extLst>
      <p:ext uri="{BB962C8B-B14F-4D97-AF65-F5344CB8AC3E}">
        <p14:creationId xmlns:p14="http://schemas.microsoft.com/office/powerpoint/2010/main" val="4128147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Alors, comment on coordonne ce programme pour plus de 7 000 collaborateurs dans le monde sans créer d'embouteillages ? </a:t>
            </a:r>
          </a:p>
          <a:p>
            <a:r>
              <a:rPr lang="fr-FR" sz="1200" b="0" kern="1200" dirty="0">
                <a:solidFill>
                  <a:schemeClr val="tx1"/>
                </a:solidFill>
                <a:effectLst/>
                <a:latin typeface="+mn-lt"/>
                <a:ea typeface="+mn-ea"/>
                <a:cs typeface="+mn-cs"/>
              </a:rPr>
              <a:t>Nous avons rejeté le modèle purement centralisé, beaucoup trop rigide, et nous avons adopté le modèle du 'Centre d'Excellence', ou </a:t>
            </a:r>
            <a:r>
              <a:rPr lang="fr-FR" sz="1200" b="0" kern="1200" dirty="0" err="1">
                <a:solidFill>
                  <a:schemeClr val="tx1"/>
                </a:solidFill>
                <a:effectLst/>
                <a:latin typeface="+mn-lt"/>
                <a:ea typeface="+mn-ea"/>
                <a:cs typeface="+mn-cs"/>
              </a:rPr>
              <a:t>CoE</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Le </a:t>
            </a:r>
            <a:r>
              <a:rPr lang="fr-FR" sz="1200" b="0" kern="1200" dirty="0" err="1">
                <a:solidFill>
                  <a:schemeClr val="tx1"/>
                </a:solidFill>
                <a:effectLst/>
                <a:latin typeface="+mn-lt"/>
                <a:ea typeface="+mn-ea"/>
                <a:cs typeface="+mn-cs"/>
              </a:rPr>
              <a:t>CoE</a:t>
            </a:r>
            <a:r>
              <a:rPr lang="fr-FR" sz="1200" b="0" kern="1200" dirty="0">
                <a:solidFill>
                  <a:schemeClr val="tx1"/>
                </a:solidFill>
                <a:effectLst/>
                <a:latin typeface="+mn-lt"/>
                <a:ea typeface="+mn-ea"/>
                <a:cs typeface="+mn-cs"/>
              </a:rPr>
              <a:t> agit comme un pôle d'expertise central qui définit les standards et fournit les outils communs, tandis que des Data Stewards sont directement intégrés, ou 'embarqués', sur le terrain au sein de nos divisions métiers. </a:t>
            </a:r>
          </a:p>
          <a:p>
            <a:r>
              <a:rPr lang="fr-FR" sz="1200" b="0" kern="1200" dirty="0">
                <a:solidFill>
                  <a:schemeClr val="tx1"/>
                </a:solidFill>
                <a:effectLst/>
                <a:latin typeface="+mn-lt"/>
                <a:ea typeface="+mn-ea"/>
                <a:cs typeface="+mn-cs"/>
              </a:rPr>
              <a:t>Ainsi, qu'il s'agisse de la conformité publicitaire pour le Marketing, du respect des normes de paiement PCI-DSS pour la Finance, ou du suivi éthique des modèles pour la R&amp;D IA, chaque division dispose de son propre garant au plus proche des développeurs."</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7</a:t>
            </a:fld>
            <a:endParaRPr lang="fr-FR"/>
          </a:p>
        </p:txBody>
      </p:sp>
    </p:spTree>
    <p:extLst>
      <p:ext uri="{BB962C8B-B14F-4D97-AF65-F5344CB8AC3E}">
        <p14:creationId xmlns:p14="http://schemas.microsoft.com/office/powerpoint/2010/main" val="435098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Cette diapositive présente l'organigramme de notre gouvernance. L'objectif ici est de clarifier qui fait quoi et d'éliminer définitivement l'ambiguïté des rôles. </a:t>
            </a:r>
          </a:p>
          <a:p>
            <a:r>
              <a:rPr lang="fr-FR" sz="1200" b="0" kern="1200" dirty="0">
                <a:solidFill>
                  <a:schemeClr val="tx1"/>
                </a:solidFill>
                <a:effectLst/>
                <a:latin typeface="+mn-lt"/>
                <a:ea typeface="+mn-ea"/>
                <a:cs typeface="+mn-cs"/>
              </a:rPr>
              <a:t>  Au sommet, le CDO fixe le cap stratégique et arbitre les budgets, alors que le DPO, totalement indépendant, garantit le respect du RGPD et valide les analyses d'impact. </a:t>
            </a:r>
          </a:p>
          <a:p>
            <a:r>
              <a:rPr lang="fr-FR" sz="1200" b="0" kern="1200" dirty="0">
                <a:solidFill>
                  <a:schemeClr val="tx1"/>
                </a:solidFill>
                <a:effectLst/>
                <a:latin typeface="+mn-lt"/>
                <a:ea typeface="+mn-ea"/>
                <a:cs typeface="+mn-cs"/>
              </a:rPr>
              <a:t> Le Data </a:t>
            </a:r>
            <a:r>
              <a:rPr lang="fr-FR" sz="1200" b="0" kern="1200" dirty="0" err="1">
                <a:solidFill>
                  <a:schemeClr val="tx1"/>
                </a:solidFill>
                <a:effectLst/>
                <a:latin typeface="+mn-lt"/>
                <a:ea typeface="+mn-ea"/>
                <a:cs typeface="+mn-cs"/>
              </a:rPr>
              <a:t>Governance</a:t>
            </a:r>
            <a:r>
              <a:rPr lang="fr-FR" sz="1200" b="0" kern="1200" dirty="0">
                <a:solidFill>
                  <a:schemeClr val="tx1"/>
                </a:solidFill>
                <a:effectLst/>
                <a:latin typeface="+mn-lt"/>
                <a:ea typeface="+mn-ea"/>
                <a:cs typeface="+mn-cs"/>
              </a:rPr>
              <a:t> Manager anime au quotidien le Centre d'Excellence. </a:t>
            </a:r>
          </a:p>
          <a:p>
            <a:r>
              <a:rPr lang="fr-FR" sz="1200" b="0" kern="1200" dirty="0">
                <a:solidFill>
                  <a:schemeClr val="tx1"/>
                </a:solidFill>
                <a:effectLst/>
                <a:latin typeface="+mn-lt"/>
                <a:ea typeface="+mn-ea"/>
                <a:cs typeface="+mn-cs"/>
              </a:rPr>
              <a:t>Sur le terrain, nos Data Stewards métiers rédigent les dictionnaires de données avec les équipes. </a:t>
            </a:r>
          </a:p>
          <a:p>
            <a:r>
              <a:rPr lang="fr-FR" sz="1200" b="0" kern="1200" dirty="0">
                <a:solidFill>
                  <a:schemeClr val="tx1"/>
                </a:solidFill>
                <a:effectLst/>
                <a:latin typeface="+mn-lt"/>
                <a:ea typeface="+mn-ea"/>
                <a:cs typeface="+mn-cs"/>
              </a:rPr>
              <a:t>Enfin, au niveau opérationnel, les Data Custodians – qui sont nos ingénieurs et administrateurs système – s'occupent de la technique brute : les purges, les contrôles de qualité automatisés et le chiffrement."</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8</a:t>
            </a:fld>
            <a:endParaRPr lang="fr-FR"/>
          </a:p>
        </p:txBody>
      </p:sp>
    </p:spTree>
    <p:extLst>
      <p:ext uri="{BB962C8B-B14F-4D97-AF65-F5344CB8AC3E}">
        <p14:creationId xmlns:p14="http://schemas.microsoft.com/office/powerpoint/2010/main" val="159848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"Pour rendre ces rôles opérationnels, j'ai formalisé une matrice RACI très rigoureuse. On y détaille les responsabilités sur trois axes : la stratégie, la qualité quotidienne, et la conformité critique.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Prenons un exemple parlant : le catalogage d'une table de données dans Backstage. Le Data Product Owner de l'équipe est </a:t>
            </a:r>
            <a:r>
              <a:rPr lang="fr-FR" sz="1200" b="0" kern="1200" dirty="0" err="1">
                <a:solidFill>
                  <a:schemeClr val="tx1"/>
                </a:solidFill>
                <a:effectLst/>
                <a:latin typeface="+mn-lt"/>
                <a:ea typeface="+mn-ea"/>
                <a:cs typeface="+mn-cs"/>
              </a:rPr>
              <a:t>Accountable</a:t>
            </a:r>
            <a:r>
              <a:rPr lang="fr-FR" sz="1200" b="0" kern="1200" dirty="0">
                <a:solidFill>
                  <a:schemeClr val="tx1"/>
                </a:solidFill>
                <a:effectLst/>
                <a:latin typeface="+mn-lt"/>
                <a:ea typeface="+mn-ea"/>
                <a:cs typeface="+mn-cs"/>
              </a:rPr>
              <a:t> (A) – c'est lui qui valide –, tandis que le Steward et l'ingénieur de données sont </a:t>
            </a:r>
            <a:r>
              <a:rPr lang="fr-FR" sz="1200" b="0" kern="1200" dirty="0" err="1">
                <a:solidFill>
                  <a:schemeClr val="tx1"/>
                </a:solidFill>
                <a:effectLst/>
                <a:latin typeface="+mn-lt"/>
                <a:ea typeface="+mn-ea"/>
                <a:cs typeface="+mn-cs"/>
              </a:rPr>
              <a:t>Responsibles</a:t>
            </a:r>
            <a:r>
              <a:rPr lang="fr-FR" sz="1200" b="0" kern="1200" dirty="0">
                <a:solidFill>
                  <a:schemeClr val="tx1"/>
                </a:solidFill>
                <a:effectLst/>
                <a:latin typeface="+mn-lt"/>
                <a:ea typeface="+mn-ea"/>
                <a:cs typeface="+mn-cs"/>
              </a:rPr>
              <a:t> (R) – ce sont eux qui l'implémentent. </a:t>
            </a:r>
          </a:p>
          <a:p>
            <a:r>
              <a:rPr lang="fr-FR" sz="1200" b="0" kern="1200" dirty="0">
                <a:solidFill>
                  <a:schemeClr val="tx1"/>
                </a:solidFill>
                <a:effectLst/>
                <a:latin typeface="+mn-lt"/>
                <a:ea typeface="+mn-ea"/>
                <a:cs typeface="+mn-cs"/>
              </a:rPr>
              <a:t>Et pour les situations de crise ou l'activation de nos protocoles d'urgence (que vous voyez sur fond rouge dans la troisième colonne), le DPO garde l'approbation finale (A) tandis que le CDO et les ingénieurs coordonnent la riposte technique."</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9</a:t>
            </a:fld>
            <a:endParaRPr lang="fr-FR"/>
          </a:p>
        </p:txBody>
      </p:sp>
    </p:spTree>
    <p:extLst>
      <p:ext uri="{BB962C8B-B14F-4D97-AF65-F5344CB8AC3E}">
        <p14:creationId xmlns:p14="http://schemas.microsoft.com/office/powerpoint/2010/main" val="3741285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Mais alors, comment on fait au quotidien pour ne pas ralentir nos développeurs agiles ? C'est le cœur de notre philosophie : nous avons banni toute bureaucratie manuelle pour mettre en place une 'Gouvernance Invisible’. </a:t>
            </a:r>
          </a:p>
          <a:p>
            <a:r>
              <a:rPr lang="fr-FR" sz="1200" b="0" kern="1200" dirty="0">
                <a:solidFill>
                  <a:schemeClr val="tx1"/>
                </a:solidFill>
                <a:effectLst/>
                <a:latin typeface="+mn-lt"/>
                <a:ea typeface="+mn-ea"/>
                <a:cs typeface="+mn-cs"/>
              </a:rPr>
              <a:t>Concrètement, lorsqu'un développeur crée un pipeline ou une table de données, il doit simplement remplir un petit fichier de configuration standardisé, le `</a:t>
            </a:r>
            <a:r>
              <a:rPr lang="fr-FR" sz="1200" b="0" kern="1200" dirty="0" err="1">
                <a:solidFill>
                  <a:schemeClr val="tx1"/>
                </a:solidFill>
                <a:effectLst/>
                <a:latin typeface="+mn-lt"/>
                <a:ea typeface="+mn-ea"/>
                <a:cs typeface="+mn-cs"/>
              </a:rPr>
              <a:t>owner.yaml</a:t>
            </a:r>
            <a:r>
              <a:rPr lang="fr-FR" sz="1200" b="0" kern="1200" dirty="0">
                <a:solidFill>
                  <a:schemeClr val="tx1"/>
                </a:solidFill>
                <a:effectLst/>
                <a:latin typeface="+mn-lt"/>
                <a:ea typeface="+mn-ea"/>
                <a:cs typeface="+mn-cs"/>
              </a:rPr>
              <a:t>`, à la racine de son dépôt Git. </a:t>
            </a:r>
          </a:p>
          <a:p>
            <a:r>
              <a:rPr lang="fr-FR" sz="1200" b="0" kern="1200" dirty="0">
                <a:solidFill>
                  <a:schemeClr val="tx1"/>
                </a:solidFill>
                <a:effectLst/>
                <a:latin typeface="+mn-lt"/>
                <a:ea typeface="+mn-ea"/>
                <a:cs typeface="+mn-cs"/>
              </a:rPr>
              <a:t>Ensuite, le portail Backstage – développé à l'origine par Spotify – va lire automatiquement et de manière asynchrone ces fichiers pour mettre à jour notre catalogue et tracer le lignage des données en temps réel. Nous fournissons également des </a:t>
            </a:r>
            <a:r>
              <a:rPr lang="fr-FR" sz="1200" b="0" kern="1200" dirty="0" err="1">
                <a:solidFill>
                  <a:schemeClr val="tx1"/>
                </a:solidFill>
                <a:effectLst/>
                <a:latin typeface="+mn-lt"/>
                <a:ea typeface="+mn-ea"/>
                <a:cs typeface="+mn-cs"/>
              </a:rPr>
              <a:t>templates</a:t>
            </a:r>
            <a:r>
              <a:rPr lang="fr-FR" sz="1200" b="0" kern="1200" dirty="0">
                <a:solidFill>
                  <a:schemeClr val="tx1"/>
                </a:solidFill>
                <a:effectLst/>
                <a:latin typeface="+mn-lt"/>
                <a:ea typeface="+mn-ea"/>
                <a:cs typeface="+mn-cs"/>
              </a:rPr>
              <a:t> de pipelines </a:t>
            </a:r>
            <a:r>
              <a:rPr lang="fr-FR" sz="1200" b="0" kern="1200" dirty="0" err="1">
                <a:solidFill>
                  <a:schemeClr val="tx1"/>
                </a:solidFill>
                <a:effectLst/>
                <a:latin typeface="+mn-lt"/>
                <a:ea typeface="+mn-ea"/>
                <a:cs typeface="+mn-cs"/>
              </a:rPr>
              <a:t>pré-approuvés</a:t>
            </a:r>
            <a:r>
              <a:rPr lang="fr-FR" sz="1200" b="0" kern="1200" dirty="0">
                <a:solidFill>
                  <a:schemeClr val="tx1"/>
                </a:solidFill>
                <a:effectLst/>
                <a:latin typeface="+mn-lt"/>
                <a:ea typeface="+mn-ea"/>
                <a:cs typeface="+mn-cs"/>
              </a:rPr>
              <a:t>, les Golden </a:t>
            </a:r>
            <a:r>
              <a:rPr lang="fr-FR" sz="1200" b="0" kern="1200" dirty="0" err="1">
                <a:solidFill>
                  <a:schemeClr val="tx1"/>
                </a:solidFill>
                <a:effectLst/>
                <a:latin typeface="+mn-lt"/>
                <a:ea typeface="+mn-ea"/>
                <a:cs typeface="+mn-cs"/>
              </a:rPr>
              <a:t>Paths</a:t>
            </a:r>
            <a:r>
              <a:rPr lang="fr-FR" sz="1200" b="0" kern="1200" dirty="0">
                <a:solidFill>
                  <a:schemeClr val="tx1"/>
                </a:solidFill>
                <a:effectLst/>
                <a:latin typeface="+mn-lt"/>
                <a:ea typeface="+mn-ea"/>
                <a:cs typeface="+mn-cs"/>
              </a:rPr>
              <a:t>, garantissant que tout code déployé respecte nos standards de sécurité par défaut."</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10</a:t>
            </a:fld>
            <a:endParaRPr lang="fr-FR"/>
          </a:p>
        </p:txBody>
      </p:sp>
    </p:spTree>
    <p:extLst>
      <p:ext uri="{BB962C8B-B14F-4D97-AF65-F5344CB8AC3E}">
        <p14:creationId xmlns:p14="http://schemas.microsoft.com/office/powerpoint/2010/main" val="2351600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Pour piloter cette flotte à grande échelle, nous recommandons un écosystème </a:t>
            </a:r>
            <a:r>
              <a:rPr lang="fr-FR" sz="1200" b="1" kern="1200" dirty="0">
                <a:solidFill>
                  <a:schemeClr val="tx1"/>
                </a:solidFill>
                <a:effectLst/>
                <a:latin typeface="+mn-lt"/>
                <a:ea typeface="+mn-ea"/>
                <a:cs typeface="+mn-cs"/>
              </a:rPr>
              <a:t>d'outils industriels robustes </a:t>
            </a:r>
            <a:r>
              <a:rPr lang="fr-FR" sz="1200" b="0" kern="1200" dirty="0">
                <a:solidFill>
                  <a:schemeClr val="tx1"/>
                </a:solidFill>
                <a:effectLst/>
                <a:latin typeface="+mn-lt"/>
                <a:ea typeface="+mn-ea"/>
                <a:cs typeface="+mn-cs"/>
              </a:rPr>
              <a:t>et parfaitement </a:t>
            </a:r>
            <a:r>
              <a:rPr lang="fr-FR" sz="1200" b="1" kern="1200" dirty="0">
                <a:solidFill>
                  <a:schemeClr val="tx1"/>
                </a:solidFill>
                <a:effectLst/>
                <a:latin typeface="+mn-lt"/>
                <a:ea typeface="+mn-ea"/>
                <a:cs typeface="+mn-cs"/>
              </a:rPr>
              <a:t>intégrés</a:t>
            </a:r>
            <a:r>
              <a:rPr lang="fr-FR" sz="1200" b="0" kern="1200" dirty="0">
                <a:solidFill>
                  <a:schemeClr val="tx1"/>
                </a:solidFill>
                <a:effectLst/>
                <a:latin typeface="+mn-lt"/>
                <a:ea typeface="+mn-ea"/>
                <a:cs typeface="+mn-cs"/>
              </a:rPr>
              <a:t> à notre environnement Google Cloud. </a:t>
            </a:r>
          </a:p>
          <a:p>
            <a:r>
              <a:rPr lang="fr-FR" sz="1200" b="0" kern="1200" dirty="0">
                <a:solidFill>
                  <a:schemeClr val="tx1"/>
                </a:solidFill>
                <a:effectLst/>
                <a:latin typeface="+mn-lt"/>
                <a:ea typeface="+mn-ea"/>
                <a:cs typeface="+mn-cs"/>
              </a:rPr>
              <a:t>Pour le </a:t>
            </a:r>
            <a:r>
              <a:rPr lang="fr-FR" sz="1200" b="1" kern="1200" dirty="0">
                <a:solidFill>
                  <a:schemeClr val="tx1"/>
                </a:solidFill>
                <a:effectLst/>
                <a:latin typeface="+mn-lt"/>
                <a:ea typeface="+mn-ea"/>
                <a:cs typeface="+mn-cs"/>
              </a:rPr>
              <a:t>catalogage</a:t>
            </a:r>
            <a:r>
              <a:rPr lang="fr-FR" sz="1200" b="0" kern="1200" dirty="0">
                <a:solidFill>
                  <a:schemeClr val="tx1"/>
                </a:solidFill>
                <a:effectLst/>
                <a:latin typeface="+mn-lt"/>
                <a:ea typeface="+mn-ea"/>
                <a:cs typeface="+mn-cs"/>
              </a:rPr>
              <a:t> et la recherche intelligente, nous couplons </a:t>
            </a:r>
            <a:r>
              <a:rPr lang="fr-FR" sz="1200" b="1" kern="1200" dirty="0">
                <a:solidFill>
                  <a:schemeClr val="tx1"/>
                </a:solidFill>
                <a:effectLst/>
                <a:latin typeface="+mn-lt"/>
                <a:ea typeface="+mn-ea"/>
                <a:cs typeface="+mn-cs"/>
              </a:rPr>
              <a:t>Backstage à </a:t>
            </a:r>
            <a:r>
              <a:rPr lang="fr-FR" sz="1200" b="1" kern="1200" dirty="0" err="1">
                <a:solidFill>
                  <a:schemeClr val="tx1"/>
                </a:solidFill>
                <a:effectLst/>
                <a:latin typeface="+mn-lt"/>
                <a:ea typeface="+mn-ea"/>
                <a:cs typeface="+mn-cs"/>
              </a:rPr>
              <a:t>DataHub</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Pour la </a:t>
            </a:r>
            <a:r>
              <a:rPr lang="fr-FR" sz="1200" b="1" kern="1200" dirty="0">
                <a:solidFill>
                  <a:schemeClr val="tx1"/>
                </a:solidFill>
                <a:effectLst/>
                <a:latin typeface="+mn-lt"/>
                <a:ea typeface="+mn-ea"/>
                <a:cs typeface="+mn-cs"/>
              </a:rPr>
              <a:t>qualité</a:t>
            </a:r>
            <a:r>
              <a:rPr lang="fr-FR" sz="1200" b="0" kern="1200" dirty="0">
                <a:solidFill>
                  <a:schemeClr val="tx1"/>
                </a:solidFill>
                <a:effectLst/>
                <a:latin typeface="+mn-lt"/>
                <a:ea typeface="+mn-ea"/>
                <a:cs typeface="+mn-cs"/>
              </a:rPr>
              <a:t>, nous faisons confiance à </a:t>
            </a:r>
            <a:r>
              <a:rPr lang="fr-FR" sz="1200" b="1" kern="1200" dirty="0">
                <a:solidFill>
                  <a:schemeClr val="tx1"/>
                </a:solidFill>
                <a:effectLst/>
                <a:latin typeface="+mn-lt"/>
                <a:ea typeface="+mn-ea"/>
                <a:cs typeface="+mn-cs"/>
              </a:rPr>
              <a:t>Talend</a:t>
            </a:r>
            <a:r>
              <a:rPr lang="fr-FR" sz="1200" b="0" kern="1200" dirty="0">
                <a:solidFill>
                  <a:schemeClr val="tx1"/>
                </a:solidFill>
                <a:effectLst/>
                <a:latin typeface="+mn-lt"/>
                <a:ea typeface="+mn-ea"/>
                <a:cs typeface="+mn-cs"/>
              </a:rPr>
              <a:t> pour l'ingestion, associé au monitoring d'anomalies en temps réel de Monte Carlo. </a:t>
            </a:r>
          </a:p>
          <a:p>
            <a:r>
              <a:rPr lang="fr-FR" sz="1200" b="0" kern="1200" dirty="0">
                <a:solidFill>
                  <a:schemeClr val="tx1"/>
                </a:solidFill>
                <a:effectLst/>
                <a:latin typeface="+mn-lt"/>
                <a:ea typeface="+mn-ea"/>
                <a:cs typeface="+mn-cs"/>
              </a:rPr>
              <a:t>La </a:t>
            </a:r>
            <a:r>
              <a:rPr lang="fr-FR" sz="1200" b="1" kern="1200" dirty="0">
                <a:solidFill>
                  <a:schemeClr val="tx1"/>
                </a:solidFill>
                <a:effectLst/>
                <a:latin typeface="+mn-lt"/>
                <a:ea typeface="+mn-ea"/>
                <a:cs typeface="+mn-cs"/>
              </a:rPr>
              <a:t>conformité réglementaire </a:t>
            </a:r>
            <a:r>
              <a:rPr lang="fr-FR" sz="1200" b="0" kern="1200" dirty="0">
                <a:solidFill>
                  <a:schemeClr val="tx1"/>
                </a:solidFill>
                <a:effectLst/>
                <a:latin typeface="+mn-lt"/>
                <a:ea typeface="+mn-ea"/>
                <a:cs typeface="+mn-cs"/>
              </a:rPr>
              <a:t>s'appuie sur </a:t>
            </a:r>
            <a:r>
              <a:rPr lang="fr-FR" sz="1200" b="0" kern="1200" dirty="0" err="1">
                <a:solidFill>
                  <a:schemeClr val="tx1"/>
                </a:solidFill>
                <a:effectLst/>
                <a:latin typeface="+mn-lt"/>
                <a:ea typeface="+mn-ea"/>
                <a:cs typeface="+mn-cs"/>
              </a:rPr>
              <a:t>OneTrust</a:t>
            </a:r>
            <a:r>
              <a:rPr lang="fr-FR" sz="1200" b="0" kern="1200" dirty="0">
                <a:solidFill>
                  <a:schemeClr val="tx1"/>
                </a:solidFill>
                <a:effectLst/>
                <a:latin typeface="+mn-lt"/>
                <a:ea typeface="+mn-ea"/>
                <a:cs typeface="+mn-cs"/>
              </a:rPr>
              <a:t> pour gérer les consentements des utilisateurs et les demandes d'exercice de droits. </a:t>
            </a:r>
          </a:p>
          <a:p>
            <a:r>
              <a:rPr lang="fr-FR" sz="1200" b="0" kern="1200" dirty="0">
                <a:solidFill>
                  <a:schemeClr val="tx1"/>
                </a:solidFill>
                <a:effectLst/>
                <a:latin typeface="+mn-lt"/>
                <a:ea typeface="+mn-ea"/>
                <a:cs typeface="+mn-cs"/>
              </a:rPr>
              <a:t>Enfin, la </a:t>
            </a:r>
            <a:r>
              <a:rPr lang="fr-FR" sz="1200" b="1" kern="1200" dirty="0">
                <a:solidFill>
                  <a:schemeClr val="tx1"/>
                </a:solidFill>
                <a:effectLst/>
                <a:latin typeface="+mn-lt"/>
                <a:ea typeface="+mn-ea"/>
                <a:cs typeface="+mn-cs"/>
              </a:rPr>
              <a:t>sécurité</a:t>
            </a:r>
            <a:r>
              <a:rPr lang="fr-FR" sz="1200" b="0" kern="1200" dirty="0">
                <a:solidFill>
                  <a:schemeClr val="tx1"/>
                </a:solidFill>
                <a:effectLst/>
                <a:latin typeface="+mn-lt"/>
                <a:ea typeface="+mn-ea"/>
                <a:cs typeface="+mn-cs"/>
              </a:rPr>
              <a:t> s'articule autour </a:t>
            </a:r>
            <a:r>
              <a:rPr lang="fr-FR" sz="1200" b="1" kern="1200" dirty="0">
                <a:solidFill>
                  <a:schemeClr val="tx1"/>
                </a:solidFill>
                <a:effectLst/>
                <a:latin typeface="+mn-lt"/>
                <a:ea typeface="+mn-ea"/>
                <a:cs typeface="+mn-cs"/>
              </a:rPr>
              <a:t>de GCP Cloud KMS </a:t>
            </a:r>
            <a:r>
              <a:rPr lang="fr-FR" sz="1200" b="0" kern="1200" dirty="0">
                <a:solidFill>
                  <a:schemeClr val="tx1"/>
                </a:solidFill>
                <a:effectLst/>
                <a:latin typeface="+mn-lt"/>
                <a:ea typeface="+mn-ea"/>
                <a:cs typeface="+mn-cs"/>
              </a:rPr>
              <a:t>pour la rotation de nos clés de chiffrement et de </a:t>
            </a:r>
            <a:r>
              <a:rPr lang="fr-FR" sz="1200" b="1" kern="1200" dirty="0">
                <a:solidFill>
                  <a:schemeClr val="tx1"/>
                </a:solidFill>
                <a:effectLst/>
                <a:latin typeface="+mn-lt"/>
                <a:ea typeface="+mn-ea"/>
                <a:cs typeface="+mn-cs"/>
              </a:rPr>
              <a:t>l'outil de supervision Splunk </a:t>
            </a:r>
            <a:r>
              <a:rPr lang="fr-FR" sz="1200" b="0" kern="1200" dirty="0">
                <a:solidFill>
                  <a:schemeClr val="tx1"/>
                </a:solidFill>
                <a:effectLst/>
                <a:latin typeface="+mn-lt"/>
                <a:ea typeface="+mn-ea"/>
                <a:cs typeface="+mn-cs"/>
              </a:rPr>
              <a:t>pour la détection précoce des menaces de fuite."</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11</a:t>
            </a:fld>
            <a:endParaRPr lang="fr-FR"/>
          </a:p>
        </p:txBody>
      </p:sp>
    </p:spTree>
    <p:extLst>
      <p:ext uri="{BB962C8B-B14F-4D97-AF65-F5344CB8AC3E}">
        <p14:creationId xmlns:p14="http://schemas.microsoft.com/office/powerpoint/2010/main" val="575473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La responsabilité de l'architecte IA va bien au-delà de la technique pure : elle </a:t>
            </a:r>
            <a:r>
              <a:rPr lang="fr-FR" sz="1200" b="1" kern="1200" dirty="0">
                <a:solidFill>
                  <a:schemeClr val="tx1"/>
                </a:solidFill>
                <a:effectLst/>
                <a:latin typeface="+mn-lt"/>
                <a:ea typeface="+mn-ea"/>
                <a:cs typeface="+mn-cs"/>
              </a:rPr>
              <a:t>intègre l'inclusion et la vigilance sociétale</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C'est l'objet de cette diapositive,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Côté </a:t>
            </a:r>
            <a:r>
              <a:rPr lang="fr-FR" sz="1200" b="1" kern="1200" dirty="0">
                <a:solidFill>
                  <a:schemeClr val="tx1"/>
                </a:solidFill>
                <a:effectLst/>
                <a:latin typeface="+mn-lt"/>
                <a:ea typeface="+mn-ea"/>
                <a:cs typeface="+mn-cs"/>
              </a:rPr>
              <a:t>inclusion</a:t>
            </a:r>
            <a:r>
              <a:rPr lang="fr-FR" sz="1200" b="0" kern="1200" dirty="0">
                <a:solidFill>
                  <a:schemeClr val="tx1"/>
                </a:solidFill>
                <a:effectLst/>
                <a:latin typeface="+mn-lt"/>
                <a:ea typeface="+mn-ea"/>
                <a:cs typeface="+mn-cs"/>
              </a:rPr>
              <a:t>, nous appliquons rigoureusement le </a:t>
            </a:r>
            <a:r>
              <a:rPr lang="fr-FR" sz="1200" b="1" kern="1200" dirty="0">
                <a:solidFill>
                  <a:schemeClr val="tx1"/>
                </a:solidFill>
                <a:effectLst/>
                <a:latin typeface="+mn-lt"/>
                <a:ea typeface="+mn-ea"/>
                <a:cs typeface="+mn-cs"/>
              </a:rPr>
              <a:t>RGAA et les WCAG 2.2</a:t>
            </a:r>
            <a:r>
              <a:rPr lang="fr-FR" sz="1200" b="0" kern="1200" dirty="0">
                <a:solidFill>
                  <a:schemeClr val="tx1"/>
                </a:solidFill>
                <a:effectLst/>
                <a:latin typeface="+mn-lt"/>
                <a:ea typeface="+mn-ea"/>
                <a:cs typeface="+mn-cs"/>
              </a:rPr>
              <a:t>. Tous nos tableaux de bord Looker et l'interface de Backstage sont enrichis de balises d'aide </a:t>
            </a:r>
            <a:r>
              <a:rPr lang="fr-FR" sz="1200" b="1" kern="1200" dirty="0">
                <a:solidFill>
                  <a:schemeClr val="tx1"/>
                </a:solidFill>
                <a:effectLst/>
                <a:latin typeface="+mn-lt"/>
                <a:ea typeface="+mn-ea"/>
                <a:cs typeface="+mn-cs"/>
              </a:rPr>
              <a:t>ARIA</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permettant à nos collaborateurs malvoyants d'utiliser des lecteurs d'écran et de naviguer entièrement au clavier.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Concernant la </a:t>
            </a:r>
            <a:r>
              <a:rPr lang="fr-FR" sz="1200" b="1" kern="1200" dirty="0">
                <a:solidFill>
                  <a:schemeClr val="tx1"/>
                </a:solidFill>
                <a:effectLst/>
                <a:latin typeface="+mn-lt"/>
                <a:ea typeface="+mn-ea"/>
                <a:cs typeface="+mn-cs"/>
              </a:rPr>
              <a:t>veille réglementaire</a:t>
            </a:r>
            <a:r>
              <a:rPr lang="fr-FR" sz="1200" b="0" kern="1200" dirty="0">
                <a:solidFill>
                  <a:schemeClr val="tx1"/>
                </a:solidFill>
                <a:effectLst/>
                <a:latin typeface="+mn-lt"/>
                <a:ea typeface="+mn-ea"/>
                <a:cs typeface="+mn-cs"/>
              </a:rPr>
              <a:t>, nous avons instauré un rituel bimensuel associant notre DPO, notre service juridique et nos architectes de données. </a:t>
            </a:r>
          </a:p>
          <a:p>
            <a:r>
              <a:rPr lang="fr-FR" sz="1200" b="0" kern="1200" dirty="0">
                <a:solidFill>
                  <a:schemeClr val="tx1"/>
                </a:solidFill>
                <a:effectLst/>
                <a:latin typeface="+mn-lt"/>
                <a:ea typeface="+mn-ea"/>
                <a:cs typeface="+mn-cs"/>
              </a:rPr>
              <a:t>Par exemple, avec l'apparition de </a:t>
            </a:r>
            <a:r>
              <a:rPr lang="fr-FR" sz="1200" b="0" kern="1200" dirty="0" err="1">
                <a:solidFill>
                  <a:schemeClr val="tx1"/>
                </a:solidFill>
                <a:effectLst/>
                <a:latin typeface="+mn-lt"/>
                <a:ea typeface="+mn-ea"/>
                <a:cs typeface="+mn-cs"/>
              </a:rPr>
              <a:t>lAI</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Act</a:t>
            </a:r>
            <a:r>
              <a:rPr lang="fr-FR" sz="1200" b="0" kern="1200" dirty="0">
                <a:solidFill>
                  <a:schemeClr val="tx1"/>
                </a:solidFill>
                <a:effectLst/>
                <a:latin typeface="+mn-lt"/>
                <a:ea typeface="+mn-ea"/>
                <a:cs typeface="+mn-cs"/>
              </a:rPr>
              <a:t>, nos algorithmes </a:t>
            </a:r>
            <a:r>
              <a:rPr lang="fr-FR" sz="1200" b="1" kern="1200" dirty="0">
                <a:solidFill>
                  <a:schemeClr val="tx1"/>
                </a:solidFill>
                <a:effectLst/>
                <a:latin typeface="+mn-lt"/>
                <a:ea typeface="+mn-ea"/>
                <a:cs typeface="+mn-cs"/>
              </a:rPr>
              <a:t>de recommandation comportementale </a:t>
            </a:r>
            <a:r>
              <a:rPr lang="fr-FR" sz="1200" b="0" kern="1200" dirty="0">
                <a:solidFill>
                  <a:schemeClr val="tx1"/>
                </a:solidFill>
                <a:effectLst/>
                <a:latin typeface="+mn-lt"/>
                <a:ea typeface="+mn-ea"/>
                <a:cs typeface="+mn-cs"/>
              </a:rPr>
              <a:t>font l'objet d'un </a:t>
            </a:r>
            <a:r>
              <a:rPr lang="fr-FR" sz="1200" b="1" kern="1200" dirty="0">
                <a:solidFill>
                  <a:schemeClr val="tx1"/>
                </a:solidFill>
                <a:effectLst/>
                <a:latin typeface="+mn-lt"/>
                <a:ea typeface="+mn-ea"/>
                <a:cs typeface="+mn-cs"/>
              </a:rPr>
              <a:t>audit de biais permanent</a:t>
            </a:r>
            <a:r>
              <a:rPr lang="fr-FR" sz="1200" b="0" kern="1200" dirty="0">
                <a:solidFill>
                  <a:schemeClr val="tx1"/>
                </a:solidFill>
                <a:effectLst/>
                <a:latin typeface="+mn-lt"/>
                <a:ea typeface="+mn-ea"/>
                <a:cs typeface="+mn-cs"/>
              </a:rPr>
              <a:t> pour s'assurer qu'ils ne </a:t>
            </a:r>
            <a:r>
              <a:rPr lang="fr-FR" sz="1200" b="1" kern="1200" dirty="0">
                <a:solidFill>
                  <a:schemeClr val="tx1"/>
                </a:solidFill>
                <a:effectLst/>
                <a:latin typeface="+mn-lt"/>
                <a:ea typeface="+mn-ea"/>
                <a:cs typeface="+mn-cs"/>
              </a:rPr>
              <a:t>discriminent</a:t>
            </a:r>
            <a:r>
              <a:rPr lang="fr-FR" sz="1200" b="0" kern="1200" dirty="0">
                <a:solidFill>
                  <a:schemeClr val="tx1"/>
                </a:solidFill>
                <a:effectLst/>
                <a:latin typeface="+mn-lt"/>
                <a:ea typeface="+mn-ea"/>
                <a:cs typeface="+mn-cs"/>
              </a:rPr>
              <a:t> aucun genre ou artiste."</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12</a:t>
            </a:fld>
            <a:endParaRPr lang="fr-FR"/>
          </a:p>
        </p:txBody>
      </p:sp>
    </p:spTree>
    <p:extLst>
      <p:ext uri="{BB962C8B-B14F-4D97-AF65-F5344CB8AC3E}">
        <p14:creationId xmlns:p14="http://schemas.microsoft.com/office/powerpoint/2010/main" val="1448033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Parlons de </a:t>
            </a:r>
            <a:r>
              <a:rPr lang="fr-FR" sz="1200" b="1" kern="1200" dirty="0">
                <a:solidFill>
                  <a:schemeClr val="tx1"/>
                </a:solidFill>
                <a:effectLst/>
                <a:latin typeface="+mn-lt"/>
                <a:ea typeface="+mn-ea"/>
                <a:cs typeface="+mn-cs"/>
              </a:rPr>
              <a:t>confidentialité</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Pour garantir la </a:t>
            </a:r>
            <a:r>
              <a:rPr lang="fr-FR" sz="1200" b="1" kern="1200" dirty="0">
                <a:solidFill>
                  <a:schemeClr val="tx1"/>
                </a:solidFill>
                <a:effectLst/>
                <a:latin typeface="+mn-lt"/>
                <a:ea typeface="+mn-ea"/>
                <a:cs typeface="+mn-cs"/>
              </a:rPr>
              <a:t>sécurité</a:t>
            </a:r>
            <a:r>
              <a:rPr lang="fr-FR" sz="1200" b="0" kern="1200" dirty="0">
                <a:solidFill>
                  <a:schemeClr val="tx1"/>
                </a:solidFill>
                <a:effectLst/>
                <a:latin typeface="+mn-lt"/>
                <a:ea typeface="+mn-ea"/>
                <a:cs typeface="+mn-cs"/>
              </a:rPr>
              <a:t> de millions d'utilisateurs </a:t>
            </a:r>
            <a:r>
              <a:rPr lang="fr-FR" sz="1200" b="1" kern="1200" dirty="0">
                <a:solidFill>
                  <a:schemeClr val="tx1"/>
                </a:solidFill>
                <a:effectLst/>
                <a:latin typeface="+mn-lt"/>
                <a:ea typeface="+mn-ea"/>
                <a:cs typeface="+mn-cs"/>
              </a:rPr>
              <a:t>sans impacter les performances </a:t>
            </a:r>
            <a:r>
              <a:rPr lang="fr-FR" sz="1200" b="0" kern="1200" dirty="0">
                <a:solidFill>
                  <a:schemeClr val="tx1"/>
                </a:solidFill>
                <a:effectLst/>
                <a:latin typeface="+mn-lt"/>
                <a:ea typeface="+mn-ea"/>
                <a:cs typeface="+mn-cs"/>
              </a:rPr>
              <a:t>de nos bases de données, nous avons traduit les contraintes juridiques en </a:t>
            </a:r>
            <a:r>
              <a:rPr lang="fr-FR" sz="1200" b="1" kern="1200" dirty="0">
                <a:solidFill>
                  <a:schemeClr val="tx1"/>
                </a:solidFill>
                <a:effectLst/>
                <a:latin typeface="+mn-lt"/>
                <a:ea typeface="+mn-ea"/>
                <a:cs typeface="+mn-cs"/>
              </a:rPr>
              <a:t>règles cryptographiques automatisée</a:t>
            </a:r>
            <a:r>
              <a:rPr lang="fr-FR" sz="1200" b="0" kern="1200" dirty="0">
                <a:solidFill>
                  <a:schemeClr val="tx1"/>
                </a:solidFill>
                <a:effectLst/>
                <a:latin typeface="+mn-lt"/>
                <a:ea typeface="+mn-ea"/>
                <a:cs typeface="+mn-cs"/>
              </a:rPr>
              <a:t>s.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Les données personnelles, ou PII, subissent un </a:t>
            </a:r>
            <a:r>
              <a:rPr lang="fr-FR" sz="1200" b="1" kern="1200" dirty="0">
                <a:solidFill>
                  <a:schemeClr val="tx1"/>
                </a:solidFill>
                <a:effectLst/>
                <a:latin typeface="+mn-lt"/>
                <a:ea typeface="+mn-ea"/>
                <a:cs typeface="+mn-cs"/>
              </a:rPr>
              <a:t>chiffrement sélectif par colonne </a:t>
            </a:r>
            <a:r>
              <a:rPr lang="fr-FR" sz="1200" b="0" kern="1200" dirty="0">
                <a:solidFill>
                  <a:schemeClr val="tx1"/>
                </a:solidFill>
                <a:effectLst/>
                <a:latin typeface="+mn-lt"/>
                <a:ea typeface="+mn-ea"/>
                <a:cs typeface="+mn-cs"/>
              </a:rPr>
              <a:t>au repos dans </a:t>
            </a:r>
            <a:r>
              <a:rPr lang="fr-FR" sz="1200" b="0" kern="1200" dirty="0" err="1">
                <a:solidFill>
                  <a:schemeClr val="tx1"/>
                </a:solidFill>
                <a:effectLst/>
                <a:latin typeface="+mn-lt"/>
                <a:ea typeface="+mn-ea"/>
                <a:cs typeface="+mn-cs"/>
              </a:rPr>
              <a:t>BigQuery</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Les </a:t>
            </a:r>
            <a:r>
              <a:rPr lang="fr-FR" sz="1200" b="1" kern="1200" dirty="0">
                <a:solidFill>
                  <a:schemeClr val="tx1"/>
                </a:solidFill>
                <a:effectLst/>
                <a:latin typeface="+mn-lt"/>
                <a:ea typeface="+mn-ea"/>
                <a:cs typeface="+mn-cs"/>
              </a:rPr>
              <a:t>clés</a:t>
            </a:r>
            <a:r>
              <a:rPr lang="fr-FR" sz="1200" b="0" kern="1200" dirty="0">
                <a:solidFill>
                  <a:schemeClr val="tx1"/>
                </a:solidFill>
                <a:effectLst/>
                <a:latin typeface="+mn-lt"/>
                <a:ea typeface="+mn-ea"/>
                <a:cs typeface="+mn-cs"/>
              </a:rPr>
              <a:t> sont gérées par Cloud KMS, avec </a:t>
            </a:r>
            <a:r>
              <a:rPr lang="fr-FR" sz="1200" b="1" kern="1200" dirty="0">
                <a:solidFill>
                  <a:schemeClr val="tx1"/>
                </a:solidFill>
                <a:effectLst/>
                <a:latin typeface="+mn-lt"/>
                <a:ea typeface="+mn-ea"/>
                <a:cs typeface="+mn-cs"/>
              </a:rPr>
              <a:t>une rotation mensuelle automatique </a:t>
            </a:r>
            <a:r>
              <a:rPr lang="fr-FR" sz="1200" b="0" kern="1200" dirty="0">
                <a:solidFill>
                  <a:schemeClr val="tx1"/>
                </a:solidFill>
                <a:effectLst/>
                <a:latin typeface="+mn-lt"/>
                <a:ea typeface="+mn-ea"/>
                <a:cs typeface="+mn-cs"/>
              </a:rPr>
              <a:t>invisible pour nos développeurs.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Concernant le cycle de vie, </a:t>
            </a:r>
            <a:r>
              <a:rPr lang="fr-FR" sz="1200" b="1" kern="1200" dirty="0">
                <a:solidFill>
                  <a:schemeClr val="tx1"/>
                </a:solidFill>
                <a:effectLst/>
                <a:latin typeface="+mn-lt"/>
                <a:ea typeface="+mn-ea"/>
                <a:cs typeface="+mn-cs"/>
              </a:rPr>
              <a:t>les règles de rétention sont inscrites en dur</a:t>
            </a:r>
            <a:r>
              <a:rPr lang="fr-FR" sz="1200" b="0" kern="1200" dirty="0">
                <a:solidFill>
                  <a:schemeClr val="tx1"/>
                </a:solidFill>
                <a:effectLst/>
                <a:latin typeface="+mn-lt"/>
                <a:ea typeface="+mn-ea"/>
                <a:cs typeface="+mn-cs"/>
              </a:rPr>
              <a:t> dans notre code d'infrastructure. </a:t>
            </a:r>
          </a:p>
          <a:p>
            <a:r>
              <a:rPr lang="fr-FR" sz="1200" b="0" kern="1200" dirty="0">
                <a:solidFill>
                  <a:schemeClr val="tx1"/>
                </a:solidFill>
                <a:effectLst/>
                <a:latin typeface="+mn-lt"/>
                <a:ea typeface="+mn-ea"/>
                <a:cs typeface="+mn-cs"/>
              </a:rPr>
              <a:t>Par exemple, si un compte est inactif pendant 24 mois, </a:t>
            </a:r>
            <a:r>
              <a:rPr lang="fr-FR" sz="1200" b="1" kern="1200" dirty="0">
                <a:solidFill>
                  <a:schemeClr val="tx1"/>
                </a:solidFill>
                <a:effectLst/>
                <a:latin typeface="+mn-lt"/>
                <a:ea typeface="+mn-ea"/>
                <a:cs typeface="+mn-cs"/>
              </a:rPr>
              <a:t>ses logs d'écoute sont automatiquement purgés </a:t>
            </a:r>
            <a:r>
              <a:rPr lang="fr-FR" sz="1200" b="0" kern="1200" dirty="0">
                <a:solidFill>
                  <a:schemeClr val="tx1"/>
                </a:solidFill>
                <a:effectLst/>
                <a:latin typeface="+mn-lt"/>
                <a:ea typeface="+mn-ea"/>
                <a:cs typeface="+mn-cs"/>
              </a:rPr>
              <a:t>ou anonymisés de manière irréversible via hachage SHA-256.</a:t>
            </a:r>
          </a:p>
          <a:p>
            <a:r>
              <a:rPr lang="fr-FR" sz="1200" b="0" kern="1200" dirty="0">
                <a:solidFill>
                  <a:schemeClr val="tx1"/>
                </a:solidFill>
                <a:effectLst/>
                <a:latin typeface="+mn-lt"/>
                <a:ea typeface="+mn-ea"/>
                <a:cs typeface="+mn-cs"/>
              </a:rPr>
              <a:t> Et si un utilisateur demande l'effacement de ses données via notre portail </a:t>
            </a:r>
            <a:r>
              <a:rPr lang="fr-FR" sz="1200" b="1" kern="1200" dirty="0" err="1">
                <a:solidFill>
                  <a:schemeClr val="tx1"/>
                </a:solidFill>
                <a:effectLst/>
                <a:latin typeface="+mn-lt"/>
                <a:ea typeface="+mn-ea"/>
                <a:cs typeface="+mn-cs"/>
              </a:rPr>
              <a:t>OneTrust</a:t>
            </a:r>
            <a:r>
              <a:rPr lang="fr-FR" sz="1200" b="1" kern="1200" dirty="0">
                <a:solidFill>
                  <a:schemeClr val="tx1"/>
                </a:solidFill>
                <a:effectLst/>
                <a:latin typeface="+mn-lt"/>
                <a:ea typeface="+mn-ea"/>
                <a:cs typeface="+mn-cs"/>
              </a:rPr>
              <a:t>, des </a:t>
            </a:r>
            <a:r>
              <a:rPr lang="fr-FR" sz="1200" b="1" kern="1200" dirty="0" err="1">
                <a:solidFill>
                  <a:schemeClr val="tx1"/>
                </a:solidFill>
                <a:effectLst/>
                <a:latin typeface="+mn-lt"/>
                <a:ea typeface="+mn-ea"/>
                <a:cs typeface="+mn-cs"/>
              </a:rPr>
              <a:t>webhooks</a:t>
            </a:r>
            <a:r>
              <a:rPr lang="fr-FR" sz="1200" b="1" kern="1200" dirty="0">
                <a:solidFill>
                  <a:schemeClr val="tx1"/>
                </a:solidFill>
                <a:effectLst/>
                <a:latin typeface="+mn-lt"/>
                <a:ea typeface="+mn-ea"/>
                <a:cs typeface="+mn-cs"/>
              </a:rPr>
              <a:t> propagent cette suppression </a:t>
            </a:r>
            <a:r>
              <a:rPr lang="fr-FR" sz="1200" b="0" kern="1200" dirty="0">
                <a:solidFill>
                  <a:schemeClr val="tx1"/>
                </a:solidFill>
                <a:effectLst/>
                <a:latin typeface="+mn-lt"/>
                <a:ea typeface="+mn-ea"/>
                <a:cs typeface="+mn-cs"/>
              </a:rPr>
              <a:t>à l'ensemble de nos tables sous 48 heures.</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13</a:t>
            </a:fld>
            <a:endParaRPr lang="fr-FR"/>
          </a:p>
        </p:txBody>
      </p:sp>
    </p:spTree>
    <p:extLst>
      <p:ext uri="{BB962C8B-B14F-4D97-AF65-F5344CB8AC3E}">
        <p14:creationId xmlns:p14="http://schemas.microsoft.com/office/powerpoint/2010/main" val="1318301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Pour prouver la viabilité de notre approche, nous avons lancé un </a:t>
            </a:r>
            <a:r>
              <a:rPr lang="fr-FR" sz="1200" b="1" kern="1200" dirty="0">
                <a:solidFill>
                  <a:schemeClr val="tx1"/>
                </a:solidFill>
                <a:effectLst/>
                <a:latin typeface="+mn-lt"/>
                <a:ea typeface="+mn-ea"/>
                <a:cs typeface="+mn-cs"/>
              </a:rPr>
              <a:t>projet pilote de 12 semaines </a:t>
            </a:r>
            <a:r>
              <a:rPr lang="fr-FR" sz="1200" b="0" kern="1200" dirty="0">
                <a:solidFill>
                  <a:schemeClr val="tx1"/>
                </a:solidFill>
                <a:effectLst/>
                <a:latin typeface="+mn-lt"/>
                <a:ea typeface="+mn-ea"/>
                <a:cs typeface="+mn-cs"/>
              </a:rPr>
              <a:t>au sein de la division Marketing. </a:t>
            </a:r>
          </a:p>
          <a:p>
            <a:r>
              <a:rPr lang="fr-FR" sz="1200" b="0" kern="1200" dirty="0">
                <a:solidFill>
                  <a:schemeClr val="tx1"/>
                </a:solidFill>
                <a:effectLst/>
                <a:latin typeface="+mn-lt"/>
                <a:ea typeface="+mn-ea"/>
                <a:cs typeface="+mn-cs"/>
              </a:rPr>
              <a:t>L'objectif était de </a:t>
            </a:r>
            <a:r>
              <a:rPr lang="fr-FR" sz="1200" b="1" kern="1200" dirty="0">
                <a:solidFill>
                  <a:schemeClr val="tx1"/>
                </a:solidFill>
                <a:effectLst/>
                <a:latin typeface="+mn-lt"/>
                <a:ea typeface="+mn-ea"/>
                <a:cs typeface="+mn-cs"/>
              </a:rPr>
              <a:t>tester notre gouvernance sur un flux concret et critique </a:t>
            </a:r>
            <a:r>
              <a:rPr lang="fr-FR" sz="1200" b="0" kern="1200" dirty="0">
                <a:solidFill>
                  <a:schemeClr val="tx1"/>
                </a:solidFill>
                <a:effectLst/>
                <a:latin typeface="+mn-lt"/>
                <a:ea typeface="+mn-ea"/>
                <a:cs typeface="+mn-cs"/>
              </a:rPr>
              <a:t>: les données d'acquisition de prospects, représentant </a:t>
            </a:r>
            <a:r>
              <a:rPr lang="fr-FR" sz="1200" b="1" kern="1200" dirty="0">
                <a:solidFill>
                  <a:schemeClr val="tx1"/>
                </a:solidFill>
                <a:effectLst/>
                <a:latin typeface="+mn-lt"/>
                <a:ea typeface="+mn-ea"/>
                <a:cs typeface="+mn-cs"/>
              </a:rPr>
              <a:t>15 à 20 téraoctets</a:t>
            </a:r>
            <a:r>
              <a:rPr lang="fr-FR" sz="1200" b="0" kern="1200" dirty="0">
                <a:solidFill>
                  <a:schemeClr val="tx1"/>
                </a:solidFill>
                <a:effectLst/>
                <a:latin typeface="+mn-lt"/>
                <a:ea typeface="+mn-ea"/>
                <a:cs typeface="+mn-cs"/>
              </a:rPr>
              <a:t> de données.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Nous avons réuni une équipe resserrée </a:t>
            </a:r>
            <a:r>
              <a:rPr lang="fr-FR" sz="1200" b="1" kern="1200" dirty="0">
                <a:solidFill>
                  <a:schemeClr val="tx1"/>
                </a:solidFill>
                <a:effectLst/>
                <a:latin typeface="+mn-lt"/>
                <a:ea typeface="+mn-ea"/>
                <a:cs typeface="+mn-cs"/>
              </a:rPr>
              <a:t>d'un Steward marketing, de deux ingénieurs de données </a:t>
            </a:r>
            <a:r>
              <a:rPr lang="fr-FR" sz="1200" b="0" kern="1200" dirty="0">
                <a:solidFill>
                  <a:schemeClr val="tx1"/>
                </a:solidFill>
                <a:effectLst/>
                <a:latin typeface="+mn-lt"/>
                <a:ea typeface="+mn-ea"/>
                <a:cs typeface="+mn-cs"/>
              </a:rPr>
              <a:t>agissant comme Custodians et d'un responsable métier. </a:t>
            </a:r>
          </a:p>
          <a:p>
            <a:r>
              <a:rPr lang="fr-FR" sz="1200" b="0" kern="1200" dirty="0">
                <a:solidFill>
                  <a:schemeClr val="tx1"/>
                </a:solidFill>
                <a:effectLst/>
                <a:latin typeface="+mn-lt"/>
                <a:ea typeface="+mn-ea"/>
                <a:cs typeface="+mn-cs"/>
              </a:rPr>
              <a:t>Nos critères de succès étaient mesurables : </a:t>
            </a:r>
          </a:p>
          <a:p>
            <a:r>
              <a:rPr lang="fr-FR" sz="1200" b="0" kern="1200" dirty="0">
                <a:solidFill>
                  <a:schemeClr val="tx1"/>
                </a:solidFill>
                <a:effectLst/>
                <a:latin typeface="+mn-lt"/>
                <a:ea typeface="+mn-ea"/>
                <a:cs typeface="+mn-cs"/>
              </a:rPr>
              <a:t>enregistrer l'intégralité de nos actifs marketing dans Backstage avec un propriétaire valide, </a:t>
            </a:r>
          </a:p>
          <a:p>
            <a:r>
              <a:rPr lang="fr-FR" sz="1200" b="0" kern="1200" dirty="0">
                <a:solidFill>
                  <a:schemeClr val="tx1"/>
                </a:solidFill>
                <a:effectLst/>
                <a:latin typeface="+mn-lt"/>
                <a:ea typeface="+mn-ea"/>
                <a:cs typeface="+mn-cs"/>
              </a:rPr>
              <a:t>améliorer de </a:t>
            </a:r>
            <a:r>
              <a:rPr lang="fr-FR" sz="1200" b="1" kern="1200" dirty="0">
                <a:solidFill>
                  <a:schemeClr val="tx1"/>
                </a:solidFill>
                <a:effectLst/>
                <a:latin typeface="+mn-lt"/>
                <a:ea typeface="+mn-ea"/>
                <a:cs typeface="+mn-cs"/>
              </a:rPr>
              <a:t>15 %</a:t>
            </a:r>
            <a:r>
              <a:rPr lang="fr-FR" sz="1200" b="0" kern="1200" dirty="0">
                <a:solidFill>
                  <a:schemeClr val="tx1"/>
                </a:solidFill>
                <a:effectLst/>
                <a:latin typeface="+mn-lt"/>
                <a:ea typeface="+mn-ea"/>
                <a:cs typeface="+mn-cs"/>
              </a:rPr>
              <a:t> notre indicateur de qualité de données, </a:t>
            </a:r>
          </a:p>
          <a:p>
            <a:r>
              <a:rPr lang="fr-FR" sz="1200" b="0" kern="1200" dirty="0">
                <a:solidFill>
                  <a:schemeClr val="tx1"/>
                </a:solidFill>
                <a:effectLst/>
                <a:latin typeface="+mn-lt"/>
                <a:ea typeface="+mn-ea"/>
                <a:cs typeface="+mn-cs"/>
              </a:rPr>
              <a:t>garantir un </a:t>
            </a:r>
            <a:r>
              <a:rPr lang="fr-FR" sz="1200" b="1" kern="1200" dirty="0">
                <a:solidFill>
                  <a:schemeClr val="tx1"/>
                </a:solidFill>
                <a:effectLst/>
                <a:latin typeface="+mn-lt"/>
                <a:ea typeface="+mn-ea"/>
                <a:cs typeface="+mn-cs"/>
              </a:rPr>
              <a:t>taux de conformité de 100 % </a:t>
            </a:r>
            <a:r>
              <a:rPr lang="fr-FR" sz="1200" b="0" kern="1200" dirty="0">
                <a:solidFill>
                  <a:schemeClr val="tx1"/>
                </a:solidFill>
                <a:effectLst/>
                <a:latin typeface="+mn-lt"/>
                <a:ea typeface="+mn-ea"/>
                <a:cs typeface="+mn-cs"/>
              </a:rPr>
              <a:t>sur l'acquisition des </a:t>
            </a:r>
            <a:r>
              <a:rPr lang="fr-FR" sz="1200" b="1" kern="1200" dirty="0">
                <a:solidFill>
                  <a:schemeClr val="tx1"/>
                </a:solidFill>
                <a:effectLst/>
                <a:latin typeface="+mn-lt"/>
                <a:ea typeface="+mn-ea"/>
                <a:cs typeface="+mn-cs"/>
              </a:rPr>
              <a:t>consentements</a:t>
            </a:r>
            <a:r>
              <a:rPr lang="fr-FR" sz="1200" b="0" kern="1200" dirty="0">
                <a:solidFill>
                  <a:schemeClr val="tx1"/>
                </a:solidFill>
                <a:effectLst/>
                <a:latin typeface="+mn-lt"/>
                <a:ea typeface="+mn-ea"/>
                <a:cs typeface="+mn-cs"/>
              </a:rPr>
              <a:t> de nos prospects et former nos équipes au quotidien</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14</a:t>
            </a:fld>
            <a:endParaRPr lang="fr-FR"/>
          </a:p>
        </p:txBody>
      </p:sp>
    </p:spTree>
    <p:extLst>
      <p:ext uri="{BB962C8B-B14F-4D97-AF65-F5344CB8AC3E}">
        <p14:creationId xmlns:p14="http://schemas.microsoft.com/office/powerpoint/2010/main" val="4134967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Regardez ce schéma d'architecture technique. C'est </a:t>
            </a:r>
            <a:r>
              <a:rPr lang="fr-FR" sz="1200" b="1" kern="1200" dirty="0">
                <a:solidFill>
                  <a:schemeClr val="tx1"/>
                </a:solidFill>
                <a:effectLst/>
                <a:latin typeface="+mn-lt"/>
                <a:ea typeface="+mn-ea"/>
                <a:cs typeface="+mn-cs"/>
              </a:rPr>
              <a:t>l'ossature</a:t>
            </a:r>
            <a:r>
              <a:rPr lang="fr-FR" sz="1200" b="0" kern="1200" dirty="0">
                <a:solidFill>
                  <a:schemeClr val="tx1"/>
                </a:solidFill>
                <a:effectLst/>
                <a:latin typeface="+mn-lt"/>
                <a:ea typeface="+mn-ea"/>
                <a:cs typeface="+mn-cs"/>
              </a:rPr>
              <a:t> de notre </a:t>
            </a:r>
            <a:r>
              <a:rPr lang="fr-FR" sz="1200" b="1" kern="1200" dirty="0">
                <a:solidFill>
                  <a:schemeClr val="tx1"/>
                </a:solidFill>
                <a:effectLst/>
                <a:latin typeface="+mn-lt"/>
                <a:ea typeface="+mn-ea"/>
                <a:cs typeface="+mn-cs"/>
              </a:rPr>
              <a:t>pipeline pilote sécurisé</a:t>
            </a:r>
            <a:r>
              <a:rPr lang="fr-FR" sz="1200" b="0" kern="1200" dirty="0">
                <a:solidFill>
                  <a:schemeClr val="tx1"/>
                </a:solidFill>
                <a:effectLst/>
                <a:latin typeface="+mn-lt"/>
                <a:ea typeface="+mn-ea"/>
                <a:cs typeface="+mn-cs"/>
              </a:rPr>
              <a:t>.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À gauche, nos </a:t>
            </a:r>
            <a:r>
              <a:rPr lang="fr-FR" sz="1200" b="1" kern="1200" dirty="0">
                <a:solidFill>
                  <a:schemeClr val="tx1"/>
                </a:solidFill>
                <a:effectLst/>
                <a:latin typeface="+mn-lt"/>
                <a:ea typeface="+mn-ea"/>
                <a:cs typeface="+mn-cs"/>
              </a:rPr>
              <a:t>sources de données brutes</a:t>
            </a:r>
            <a:r>
              <a:rPr lang="fr-FR" sz="1200" b="0" kern="1200" dirty="0">
                <a:solidFill>
                  <a:schemeClr val="tx1"/>
                </a:solidFill>
                <a:effectLst/>
                <a:latin typeface="+mn-lt"/>
                <a:ea typeface="+mn-ea"/>
                <a:cs typeface="+mn-cs"/>
              </a:rPr>
              <a:t>, comme les </a:t>
            </a:r>
            <a:r>
              <a:rPr lang="fr-FR" sz="1200" b="1" kern="1200" dirty="0">
                <a:solidFill>
                  <a:schemeClr val="tx1"/>
                </a:solidFill>
                <a:effectLst/>
                <a:latin typeface="+mn-lt"/>
                <a:ea typeface="+mn-ea"/>
                <a:cs typeface="+mn-cs"/>
              </a:rPr>
              <a:t>APIs</a:t>
            </a:r>
            <a:r>
              <a:rPr lang="fr-FR" sz="1200" b="0" kern="1200" dirty="0">
                <a:solidFill>
                  <a:schemeClr val="tx1"/>
                </a:solidFill>
                <a:effectLst/>
                <a:latin typeface="+mn-lt"/>
                <a:ea typeface="+mn-ea"/>
                <a:cs typeface="+mn-cs"/>
              </a:rPr>
              <a:t> de Facebook ou Google </a:t>
            </a:r>
            <a:r>
              <a:rPr lang="fr-FR" sz="1200" b="0" kern="1200" dirty="0" err="1">
                <a:solidFill>
                  <a:schemeClr val="tx1"/>
                </a:solidFill>
                <a:effectLst/>
                <a:latin typeface="+mn-lt"/>
                <a:ea typeface="+mn-ea"/>
                <a:cs typeface="+mn-cs"/>
              </a:rPr>
              <a:t>Ads</a:t>
            </a:r>
            <a:r>
              <a:rPr lang="fr-FR" sz="1200" b="0" kern="1200" dirty="0">
                <a:solidFill>
                  <a:schemeClr val="tx1"/>
                </a:solidFill>
                <a:effectLst/>
                <a:latin typeface="+mn-lt"/>
                <a:ea typeface="+mn-ea"/>
                <a:cs typeface="+mn-cs"/>
              </a:rPr>
              <a:t>, sont ingérées par notre outil de flux </a:t>
            </a:r>
            <a:r>
              <a:rPr lang="fr-FR" sz="1200" b="1" kern="1200" dirty="0">
                <a:solidFill>
                  <a:schemeClr val="tx1"/>
                </a:solidFill>
                <a:effectLst/>
                <a:latin typeface="+mn-lt"/>
                <a:ea typeface="+mn-ea"/>
                <a:cs typeface="+mn-cs"/>
              </a:rPr>
              <a:t>Talend</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C'est là que s'applique </a:t>
            </a:r>
            <a:r>
              <a:rPr lang="fr-FR" sz="1200" b="1" kern="1200" dirty="0">
                <a:solidFill>
                  <a:schemeClr val="tx1"/>
                </a:solidFill>
                <a:effectLst/>
                <a:latin typeface="+mn-lt"/>
                <a:ea typeface="+mn-ea"/>
                <a:cs typeface="+mn-cs"/>
              </a:rPr>
              <a:t>notre 1er filtre de conformité </a:t>
            </a:r>
            <a:r>
              <a:rPr lang="fr-FR" sz="1200" b="0" kern="1200" dirty="0">
                <a:solidFill>
                  <a:schemeClr val="tx1"/>
                </a:solidFill>
                <a:effectLst/>
                <a:latin typeface="+mn-lt"/>
                <a:ea typeface="+mn-ea"/>
                <a:cs typeface="+mn-cs"/>
              </a:rPr>
              <a:t>: les données </a:t>
            </a:r>
            <a:r>
              <a:rPr lang="fr-FR" sz="1200" b="1" kern="1200" dirty="0">
                <a:solidFill>
                  <a:schemeClr val="tx1"/>
                </a:solidFill>
                <a:effectLst/>
                <a:latin typeface="+mn-lt"/>
                <a:ea typeface="+mn-ea"/>
                <a:cs typeface="+mn-cs"/>
              </a:rPr>
              <a:t>d'identification</a:t>
            </a:r>
            <a:r>
              <a:rPr lang="fr-FR" sz="1200" b="0" kern="1200" dirty="0">
                <a:solidFill>
                  <a:schemeClr val="tx1"/>
                </a:solidFill>
                <a:effectLst/>
                <a:latin typeface="+mn-lt"/>
                <a:ea typeface="+mn-ea"/>
                <a:cs typeface="+mn-cs"/>
              </a:rPr>
              <a:t> personnelle (les e-mails, les adresses) sont immédiatement </a:t>
            </a:r>
            <a:r>
              <a:rPr lang="fr-FR" sz="1200" b="1" kern="1200" dirty="0">
                <a:solidFill>
                  <a:schemeClr val="tx1"/>
                </a:solidFill>
                <a:effectLst/>
                <a:latin typeface="+mn-lt"/>
                <a:ea typeface="+mn-ea"/>
                <a:cs typeface="+mn-cs"/>
              </a:rPr>
              <a:t>hachées</a:t>
            </a:r>
            <a:r>
              <a:rPr lang="fr-FR" sz="1200" b="0" kern="1200" dirty="0">
                <a:solidFill>
                  <a:schemeClr val="tx1"/>
                </a:solidFill>
                <a:effectLst/>
                <a:latin typeface="+mn-lt"/>
                <a:ea typeface="+mn-ea"/>
                <a:cs typeface="+mn-cs"/>
              </a:rPr>
              <a:t> en SHA-256 </a:t>
            </a:r>
          </a:p>
          <a:p>
            <a:r>
              <a:rPr lang="fr-FR" sz="1200" b="0" kern="1200" dirty="0">
                <a:solidFill>
                  <a:schemeClr val="tx1"/>
                </a:solidFill>
                <a:effectLst/>
                <a:latin typeface="+mn-lt"/>
                <a:ea typeface="+mn-ea"/>
                <a:cs typeface="+mn-cs"/>
              </a:rPr>
              <a:t>et </a:t>
            </a:r>
            <a:r>
              <a:rPr lang="fr-FR" sz="1200" b="1" kern="1200" dirty="0">
                <a:solidFill>
                  <a:schemeClr val="tx1"/>
                </a:solidFill>
                <a:effectLst/>
                <a:latin typeface="+mn-lt"/>
                <a:ea typeface="+mn-ea"/>
                <a:cs typeface="+mn-cs"/>
              </a:rPr>
              <a:t>chiffrées</a:t>
            </a:r>
            <a:r>
              <a:rPr lang="fr-FR" sz="1200" b="0" kern="1200" dirty="0">
                <a:solidFill>
                  <a:schemeClr val="tx1"/>
                </a:solidFill>
                <a:effectLst/>
                <a:latin typeface="+mn-lt"/>
                <a:ea typeface="+mn-ea"/>
                <a:cs typeface="+mn-cs"/>
              </a:rPr>
              <a:t> par colonne à l'aide de Cloud </a:t>
            </a:r>
            <a:r>
              <a:rPr lang="fr-FR" sz="1200" b="1" kern="1200" dirty="0">
                <a:solidFill>
                  <a:schemeClr val="tx1"/>
                </a:solidFill>
                <a:effectLst/>
                <a:latin typeface="+mn-lt"/>
                <a:ea typeface="+mn-ea"/>
                <a:cs typeface="+mn-cs"/>
              </a:rPr>
              <a:t>KMS</a:t>
            </a:r>
            <a:r>
              <a:rPr lang="fr-FR" sz="1200" b="0" kern="1200" dirty="0">
                <a:solidFill>
                  <a:schemeClr val="tx1"/>
                </a:solidFill>
                <a:effectLst/>
                <a:latin typeface="+mn-lt"/>
                <a:ea typeface="+mn-ea"/>
                <a:cs typeface="+mn-cs"/>
              </a:rPr>
              <a:t> avant même d'arriver dans notre entrepôt.</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Au centre, le stockage </a:t>
            </a:r>
            <a:r>
              <a:rPr lang="fr-FR" sz="1200" b="1" kern="1200" dirty="0" err="1">
                <a:solidFill>
                  <a:schemeClr val="tx1"/>
                </a:solidFill>
                <a:effectLst/>
                <a:latin typeface="+mn-lt"/>
                <a:ea typeface="+mn-ea"/>
                <a:cs typeface="+mn-cs"/>
              </a:rPr>
              <a:t>BigQuery</a:t>
            </a:r>
            <a:r>
              <a:rPr lang="fr-FR" sz="1200" b="0" kern="1200" dirty="0">
                <a:solidFill>
                  <a:schemeClr val="tx1"/>
                </a:solidFill>
                <a:effectLst/>
                <a:latin typeface="+mn-lt"/>
                <a:ea typeface="+mn-ea"/>
                <a:cs typeface="+mn-cs"/>
              </a:rPr>
              <a:t> est entièrement cloisonné par </a:t>
            </a:r>
            <a:r>
              <a:rPr lang="fr-FR" sz="1200" b="1" kern="1200" dirty="0">
                <a:solidFill>
                  <a:schemeClr val="tx1"/>
                </a:solidFill>
                <a:effectLst/>
                <a:latin typeface="+mn-lt"/>
                <a:ea typeface="+mn-ea"/>
                <a:cs typeface="+mn-cs"/>
              </a:rPr>
              <a:t>des rôles d'accès IAM stricts </a:t>
            </a:r>
            <a:r>
              <a:rPr lang="fr-FR" sz="1200" b="0" kern="1200" dirty="0">
                <a:solidFill>
                  <a:schemeClr val="tx1"/>
                </a:solidFill>
                <a:effectLst/>
                <a:latin typeface="+mn-lt"/>
                <a:ea typeface="+mn-ea"/>
                <a:cs typeface="+mn-cs"/>
              </a:rPr>
              <a:t>et chaque table créée doit être liée à son </a:t>
            </a:r>
            <a:r>
              <a:rPr lang="fr-FR" sz="1200" b="1" kern="1200" dirty="0">
                <a:solidFill>
                  <a:schemeClr val="tx1"/>
                </a:solidFill>
                <a:effectLst/>
                <a:latin typeface="+mn-lt"/>
                <a:ea typeface="+mn-ea"/>
                <a:cs typeface="+mn-cs"/>
              </a:rPr>
              <a:t>fichier `</a:t>
            </a:r>
            <a:r>
              <a:rPr lang="fr-FR" sz="1200" b="1" kern="1200" dirty="0" err="1">
                <a:solidFill>
                  <a:schemeClr val="tx1"/>
                </a:solidFill>
                <a:effectLst/>
                <a:latin typeface="+mn-lt"/>
                <a:ea typeface="+mn-ea"/>
                <a:cs typeface="+mn-cs"/>
              </a:rPr>
              <a:t>owner.yaml</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pour être acceptée.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En bout de chaîne</a:t>
            </a:r>
            <a:r>
              <a:rPr lang="fr-FR" sz="1200" b="1" kern="1200" dirty="0">
                <a:solidFill>
                  <a:schemeClr val="tx1"/>
                </a:solidFill>
                <a:effectLst/>
                <a:latin typeface="+mn-lt"/>
                <a:ea typeface="+mn-ea"/>
                <a:cs typeface="+mn-cs"/>
              </a:rPr>
              <a:t>, l'analyse BI </a:t>
            </a:r>
            <a:r>
              <a:rPr lang="fr-FR" sz="1200" b="0" kern="1200" dirty="0">
                <a:solidFill>
                  <a:schemeClr val="tx1"/>
                </a:solidFill>
                <a:effectLst/>
                <a:latin typeface="+mn-lt"/>
                <a:ea typeface="+mn-ea"/>
                <a:cs typeface="+mn-cs"/>
              </a:rPr>
              <a:t>s'effectue dans Looker sur des </a:t>
            </a:r>
            <a:r>
              <a:rPr lang="fr-FR" sz="1200" b="0" kern="1200" dirty="0" err="1">
                <a:solidFill>
                  <a:schemeClr val="tx1"/>
                </a:solidFill>
                <a:effectLst/>
                <a:latin typeface="+mn-lt"/>
                <a:ea typeface="+mn-ea"/>
                <a:cs typeface="+mn-cs"/>
              </a:rPr>
              <a:t>dashboards</a:t>
            </a:r>
            <a:r>
              <a:rPr lang="fr-FR" sz="1200" b="0" kern="1200" dirty="0">
                <a:solidFill>
                  <a:schemeClr val="tx1"/>
                </a:solidFill>
                <a:effectLst/>
                <a:latin typeface="+mn-lt"/>
                <a:ea typeface="+mn-ea"/>
                <a:cs typeface="+mn-cs"/>
              </a:rPr>
              <a:t> accessibles conformes au </a:t>
            </a:r>
            <a:r>
              <a:rPr lang="fr-FR" sz="1200" b="1" kern="1200" dirty="0">
                <a:solidFill>
                  <a:schemeClr val="tx1"/>
                </a:solidFill>
                <a:effectLst/>
                <a:latin typeface="+mn-lt"/>
                <a:ea typeface="+mn-ea"/>
                <a:cs typeface="+mn-cs"/>
              </a:rPr>
              <a:t>RGAA</a:t>
            </a:r>
            <a:r>
              <a:rPr lang="fr-FR" sz="1200" b="0" kern="1200" dirty="0">
                <a:solidFill>
                  <a:schemeClr val="tx1"/>
                </a:solidFill>
                <a:effectLst/>
                <a:latin typeface="+mn-lt"/>
                <a:ea typeface="+mn-ea"/>
                <a:cs typeface="+mn-cs"/>
              </a:rPr>
              <a:t>.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Et sous ce flux, vous voyez notre socle transverse : </a:t>
            </a:r>
            <a:r>
              <a:rPr lang="fr-FR" sz="1200" b="1" kern="1200" dirty="0">
                <a:solidFill>
                  <a:schemeClr val="tx1"/>
                </a:solidFill>
                <a:effectLst/>
                <a:latin typeface="+mn-lt"/>
                <a:ea typeface="+mn-ea"/>
                <a:cs typeface="+mn-cs"/>
              </a:rPr>
              <a:t>Backstage</a:t>
            </a:r>
            <a:r>
              <a:rPr lang="fr-FR" sz="1200" b="0" kern="1200" dirty="0">
                <a:solidFill>
                  <a:schemeClr val="tx1"/>
                </a:solidFill>
                <a:effectLst/>
                <a:latin typeface="+mn-lt"/>
                <a:ea typeface="+mn-ea"/>
                <a:cs typeface="+mn-cs"/>
              </a:rPr>
              <a:t> vérifie la santé de la flotte, </a:t>
            </a:r>
            <a:r>
              <a:rPr lang="fr-FR" sz="1200" b="1" kern="1200" dirty="0" err="1">
                <a:solidFill>
                  <a:schemeClr val="tx1"/>
                </a:solidFill>
                <a:effectLst/>
                <a:latin typeface="+mn-lt"/>
                <a:ea typeface="+mn-ea"/>
                <a:cs typeface="+mn-cs"/>
              </a:rPr>
              <a:t>OneTrust</a:t>
            </a:r>
            <a:r>
              <a:rPr lang="fr-FR" sz="1200" b="0" kern="1200" dirty="0">
                <a:solidFill>
                  <a:schemeClr val="tx1"/>
                </a:solidFill>
                <a:effectLst/>
                <a:latin typeface="+mn-lt"/>
                <a:ea typeface="+mn-ea"/>
                <a:cs typeface="+mn-cs"/>
              </a:rPr>
              <a:t> pilote les consentements en temps réel et </a:t>
            </a:r>
            <a:r>
              <a:rPr lang="fr-FR" sz="1200" b="1" kern="1200" dirty="0">
                <a:solidFill>
                  <a:schemeClr val="tx1"/>
                </a:solidFill>
                <a:effectLst/>
                <a:latin typeface="+mn-lt"/>
                <a:ea typeface="+mn-ea"/>
                <a:cs typeface="+mn-cs"/>
              </a:rPr>
              <a:t>Slack</a:t>
            </a:r>
            <a:r>
              <a:rPr lang="fr-FR" sz="1200" b="0" kern="1200" dirty="0">
                <a:solidFill>
                  <a:schemeClr val="tx1"/>
                </a:solidFill>
                <a:effectLst/>
                <a:latin typeface="+mn-lt"/>
                <a:ea typeface="+mn-ea"/>
                <a:cs typeface="+mn-cs"/>
              </a:rPr>
              <a:t> assure l'assistance sémantique directe.</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15</a:t>
            </a:fld>
            <a:endParaRPr lang="fr-FR"/>
          </a:p>
        </p:txBody>
      </p:sp>
    </p:spTree>
    <p:extLst>
      <p:ext uri="{BB962C8B-B14F-4D97-AF65-F5344CB8AC3E}">
        <p14:creationId xmlns:p14="http://schemas.microsoft.com/office/powerpoint/2010/main" val="874424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Rentrons un instant dans le </a:t>
            </a:r>
            <a:r>
              <a:rPr lang="fr-FR" sz="1200" b="1" kern="1200" dirty="0">
                <a:solidFill>
                  <a:schemeClr val="tx1"/>
                </a:solidFill>
                <a:effectLst/>
                <a:latin typeface="+mn-lt"/>
                <a:ea typeface="+mn-ea"/>
                <a:cs typeface="+mn-cs"/>
              </a:rPr>
              <a:t>quotidien opérationnel</a:t>
            </a:r>
            <a:r>
              <a:rPr lang="fr-FR" sz="1200" b="0" kern="1200" dirty="0">
                <a:solidFill>
                  <a:schemeClr val="tx1"/>
                </a:solidFill>
                <a:effectLst/>
                <a:latin typeface="+mn-lt"/>
                <a:ea typeface="+mn-ea"/>
                <a:cs typeface="+mn-cs"/>
              </a:rPr>
              <a:t> de notre pilote.</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On s'est rendu compte qu'un problème classique en entreprise, c'est de se retrouver bloqué devant une table </a:t>
            </a:r>
            <a:r>
              <a:rPr lang="fr-FR" sz="1200" b="0" kern="1200" dirty="0" err="1">
                <a:solidFill>
                  <a:schemeClr val="tx1"/>
                </a:solidFill>
                <a:effectLst/>
                <a:latin typeface="+mn-lt"/>
                <a:ea typeface="+mn-ea"/>
                <a:cs typeface="+mn-cs"/>
              </a:rPr>
              <a:t>BigQuery</a:t>
            </a:r>
            <a:r>
              <a:rPr lang="fr-FR" sz="1200" b="0" kern="1200" dirty="0">
                <a:solidFill>
                  <a:schemeClr val="tx1"/>
                </a:solidFill>
                <a:effectLst/>
                <a:latin typeface="+mn-lt"/>
                <a:ea typeface="+mn-ea"/>
                <a:cs typeface="+mn-cs"/>
              </a:rPr>
              <a:t> sans avoir la moindre idée de qui l'a créée ou si la donnée est fiable. </a:t>
            </a:r>
          </a:p>
          <a:p>
            <a:r>
              <a:rPr lang="fr-FR" sz="1200" b="0" kern="1200" dirty="0">
                <a:solidFill>
                  <a:schemeClr val="tx1"/>
                </a:solidFill>
                <a:effectLst/>
                <a:latin typeface="+mn-lt"/>
                <a:ea typeface="+mn-ea"/>
                <a:cs typeface="+mn-cs"/>
              </a:rPr>
              <a:t>Pour résoudre ça, nous avons mis en place la </a:t>
            </a:r>
            <a:r>
              <a:rPr lang="fr-FR" sz="1200" b="1" kern="1200" dirty="0">
                <a:solidFill>
                  <a:schemeClr val="tx1"/>
                </a:solidFill>
                <a:effectLst/>
                <a:latin typeface="+mn-lt"/>
                <a:ea typeface="+mn-ea"/>
                <a:cs typeface="+mn-cs"/>
              </a:rPr>
              <a:t>'Sémantique Sociale</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Dans Backstage</a:t>
            </a:r>
            <a:r>
              <a:rPr lang="fr-FR" sz="1200" b="1" kern="1200" dirty="0">
                <a:solidFill>
                  <a:schemeClr val="tx1"/>
                </a:solidFill>
                <a:effectLst/>
                <a:latin typeface="+mn-lt"/>
                <a:ea typeface="+mn-ea"/>
                <a:cs typeface="+mn-cs"/>
              </a:rPr>
              <a:t>, chaque fiche de table de donnée</a:t>
            </a:r>
            <a:r>
              <a:rPr lang="fr-FR" sz="1200" b="0" kern="1200" dirty="0">
                <a:solidFill>
                  <a:schemeClr val="tx1"/>
                </a:solidFill>
                <a:effectLst/>
                <a:latin typeface="+mn-lt"/>
                <a:ea typeface="+mn-ea"/>
                <a:cs typeface="+mn-cs"/>
              </a:rPr>
              <a:t>s contient un bouton relié dynamiquement au canal de </a:t>
            </a:r>
            <a:r>
              <a:rPr lang="fr-FR" sz="1200" b="1" kern="1200" dirty="0">
                <a:solidFill>
                  <a:schemeClr val="tx1"/>
                </a:solidFill>
                <a:effectLst/>
                <a:latin typeface="+mn-lt"/>
                <a:ea typeface="+mn-ea"/>
                <a:cs typeface="+mn-cs"/>
              </a:rPr>
              <a:t>discussion Slack de l'équipe </a:t>
            </a:r>
            <a:r>
              <a:rPr lang="fr-FR" sz="1200" b="0" kern="1200" dirty="0">
                <a:solidFill>
                  <a:schemeClr val="tx1"/>
                </a:solidFill>
                <a:effectLst/>
                <a:latin typeface="+mn-lt"/>
                <a:ea typeface="+mn-ea"/>
                <a:cs typeface="+mn-cs"/>
              </a:rPr>
              <a:t>qui en est </a:t>
            </a:r>
            <a:r>
              <a:rPr lang="fr-FR" sz="1200" b="1" kern="1200" dirty="0">
                <a:solidFill>
                  <a:schemeClr val="tx1"/>
                </a:solidFill>
                <a:effectLst/>
                <a:latin typeface="+mn-lt"/>
                <a:ea typeface="+mn-ea"/>
                <a:cs typeface="+mn-cs"/>
              </a:rPr>
              <a:t>propriétaire</a:t>
            </a:r>
            <a:r>
              <a:rPr lang="fr-FR" sz="1200" b="0" kern="1200" dirty="0">
                <a:solidFill>
                  <a:schemeClr val="tx1"/>
                </a:solidFill>
                <a:effectLst/>
                <a:latin typeface="+mn-lt"/>
                <a:ea typeface="+mn-ea"/>
                <a:cs typeface="+mn-cs"/>
              </a:rPr>
              <a:t>.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Un analyste marketing peut ainsi interpeller directement l'expert humain en un clic, ce qui a réduit le temps de recherche d'information de </a:t>
            </a:r>
            <a:r>
              <a:rPr lang="fr-FR" sz="1200" b="1" kern="1200" dirty="0">
                <a:solidFill>
                  <a:schemeClr val="tx1"/>
                </a:solidFill>
                <a:effectLst/>
                <a:latin typeface="+mn-lt"/>
                <a:ea typeface="+mn-ea"/>
                <a:cs typeface="+mn-cs"/>
              </a:rPr>
              <a:t>40 %. </a:t>
            </a:r>
          </a:p>
          <a:p>
            <a:r>
              <a:rPr lang="fr-FR" sz="1200" b="0" kern="1200" dirty="0">
                <a:solidFill>
                  <a:schemeClr val="tx1"/>
                </a:solidFill>
                <a:effectLst/>
                <a:latin typeface="+mn-lt"/>
                <a:ea typeface="+mn-ea"/>
                <a:cs typeface="+mn-cs"/>
              </a:rPr>
              <a:t>En parallèle, notre outil de qualité </a:t>
            </a:r>
            <a:r>
              <a:rPr lang="fr-FR" sz="1200" b="1" kern="1200" dirty="0">
                <a:solidFill>
                  <a:schemeClr val="tx1"/>
                </a:solidFill>
                <a:effectLst/>
                <a:latin typeface="+mn-lt"/>
                <a:ea typeface="+mn-ea"/>
                <a:cs typeface="+mn-cs"/>
              </a:rPr>
              <a:t>Monte Carlo</a:t>
            </a:r>
            <a:r>
              <a:rPr lang="fr-FR" sz="1200" b="0" kern="1200" dirty="0">
                <a:solidFill>
                  <a:schemeClr val="tx1"/>
                </a:solidFill>
                <a:effectLst/>
                <a:latin typeface="+mn-lt"/>
                <a:ea typeface="+mn-ea"/>
                <a:cs typeface="+mn-cs"/>
              </a:rPr>
              <a:t> surveille en permanence la santé et l'intégrité de nos tables, nous alertant immédiatement en cas de dérive ou d'anomalie de schéma."</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16</a:t>
            </a:fld>
            <a:endParaRPr lang="fr-FR"/>
          </a:p>
        </p:txBody>
      </p:sp>
    </p:spTree>
    <p:extLst>
      <p:ext uri="{BB962C8B-B14F-4D97-AF65-F5344CB8AC3E}">
        <p14:creationId xmlns:p14="http://schemas.microsoft.com/office/powerpoint/2010/main" val="2857037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Parlons de résilience opérationnelle et de </a:t>
            </a:r>
            <a:r>
              <a:rPr lang="fr-FR" sz="1200" b="0" kern="1200" dirty="0" err="1">
                <a:solidFill>
                  <a:schemeClr val="tx1"/>
                </a:solidFill>
                <a:effectLst/>
                <a:latin typeface="+mn-lt"/>
                <a:ea typeface="+mn-ea"/>
                <a:cs typeface="+mn-cs"/>
              </a:rPr>
              <a:t>cyber-sécurité</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C'est un point absolument fondamental</a:t>
            </a:r>
          </a:p>
          <a:p>
            <a:r>
              <a:rPr lang="fr-FR" sz="1200" b="0" kern="1200" dirty="0">
                <a:solidFill>
                  <a:schemeClr val="tx1"/>
                </a:solidFill>
                <a:effectLst/>
                <a:latin typeface="+mn-lt"/>
                <a:ea typeface="+mn-ea"/>
                <a:cs typeface="+mn-cs"/>
              </a:rPr>
              <a:t>Nous avons introduit le concept de </a:t>
            </a:r>
            <a:r>
              <a:rPr lang="fr-FR" sz="1200" b="1" kern="1200" dirty="0">
                <a:solidFill>
                  <a:schemeClr val="tx1"/>
                </a:solidFill>
                <a:effectLst/>
                <a:latin typeface="+mn-lt"/>
                <a:ea typeface="+mn-ea"/>
                <a:cs typeface="+mn-cs"/>
              </a:rPr>
              <a:t>'Fleet Management</a:t>
            </a:r>
            <a:r>
              <a:rPr lang="fr-FR" sz="1200" b="0" kern="1200" dirty="0">
                <a:solidFill>
                  <a:schemeClr val="tx1"/>
                </a:solidFill>
                <a:effectLst/>
                <a:latin typeface="+mn-lt"/>
                <a:ea typeface="+mn-ea"/>
                <a:cs typeface="+mn-cs"/>
              </a:rPr>
              <a:t>’.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Au lieu de faire des audits manuels ponctuels, nos serveurs surveillent en permanence </a:t>
            </a:r>
            <a:r>
              <a:rPr lang="fr-FR" sz="1200" b="1" kern="1200" dirty="0">
                <a:solidFill>
                  <a:schemeClr val="tx1"/>
                </a:solidFill>
                <a:effectLst/>
                <a:latin typeface="+mn-lt"/>
                <a:ea typeface="+mn-ea"/>
                <a:cs typeface="+mn-cs"/>
              </a:rPr>
              <a:t>l'état de notre flotte de pipelines de production </a:t>
            </a:r>
          </a:p>
          <a:p>
            <a:r>
              <a:rPr lang="fr-FR" sz="1200" b="0" kern="1200" dirty="0">
                <a:solidFill>
                  <a:schemeClr val="tx1"/>
                </a:solidFill>
                <a:effectLst/>
                <a:latin typeface="+mn-lt"/>
                <a:ea typeface="+mn-ea"/>
                <a:cs typeface="+mn-cs"/>
              </a:rPr>
              <a:t>pour s'assurer qu'aucun ne s'écarte de notre </a:t>
            </a:r>
            <a:r>
              <a:rPr lang="fr-FR" sz="1200" b="1" kern="1200" dirty="0">
                <a:solidFill>
                  <a:schemeClr val="tx1"/>
                </a:solidFill>
                <a:effectLst/>
                <a:latin typeface="+mn-lt"/>
                <a:ea typeface="+mn-ea"/>
                <a:cs typeface="+mn-cs"/>
              </a:rPr>
              <a:t>modèle de référence idéal, le 'Golden State’.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En cas d'incident majeur, nous avons formalisé deux procédures d'urgence. </a:t>
            </a:r>
          </a:p>
          <a:p>
            <a:r>
              <a:rPr lang="fr-FR" sz="1200" b="0" kern="1200" dirty="0">
                <a:solidFill>
                  <a:schemeClr val="tx1"/>
                </a:solidFill>
                <a:effectLst/>
                <a:latin typeface="+mn-lt"/>
                <a:ea typeface="+mn-ea"/>
                <a:cs typeface="+mn-cs"/>
              </a:rPr>
              <a:t>Le Protocole </a:t>
            </a:r>
            <a:r>
              <a:rPr lang="fr-FR" sz="1200" b="1" kern="1200" dirty="0">
                <a:solidFill>
                  <a:schemeClr val="tx1"/>
                </a:solidFill>
                <a:effectLst/>
                <a:latin typeface="+mn-lt"/>
                <a:ea typeface="+mn-ea"/>
                <a:cs typeface="+mn-cs"/>
              </a:rPr>
              <a:t>Alpha</a:t>
            </a:r>
            <a:r>
              <a:rPr lang="fr-FR" sz="1200" b="0" kern="1200" dirty="0">
                <a:solidFill>
                  <a:schemeClr val="tx1"/>
                </a:solidFill>
                <a:effectLst/>
                <a:latin typeface="+mn-lt"/>
                <a:ea typeface="+mn-ea"/>
                <a:cs typeface="+mn-cs"/>
              </a:rPr>
              <a:t> organise notre réponse en </a:t>
            </a:r>
            <a:r>
              <a:rPr lang="fr-FR" sz="1200" b="1" kern="1200" dirty="0">
                <a:solidFill>
                  <a:schemeClr val="tx1"/>
                </a:solidFill>
                <a:effectLst/>
                <a:latin typeface="+mn-lt"/>
                <a:ea typeface="+mn-ea"/>
                <a:cs typeface="+mn-cs"/>
              </a:rPr>
              <a:t>72</a:t>
            </a:r>
            <a:r>
              <a:rPr lang="fr-FR" sz="1200" b="0" kern="1200" dirty="0">
                <a:solidFill>
                  <a:schemeClr val="tx1"/>
                </a:solidFill>
                <a:effectLst/>
                <a:latin typeface="+mn-lt"/>
                <a:ea typeface="+mn-ea"/>
                <a:cs typeface="+mn-cs"/>
              </a:rPr>
              <a:t> heures maximum lors d'une fuite de données personnelles, </a:t>
            </a:r>
            <a:r>
              <a:rPr lang="fr-FR" sz="1200" b="1" kern="1200" dirty="0">
                <a:solidFill>
                  <a:schemeClr val="tx1"/>
                </a:solidFill>
                <a:effectLst/>
                <a:latin typeface="+mn-lt"/>
                <a:ea typeface="+mn-ea"/>
                <a:cs typeface="+mn-cs"/>
              </a:rPr>
              <a:t>en détaillant l'enchaînement </a:t>
            </a:r>
            <a:r>
              <a:rPr lang="fr-FR" sz="1200" b="0" kern="1200" dirty="0">
                <a:solidFill>
                  <a:schemeClr val="tx1"/>
                </a:solidFill>
                <a:effectLst/>
                <a:latin typeface="+mn-lt"/>
                <a:ea typeface="+mn-ea"/>
                <a:cs typeface="+mn-cs"/>
              </a:rPr>
              <a:t>des </a:t>
            </a:r>
            <a:r>
              <a:rPr lang="fr-FR" sz="1200" b="1" kern="1200" dirty="0">
                <a:solidFill>
                  <a:schemeClr val="tx1"/>
                </a:solidFill>
                <a:effectLst/>
                <a:latin typeface="+mn-lt"/>
                <a:ea typeface="+mn-ea"/>
                <a:cs typeface="+mn-cs"/>
              </a:rPr>
              <a:t>actions juridiques et techniques. </a:t>
            </a:r>
          </a:p>
          <a:p>
            <a:r>
              <a:rPr lang="fr-FR" sz="1200" b="0" kern="1200" dirty="0">
                <a:solidFill>
                  <a:schemeClr val="tx1"/>
                </a:solidFill>
                <a:effectLst/>
                <a:latin typeface="+mn-lt"/>
                <a:ea typeface="+mn-ea"/>
                <a:cs typeface="+mn-cs"/>
              </a:rPr>
              <a:t>Le Protocole Beta décrit quant à lui notre </a:t>
            </a:r>
            <a:r>
              <a:rPr lang="fr-FR" sz="1200" b="1" kern="1200" dirty="0">
                <a:solidFill>
                  <a:schemeClr val="tx1"/>
                </a:solidFill>
                <a:effectLst/>
                <a:latin typeface="+mn-lt"/>
                <a:ea typeface="+mn-ea"/>
                <a:cs typeface="+mn-cs"/>
              </a:rPr>
              <a:t>plan de reprise d'activité</a:t>
            </a:r>
            <a:r>
              <a:rPr lang="fr-FR" sz="1200" b="0" kern="1200" dirty="0">
                <a:solidFill>
                  <a:schemeClr val="tx1"/>
                </a:solidFill>
                <a:effectLst/>
                <a:latin typeface="+mn-lt"/>
                <a:ea typeface="+mn-ea"/>
                <a:cs typeface="+mn-cs"/>
              </a:rPr>
              <a:t> pour </a:t>
            </a:r>
            <a:r>
              <a:rPr lang="fr-FR" sz="1200" b="1" kern="1200" dirty="0">
                <a:solidFill>
                  <a:schemeClr val="tx1"/>
                </a:solidFill>
                <a:effectLst/>
                <a:latin typeface="+mn-lt"/>
                <a:ea typeface="+mn-ea"/>
                <a:cs typeface="+mn-cs"/>
              </a:rPr>
              <a:t>restaurer nos clés de chiffrement KMS</a:t>
            </a:r>
            <a:r>
              <a:rPr lang="fr-FR" sz="1200" b="0" kern="1200" dirty="0">
                <a:solidFill>
                  <a:schemeClr val="tx1"/>
                </a:solidFill>
                <a:effectLst/>
                <a:latin typeface="+mn-lt"/>
                <a:ea typeface="+mn-ea"/>
                <a:cs typeface="+mn-cs"/>
              </a:rPr>
              <a:t> en cas de sinistre, grâce au secret partagé de Shamir.</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17</a:t>
            </a:fld>
            <a:endParaRPr lang="fr-FR"/>
          </a:p>
        </p:txBody>
      </p:sp>
    </p:spTree>
    <p:extLst>
      <p:ext uri="{BB962C8B-B14F-4D97-AF65-F5344CB8AC3E}">
        <p14:creationId xmlns:p14="http://schemas.microsoft.com/office/powerpoint/2010/main" val="3894317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Regardez </a:t>
            </a:r>
            <a:r>
              <a:rPr lang="fr-FR" sz="1200" b="1" kern="1200" dirty="0">
                <a:solidFill>
                  <a:schemeClr val="tx1"/>
                </a:solidFill>
                <a:effectLst/>
                <a:latin typeface="+mn-lt"/>
                <a:ea typeface="+mn-ea"/>
                <a:cs typeface="+mn-cs"/>
              </a:rPr>
              <a:t>cette frise chronologique</a:t>
            </a:r>
            <a:r>
              <a:rPr lang="fr-FR" sz="1200" b="0" kern="1200" dirty="0">
                <a:solidFill>
                  <a:schemeClr val="tx1"/>
                </a:solidFill>
                <a:effectLst/>
                <a:latin typeface="+mn-lt"/>
                <a:ea typeface="+mn-ea"/>
                <a:cs typeface="+mn-cs"/>
              </a:rPr>
              <a:t>.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C'est l'enchaînement précis de notre Protocole Alpha. </a:t>
            </a:r>
          </a:p>
          <a:p>
            <a:r>
              <a:rPr lang="fr-FR" sz="1200" b="0" kern="1200" dirty="0">
                <a:solidFill>
                  <a:schemeClr val="tx1"/>
                </a:solidFill>
                <a:effectLst/>
                <a:latin typeface="+mn-lt"/>
                <a:ea typeface="+mn-ea"/>
                <a:cs typeface="+mn-cs"/>
              </a:rPr>
              <a:t>Tout commence à </a:t>
            </a:r>
            <a:r>
              <a:rPr lang="fr-FR" sz="1200" b="1" kern="1200" dirty="0">
                <a:solidFill>
                  <a:schemeClr val="tx1"/>
                </a:solidFill>
                <a:effectLst/>
                <a:latin typeface="+mn-lt"/>
                <a:ea typeface="+mn-ea"/>
                <a:cs typeface="+mn-cs"/>
              </a:rPr>
              <a:t>T0</a:t>
            </a:r>
            <a:r>
              <a:rPr lang="fr-FR" sz="1200" b="0" kern="1200" dirty="0">
                <a:solidFill>
                  <a:schemeClr val="tx1"/>
                </a:solidFill>
                <a:effectLst/>
                <a:latin typeface="+mn-lt"/>
                <a:ea typeface="+mn-ea"/>
                <a:cs typeface="+mn-cs"/>
              </a:rPr>
              <a:t>, lorsque </a:t>
            </a:r>
            <a:r>
              <a:rPr lang="fr-FR" sz="1200" b="1" kern="1200" dirty="0">
                <a:solidFill>
                  <a:schemeClr val="tx1"/>
                </a:solidFill>
                <a:effectLst/>
                <a:latin typeface="+mn-lt"/>
                <a:ea typeface="+mn-ea"/>
                <a:cs typeface="+mn-cs"/>
              </a:rPr>
              <a:t>notre SIEM Splunk détecte une fuite suspecte </a:t>
            </a:r>
            <a:r>
              <a:rPr lang="fr-FR" sz="1200" b="0" kern="1200" dirty="0">
                <a:solidFill>
                  <a:schemeClr val="tx1"/>
                </a:solidFill>
                <a:effectLst/>
                <a:latin typeface="+mn-lt"/>
                <a:ea typeface="+mn-ea"/>
                <a:cs typeface="+mn-cs"/>
              </a:rPr>
              <a:t>de données personnelles.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La cellule de crise est réunie instantanément. </a:t>
            </a:r>
          </a:p>
          <a:p>
            <a:r>
              <a:rPr lang="fr-FR" sz="1200" b="0" kern="1200" dirty="0">
                <a:solidFill>
                  <a:schemeClr val="tx1"/>
                </a:solidFill>
                <a:effectLst/>
                <a:latin typeface="+mn-lt"/>
                <a:ea typeface="+mn-ea"/>
                <a:cs typeface="+mn-cs"/>
              </a:rPr>
              <a:t>En deux heures maximum, les </a:t>
            </a:r>
            <a:r>
              <a:rPr lang="fr-FR" sz="1200" b="1" kern="1200" dirty="0">
                <a:solidFill>
                  <a:schemeClr val="tx1"/>
                </a:solidFill>
                <a:effectLst/>
                <a:latin typeface="+mn-lt"/>
                <a:ea typeface="+mn-ea"/>
                <a:cs typeface="+mn-cs"/>
              </a:rPr>
              <a:t>instances de stockage </a:t>
            </a:r>
            <a:r>
              <a:rPr lang="fr-FR" sz="1200" b="0" kern="1200" dirty="0">
                <a:solidFill>
                  <a:schemeClr val="tx1"/>
                </a:solidFill>
                <a:effectLst/>
                <a:latin typeface="+mn-lt"/>
                <a:ea typeface="+mn-ea"/>
                <a:cs typeface="+mn-cs"/>
              </a:rPr>
              <a:t>compromises sont </a:t>
            </a:r>
            <a:r>
              <a:rPr lang="fr-FR" sz="1200" b="1" kern="1200" dirty="0">
                <a:solidFill>
                  <a:schemeClr val="tx1"/>
                </a:solidFill>
                <a:effectLst/>
                <a:latin typeface="+mn-lt"/>
                <a:ea typeface="+mn-ea"/>
                <a:cs typeface="+mn-cs"/>
              </a:rPr>
              <a:t>isolées du réseau </a:t>
            </a:r>
            <a:r>
              <a:rPr lang="fr-FR" sz="1200" b="0" kern="1200" dirty="0">
                <a:solidFill>
                  <a:schemeClr val="tx1"/>
                </a:solidFill>
                <a:effectLst/>
                <a:latin typeface="+mn-lt"/>
                <a:ea typeface="+mn-ea"/>
                <a:cs typeface="+mn-cs"/>
              </a:rPr>
              <a:t>et les </a:t>
            </a:r>
            <a:r>
              <a:rPr lang="fr-FR" sz="1200" b="1" kern="1200" dirty="0">
                <a:solidFill>
                  <a:schemeClr val="tx1"/>
                </a:solidFill>
                <a:effectLst/>
                <a:latin typeface="+mn-lt"/>
                <a:ea typeface="+mn-ea"/>
                <a:cs typeface="+mn-cs"/>
              </a:rPr>
              <a:t>clés d'API révoquées</a:t>
            </a:r>
            <a:r>
              <a:rPr lang="fr-FR" sz="1200" b="0" kern="1200" dirty="0">
                <a:solidFill>
                  <a:schemeClr val="tx1"/>
                </a:solidFill>
                <a:effectLst/>
                <a:latin typeface="+mn-lt"/>
                <a:ea typeface="+mn-ea"/>
                <a:cs typeface="+mn-cs"/>
              </a:rPr>
              <a:t>. </a:t>
            </a:r>
          </a:p>
          <a:p>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À T0+4h, </a:t>
            </a:r>
            <a:r>
              <a:rPr lang="fr-FR" sz="1200" b="0" kern="1200" dirty="0">
                <a:solidFill>
                  <a:schemeClr val="tx1"/>
                </a:solidFill>
                <a:effectLst/>
                <a:latin typeface="+mn-lt"/>
                <a:ea typeface="+mn-ea"/>
                <a:cs typeface="+mn-cs"/>
              </a:rPr>
              <a:t>nos développeurs déploient </a:t>
            </a:r>
            <a:r>
              <a:rPr lang="fr-FR" sz="1200" b="1" kern="1200" dirty="0">
                <a:solidFill>
                  <a:schemeClr val="tx1"/>
                </a:solidFill>
                <a:effectLst/>
                <a:latin typeface="+mn-lt"/>
                <a:ea typeface="+mn-ea"/>
                <a:cs typeface="+mn-cs"/>
              </a:rPr>
              <a:t>un correctif d'urgence (un </a:t>
            </a:r>
            <a:r>
              <a:rPr lang="fr-FR" sz="1200" b="1" kern="1200" dirty="0" err="1">
                <a:solidFill>
                  <a:schemeClr val="tx1"/>
                </a:solidFill>
                <a:effectLst/>
                <a:latin typeface="+mn-lt"/>
                <a:ea typeface="+mn-ea"/>
                <a:cs typeface="+mn-cs"/>
              </a:rPr>
              <a:t>hotfix</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pour </a:t>
            </a:r>
            <a:r>
              <a:rPr lang="fr-FR" sz="1200" b="1" kern="1200" dirty="0">
                <a:solidFill>
                  <a:schemeClr val="tx1"/>
                </a:solidFill>
                <a:effectLst/>
                <a:latin typeface="+mn-lt"/>
                <a:ea typeface="+mn-ea"/>
                <a:cs typeface="+mn-cs"/>
              </a:rPr>
              <a:t>combler la faille de sécurité</a:t>
            </a:r>
            <a:r>
              <a:rPr lang="fr-FR" sz="1200" b="0" kern="1200" dirty="0">
                <a:solidFill>
                  <a:schemeClr val="tx1"/>
                </a:solidFill>
                <a:effectLst/>
                <a:latin typeface="+mn-lt"/>
                <a:ea typeface="+mn-ea"/>
                <a:cs typeface="+mn-cs"/>
              </a:rPr>
              <a:t>.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À T0+12h, nous </a:t>
            </a:r>
            <a:r>
              <a:rPr lang="fr-FR" sz="1200" b="1" kern="1200" dirty="0">
                <a:solidFill>
                  <a:schemeClr val="tx1"/>
                </a:solidFill>
                <a:effectLst/>
                <a:latin typeface="+mn-lt"/>
                <a:ea typeface="+mn-ea"/>
                <a:cs typeface="+mn-cs"/>
              </a:rPr>
              <a:t>mesurons l'impact exact de l'intrusion. </a:t>
            </a:r>
          </a:p>
          <a:p>
            <a:r>
              <a:rPr lang="fr-FR" sz="1200" b="0" kern="1200" dirty="0">
                <a:solidFill>
                  <a:schemeClr val="tx1"/>
                </a:solidFill>
                <a:effectLst/>
                <a:latin typeface="+mn-lt"/>
                <a:ea typeface="+mn-ea"/>
                <a:cs typeface="+mn-cs"/>
              </a:rPr>
              <a:t>Dans </a:t>
            </a:r>
            <a:r>
              <a:rPr lang="fr-FR" sz="1200" b="1" kern="1200" dirty="0">
                <a:solidFill>
                  <a:schemeClr val="tx1"/>
                </a:solidFill>
                <a:effectLst/>
                <a:latin typeface="+mn-lt"/>
                <a:ea typeface="+mn-ea"/>
                <a:cs typeface="+mn-cs"/>
              </a:rPr>
              <a:t>les 24 heures</a:t>
            </a:r>
            <a:r>
              <a:rPr lang="fr-FR" sz="1200" b="0" kern="1200" dirty="0">
                <a:solidFill>
                  <a:schemeClr val="tx1"/>
                </a:solidFill>
                <a:effectLst/>
                <a:latin typeface="+mn-lt"/>
                <a:ea typeface="+mn-ea"/>
                <a:cs typeface="+mn-cs"/>
              </a:rPr>
              <a:t>, notre DPO notifie officiellement </a:t>
            </a:r>
            <a:r>
              <a:rPr lang="fr-FR" sz="1200" b="1" kern="1200" dirty="0">
                <a:solidFill>
                  <a:schemeClr val="tx1"/>
                </a:solidFill>
                <a:effectLst/>
                <a:latin typeface="+mn-lt"/>
                <a:ea typeface="+mn-ea"/>
                <a:cs typeface="+mn-cs"/>
              </a:rPr>
              <a:t>la violation à la CNIL</a:t>
            </a:r>
            <a:r>
              <a:rPr lang="fr-FR" sz="1200" b="0" kern="1200" dirty="0">
                <a:solidFill>
                  <a:schemeClr val="tx1"/>
                </a:solidFill>
                <a:effectLst/>
                <a:latin typeface="+mn-lt"/>
                <a:ea typeface="+mn-ea"/>
                <a:cs typeface="+mn-cs"/>
              </a:rPr>
              <a:t>, bien </a:t>
            </a:r>
            <a:r>
              <a:rPr lang="fr-FR" sz="1200" b="1" kern="1200" dirty="0">
                <a:solidFill>
                  <a:schemeClr val="tx1"/>
                </a:solidFill>
                <a:effectLst/>
                <a:latin typeface="+mn-lt"/>
                <a:ea typeface="+mn-ea"/>
                <a:cs typeface="+mn-cs"/>
              </a:rPr>
              <a:t>avant le délai légal des 72 heures </a:t>
            </a:r>
            <a:r>
              <a:rPr lang="fr-FR" sz="1200" b="0" kern="1200" dirty="0">
                <a:solidFill>
                  <a:schemeClr val="tx1"/>
                </a:solidFill>
                <a:effectLst/>
                <a:latin typeface="+mn-lt"/>
                <a:ea typeface="+mn-ea"/>
                <a:cs typeface="+mn-cs"/>
              </a:rPr>
              <a:t>imposé par le RGPD.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Enfin, à </a:t>
            </a:r>
            <a:r>
              <a:rPr lang="fr-FR" sz="1200" b="1" kern="1200" dirty="0">
                <a:solidFill>
                  <a:schemeClr val="tx1"/>
                </a:solidFill>
                <a:effectLst/>
                <a:latin typeface="+mn-lt"/>
                <a:ea typeface="+mn-ea"/>
                <a:cs typeface="+mn-cs"/>
              </a:rPr>
              <a:t>T0+48h</a:t>
            </a:r>
            <a:r>
              <a:rPr lang="fr-FR" sz="1200" b="0" kern="1200" dirty="0">
                <a:solidFill>
                  <a:schemeClr val="tx1"/>
                </a:solidFill>
                <a:effectLst/>
                <a:latin typeface="+mn-lt"/>
                <a:ea typeface="+mn-ea"/>
                <a:cs typeface="+mn-cs"/>
              </a:rPr>
              <a:t>, nous envoyons un </a:t>
            </a:r>
            <a:r>
              <a:rPr lang="fr-FR" sz="1200" b="1" kern="1200" dirty="0">
                <a:solidFill>
                  <a:schemeClr val="tx1"/>
                </a:solidFill>
                <a:effectLst/>
                <a:latin typeface="+mn-lt"/>
                <a:ea typeface="+mn-ea"/>
                <a:cs typeface="+mn-cs"/>
              </a:rPr>
              <a:t>mail individuel </a:t>
            </a:r>
            <a:r>
              <a:rPr lang="fr-FR" sz="1200" b="0" kern="1200" dirty="0">
                <a:solidFill>
                  <a:schemeClr val="tx1"/>
                </a:solidFill>
                <a:effectLst/>
                <a:latin typeface="+mn-lt"/>
                <a:ea typeface="+mn-ea"/>
                <a:cs typeface="+mn-cs"/>
              </a:rPr>
              <a:t>et </a:t>
            </a:r>
            <a:r>
              <a:rPr lang="fr-FR" sz="1200" b="1" kern="1200" dirty="0">
                <a:solidFill>
                  <a:schemeClr val="tx1"/>
                </a:solidFill>
                <a:effectLst/>
                <a:latin typeface="+mn-lt"/>
                <a:ea typeface="+mn-ea"/>
                <a:cs typeface="+mn-cs"/>
              </a:rPr>
              <a:t>transparent</a:t>
            </a:r>
            <a:r>
              <a:rPr lang="fr-FR" sz="1200" b="0" kern="1200" dirty="0">
                <a:solidFill>
                  <a:schemeClr val="tx1"/>
                </a:solidFill>
                <a:effectLst/>
                <a:latin typeface="+mn-lt"/>
                <a:ea typeface="+mn-ea"/>
                <a:cs typeface="+mn-cs"/>
              </a:rPr>
              <a:t> à nos abonnés pour les </a:t>
            </a:r>
            <a:r>
              <a:rPr lang="fr-FR" sz="1200" b="1" kern="1200" dirty="0">
                <a:solidFill>
                  <a:schemeClr val="tx1"/>
                </a:solidFill>
                <a:effectLst/>
                <a:latin typeface="+mn-lt"/>
                <a:ea typeface="+mn-ea"/>
                <a:cs typeface="+mn-cs"/>
              </a:rPr>
              <a:t>informer de l'incident</a:t>
            </a:r>
            <a:r>
              <a:rPr lang="fr-FR" sz="1200" b="0" kern="1200" dirty="0">
                <a:solidFill>
                  <a:schemeClr val="tx1"/>
                </a:solidFill>
                <a:effectLst/>
                <a:latin typeface="+mn-lt"/>
                <a:ea typeface="+mn-ea"/>
                <a:cs typeface="+mn-cs"/>
              </a:rPr>
              <a:t>, leur demander de </a:t>
            </a:r>
            <a:r>
              <a:rPr lang="fr-FR" sz="1200" b="1" kern="1200" dirty="0">
                <a:solidFill>
                  <a:schemeClr val="tx1"/>
                </a:solidFill>
                <a:effectLst/>
                <a:latin typeface="+mn-lt"/>
                <a:ea typeface="+mn-ea"/>
                <a:cs typeface="+mn-cs"/>
              </a:rPr>
              <a:t>réinitialiser leur mot de passe </a:t>
            </a:r>
            <a:r>
              <a:rPr lang="fr-FR" sz="1200" b="0" kern="1200" dirty="0">
                <a:solidFill>
                  <a:schemeClr val="tx1"/>
                </a:solidFill>
                <a:effectLst/>
                <a:latin typeface="+mn-lt"/>
                <a:ea typeface="+mn-ea"/>
                <a:cs typeface="+mn-cs"/>
              </a:rPr>
              <a:t>et mettre en place un support client dédié.</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18</a:t>
            </a:fld>
            <a:endParaRPr lang="fr-FR"/>
          </a:p>
        </p:txBody>
      </p:sp>
    </p:spTree>
    <p:extLst>
      <p:ext uri="{BB962C8B-B14F-4D97-AF65-F5344CB8AC3E}">
        <p14:creationId xmlns:p14="http://schemas.microsoft.com/office/powerpoint/2010/main" val="1145494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La </a:t>
            </a:r>
            <a:r>
              <a:rPr lang="fr-FR" sz="1200" b="1" kern="1200" dirty="0">
                <a:solidFill>
                  <a:schemeClr val="tx1"/>
                </a:solidFill>
                <a:effectLst/>
                <a:latin typeface="+mn-lt"/>
                <a:ea typeface="+mn-ea"/>
                <a:cs typeface="+mn-cs"/>
              </a:rPr>
              <a:t>réussite</a:t>
            </a:r>
            <a:r>
              <a:rPr lang="fr-FR" sz="1200" b="0" kern="1200" dirty="0">
                <a:solidFill>
                  <a:schemeClr val="tx1"/>
                </a:solidFill>
                <a:effectLst/>
                <a:latin typeface="+mn-lt"/>
                <a:ea typeface="+mn-ea"/>
                <a:cs typeface="+mn-cs"/>
              </a:rPr>
              <a:t> de ce programme de gouvernance repose sur un </a:t>
            </a:r>
            <a:r>
              <a:rPr lang="fr-FR" sz="1200" b="1" kern="1200" dirty="0">
                <a:solidFill>
                  <a:schemeClr val="tx1"/>
                </a:solidFill>
                <a:effectLst/>
                <a:latin typeface="+mn-lt"/>
                <a:ea typeface="+mn-ea"/>
                <a:cs typeface="+mn-cs"/>
              </a:rPr>
              <a:t>calendrier d'exécution </a:t>
            </a:r>
            <a:r>
              <a:rPr lang="fr-FR" sz="1200" b="0" kern="1200" dirty="0">
                <a:solidFill>
                  <a:schemeClr val="tx1"/>
                </a:solidFill>
                <a:effectLst/>
                <a:latin typeface="+mn-lt"/>
                <a:ea typeface="+mn-ea"/>
                <a:cs typeface="+mn-cs"/>
              </a:rPr>
              <a:t>très </a:t>
            </a:r>
            <a:r>
              <a:rPr lang="fr-FR" sz="1200" b="1" kern="1200" dirty="0">
                <a:solidFill>
                  <a:schemeClr val="tx1"/>
                </a:solidFill>
                <a:effectLst/>
                <a:latin typeface="+mn-lt"/>
                <a:ea typeface="+mn-ea"/>
                <a:cs typeface="+mn-cs"/>
              </a:rPr>
              <a:t>pragmatique</a:t>
            </a:r>
            <a:r>
              <a:rPr lang="fr-FR" sz="1200" b="0" kern="1200" dirty="0">
                <a:solidFill>
                  <a:schemeClr val="tx1"/>
                </a:solidFill>
                <a:effectLst/>
                <a:latin typeface="+mn-lt"/>
                <a:ea typeface="+mn-ea"/>
                <a:cs typeface="+mn-cs"/>
              </a:rPr>
              <a:t> s'étalant sur </a:t>
            </a:r>
            <a:r>
              <a:rPr lang="fr-FR" sz="1200" b="1" kern="1200" dirty="0">
                <a:solidFill>
                  <a:schemeClr val="tx1"/>
                </a:solidFill>
                <a:effectLst/>
                <a:latin typeface="+mn-lt"/>
                <a:ea typeface="+mn-ea"/>
                <a:cs typeface="+mn-cs"/>
              </a:rPr>
              <a:t>18</a:t>
            </a:r>
            <a:r>
              <a:rPr lang="fr-FR" sz="1200" b="0" kern="1200" dirty="0">
                <a:solidFill>
                  <a:schemeClr val="tx1"/>
                </a:solidFill>
                <a:effectLst/>
                <a:latin typeface="+mn-lt"/>
                <a:ea typeface="+mn-ea"/>
                <a:cs typeface="+mn-cs"/>
              </a:rPr>
              <a:t> mois, </a:t>
            </a:r>
          </a:p>
          <a:p>
            <a:r>
              <a:rPr lang="fr-FR" sz="1200" b="0" kern="1200" dirty="0">
                <a:solidFill>
                  <a:schemeClr val="tx1"/>
                </a:solidFill>
                <a:effectLst/>
                <a:latin typeface="+mn-lt"/>
                <a:ea typeface="+mn-ea"/>
                <a:cs typeface="+mn-cs"/>
              </a:rPr>
              <a:t>pensé pour </a:t>
            </a:r>
            <a:r>
              <a:rPr lang="fr-FR" sz="1200" b="1" kern="1200" dirty="0">
                <a:solidFill>
                  <a:schemeClr val="tx1"/>
                </a:solidFill>
                <a:effectLst/>
                <a:latin typeface="+mn-lt"/>
                <a:ea typeface="+mn-ea"/>
                <a:cs typeface="+mn-cs"/>
              </a:rPr>
              <a:t>accompagner le changement </a:t>
            </a:r>
            <a:r>
              <a:rPr lang="fr-FR" sz="1200" b="0" kern="1200" dirty="0">
                <a:solidFill>
                  <a:schemeClr val="tx1"/>
                </a:solidFill>
                <a:effectLst/>
                <a:latin typeface="+mn-lt"/>
                <a:ea typeface="+mn-ea"/>
                <a:cs typeface="+mn-cs"/>
              </a:rPr>
              <a:t>sans surcharger nos équipes techniques agiles.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La première phase de six mois jette </a:t>
            </a:r>
            <a:r>
              <a:rPr lang="fr-FR" sz="1200" b="1" kern="1200" dirty="0">
                <a:solidFill>
                  <a:schemeClr val="tx1"/>
                </a:solidFill>
                <a:effectLst/>
                <a:latin typeface="+mn-lt"/>
                <a:ea typeface="+mn-ea"/>
                <a:cs typeface="+mn-cs"/>
              </a:rPr>
              <a:t>les fondations juridiques et techniques </a:t>
            </a:r>
            <a:r>
              <a:rPr lang="fr-FR" sz="1200" b="0" kern="1200" dirty="0">
                <a:solidFill>
                  <a:schemeClr val="tx1"/>
                </a:solidFill>
                <a:effectLst/>
                <a:latin typeface="+mn-lt"/>
                <a:ea typeface="+mn-ea"/>
                <a:cs typeface="+mn-cs"/>
              </a:rPr>
              <a:t>du </a:t>
            </a:r>
            <a:r>
              <a:rPr lang="fr-FR" sz="1200" b="0" kern="1200" dirty="0" err="1">
                <a:solidFill>
                  <a:schemeClr val="tx1"/>
                </a:solidFill>
                <a:effectLst/>
                <a:latin typeface="+mn-lt"/>
                <a:ea typeface="+mn-ea"/>
                <a:cs typeface="+mn-cs"/>
              </a:rPr>
              <a:t>CoE</a:t>
            </a:r>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et valide nos principes</a:t>
            </a:r>
            <a:r>
              <a:rPr lang="fr-FR" sz="1200" b="0" kern="1200" dirty="0">
                <a:solidFill>
                  <a:schemeClr val="tx1"/>
                </a:solidFill>
                <a:effectLst/>
                <a:latin typeface="+mn-lt"/>
                <a:ea typeface="+mn-ea"/>
                <a:cs typeface="+mn-cs"/>
              </a:rPr>
              <a:t> sur le </a:t>
            </a:r>
            <a:r>
              <a:rPr lang="fr-FR" sz="1200" b="1" kern="1200" dirty="0">
                <a:solidFill>
                  <a:schemeClr val="tx1"/>
                </a:solidFill>
                <a:effectLst/>
                <a:latin typeface="+mn-lt"/>
                <a:ea typeface="+mn-ea"/>
                <a:cs typeface="+mn-cs"/>
              </a:rPr>
              <a:t>projet pilote Marketing </a:t>
            </a:r>
            <a:r>
              <a:rPr lang="fr-FR" sz="1200" b="0" kern="1200" dirty="0">
                <a:solidFill>
                  <a:schemeClr val="tx1"/>
                </a:solidFill>
                <a:effectLst/>
                <a:latin typeface="+mn-lt"/>
                <a:ea typeface="+mn-ea"/>
                <a:cs typeface="+mn-cs"/>
              </a:rPr>
              <a:t>que nous venons d'évoquer.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La deuxième phase, du mois 7 au mois 12, </a:t>
            </a:r>
            <a:r>
              <a:rPr lang="fr-FR" sz="1200" b="1" kern="1200" dirty="0">
                <a:solidFill>
                  <a:schemeClr val="tx1"/>
                </a:solidFill>
                <a:effectLst/>
                <a:latin typeface="+mn-lt"/>
                <a:ea typeface="+mn-ea"/>
                <a:cs typeface="+mn-cs"/>
              </a:rPr>
              <a:t>déploie le cadre aux divisions Finance, Tech et RH, </a:t>
            </a:r>
            <a:r>
              <a:rPr lang="fr-FR" sz="1200" b="0" kern="1200" dirty="0">
                <a:solidFill>
                  <a:schemeClr val="tx1"/>
                </a:solidFill>
                <a:effectLst/>
                <a:latin typeface="+mn-lt"/>
                <a:ea typeface="+mn-ea"/>
                <a:cs typeface="+mn-cs"/>
              </a:rPr>
              <a:t>tout en mettant nos </a:t>
            </a:r>
            <a:r>
              <a:rPr lang="fr-FR" sz="1200" b="1" kern="1200" dirty="0">
                <a:solidFill>
                  <a:schemeClr val="tx1"/>
                </a:solidFill>
                <a:effectLst/>
                <a:latin typeface="+mn-lt"/>
                <a:ea typeface="+mn-ea"/>
                <a:cs typeface="+mn-cs"/>
              </a:rPr>
              <a:t>rapports d'aide à la décision en conformité d'accessibilité RGAA.</a:t>
            </a:r>
            <a:r>
              <a:rPr lang="fr-FR" sz="1200" b="0" kern="1200" dirty="0">
                <a:solidFill>
                  <a:schemeClr val="tx1"/>
                </a:solidFill>
                <a:effectLst/>
                <a:latin typeface="+mn-lt"/>
                <a:ea typeface="+mn-ea"/>
                <a:cs typeface="+mn-cs"/>
              </a:rPr>
              <a:t>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Enfin, la troisième phase de </a:t>
            </a:r>
            <a:r>
              <a:rPr lang="fr-FR" sz="1200" b="1" kern="1200" dirty="0">
                <a:solidFill>
                  <a:schemeClr val="tx1"/>
                </a:solidFill>
                <a:effectLst/>
                <a:latin typeface="+mn-lt"/>
                <a:ea typeface="+mn-ea"/>
                <a:cs typeface="+mn-cs"/>
              </a:rPr>
              <a:t>stabilisation</a:t>
            </a:r>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automatise</a:t>
            </a:r>
            <a:r>
              <a:rPr lang="fr-FR" sz="1200" b="0" kern="1200" dirty="0">
                <a:solidFill>
                  <a:schemeClr val="tx1"/>
                </a:solidFill>
                <a:effectLst/>
                <a:latin typeface="+mn-lt"/>
                <a:ea typeface="+mn-ea"/>
                <a:cs typeface="+mn-cs"/>
              </a:rPr>
              <a:t> notre </a:t>
            </a:r>
            <a:r>
              <a:rPr lang="fr-FR" sz="1200" b="1" kern="1200" dirty="0">
                <a:solidFill>
                  <a:schemeClr val="tx1"/>
                </a:solidFill>
                <a:effectLst/>
                <a:latin typeface="+mn-lt"/>
                <a:ea typeface="+mn-ea"/>
                <a:cs typeface="+mn-cs"/>
              </a:rPr>
              <a:t>traçabilité</a:t>
            </a:r>
            <a:r>
              <a:rPr lang="fr-FR" sz="1200" b="0" kern="1200" dirty="0">
                <a:solidFill>
                  <a:schemeClr val="tx1"/>
                </a:solidFill>
                <a:effectLst/>
                <a:latin typeface="+mn-lt"/>
                <a:ea typeface="+mn-ea"/>
                <a:cs typeface="+mn-cs"/>
              </a:rPr>
              <a:t> de bout en bout, valide notre cyber-résilience via un </a:t>
            </a:r>
            <a:r>
              <a:rPr lang="fr-FR" sz="1200" b="1" kern="1200" dirty="0">
                <a:solidFill>
                  <a:schemeClr val="tx1"/>
                </a:solidFill>
                <a:effectLst/>
                <a:latin typeface="+mn-lt"/>
                <a:ea typeface="+mn-ea"/>
                <a:cs typeface="+mn-cs"/>
              </a:rPr>
              <a:t>audit externe ISO 27001</a:t>
            </a:r>
            <a:r>
              <a:rPr lang="fr-FR" sz="1200" b="0" kern="1200" dirty="0">
                <a:solidFill>
                  <a:schemeClr val="tx1"/>
                </a:solidFill>
                <a:effectLst/>
                <a:latin typeface="+mn-lt"/>
                <a:ea typeface="+mn-ea"/>
                <a:cs typeface="+mn-cs"/>
              </a:rPr>
              <a:t>, et </a:t>
            </a:r>
            <a:r>
              <a:rPr lang="fr-FR" sz="1200" b="1" kern="1200" dirty="0">
                <a:solidFill>
                  <a:schemeClr val="tx1"/>
                </a:solidFill>
                <a:effectLst/>
                <a:latin typeface="+mn-lt"/>
                <a:ea typeface="+mn-ea"/>
                <a:cs typeface="+mn-cs"/>
              </a:rPr>
              <a:t>sécurise</a:t>
            </a:r>
            <a:r>
              <a:rPr lang="fr-FR" sz="1200" b="0" kern="1200" dirty="0">
                <a:solidFill>
                  <a:schemeClr val="tx1"/>
                </a:solidFill>
                <a:effectLst/>
                <a:latin typeface="+mn-lt"/>
                <a:ea typeface="+mn-ea"/>
                <a:cs typeface="+mn-cs"/>
              </a:rPr>
              <a:t> notre passage définitif au niveau </a:t>
            </a:r>
            <a:r>
              <a:rPr lang="fr-FR" sz="1200" b="1" kern="1200" dirty="0" err="1">
                <a:solidFill>
                  <a:schemeClr val="tx1"/>
                </a:solidFill>
                <a:effectLst/>
                <a:latin typeface="+mn-lt"/>
                <a:ea typeface="+mn-ea"/>
                <a:cs typeface="+mn-cs"/>
              </a:rPr>
              <a:t>Managed</a:t>
            </a:r>
            <a:r>
              <a:rPr lang="fr-FR" sz="1200" b="1" kern="1200" dirty="0">
                <a:solidFill>
                  <a:schemeClr val="tx1"/>
                </a:solidFill>
                <a:effectLst/>
                <a:latin typeface="+mn-lt"/>
                <a:ea typeface="+mn-ea"/>
                <a:cs typeface="+mn-cs"/>
              </a:rPr>
              <a:t> de Gartner.</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19</a:t>
            </a:fld>
            <a:endParaRPr lang="fr-FR"/>
          </a:p>
        </p:txBody>
      </p:sp>
    </p:spTree>
    <p:extLst>
      <p:ext uri="{BB962C8B-B14F-4D97-AF65-F5344CB8AC3E}">
        <p14:creationId xmlns:p14="http://schemas.microsoft.com/office/powerpoint/2010/main" val="3385997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kern="1200" dirty="0">
                <a:solidFill>
                  <a:schemeClr val="tx1"/>
                </a:solidFill>
                <a:effectLst/>
                <a:latin typeface="+mn-lt"/>
                <a:ea typeface="+mn-ea"/>
                <a:cs typeface="+mn-cs"/>
              </a:rPr>
              <a:t>Une gouvernance réaliste </a:t>
            </a:r>
            <a:r>
              <a:rPr lang="fr-FR" sz="1200" b="0" kern="1200" dirty="0">
                <a:solidFill>
                  <a:schemeClr val="tx1"/>
                </a:solidFill>
                <a:effectLst/>
                <a:latin typeface="+mn-lt"/>
                <a:ea typeface="+mn-ea"/>
                <a:cs typeface="+mn-cs"/>
              </a:rPr>
              <a:t>doit s'accompagner d'une </a:t>
            </a:r>
            <a:r>
              <a:rPr lang="fr-FR" sz="1200" b="1" kern="1200" dirty="0">
                <a:solidFill>
                  <a:schemeClr val="tx1"/>
                </a:solidFill>
                <a:effectLst/>
                <a:latin typeface="+mn-lt"/>
                <a:ea typeface="+mn-ea"/>
                <a:cs typeface="+mn-cs"/>
              </a:rPr>
              <a:t>cartographie lucide </a:t>
            </a:r>
            <a:r>
              <a:rPr lang="fr-FR" sz="1200" b="0" kern="1200" dirty="0">
                <a:solidFill>
                  <a:schemeClr val="tx1"/>
                </a:solidFill>
                <a:effectLst/>
                <a:latin typeface="+mn-lt"/>
                <a:ea typeface="+mn-ea"/>
                <a:cs typeface="+mn-cs"/>
              </a:rPr>
              <a:t>de ses risques opérationnels. </a:t>
            </a:r>
          </a:p>
          <a:p>
            <a:r>
              <a:rPr lang="fr-FR" sz="1200" b="0" kern="1200" dirty="0">
                <a:solidFill>
                  <a:schemeClr val="tx1"/>
                </a:solidFill>
                <a:effectLst/>
                <a:latin typeface="+mn-lt"/>
                <a:ea typeface="+mn-ea"/>
                <a:cs typeface="+mn-cs"/>
              </a:rPr>
              <a:t>Soyons clairs : notre plus </a:t>
            </a:r>
            <a:r>
              <a:rPr lang="fr-FR" sz="1200" b="1" kern="1200" dirty="0">
                <a:solidFill>
                  <a:schemeClr val="tx1"/>
                </a:solidFill>
                <a:effectLst/>
                <a:latin typeface="+mn-lt"/>
                <a:ea typeface="+mn-ea"/>
                <a:cs typeface="+mn-cs"/>
              </a:rPr>
              <a:t>gros risque</a:t>
            </a:r>
            <a:r>
              <a:rPr lang="fr-FR" sz="1200" b="0" kern="1200" dirty="0">
                <a:solidFill>
                  <a:schemeClr val="tx1"/>
                </a:solidFill>
                <a:effectLst/>
                <a:latin typeface="+mn-lt"/>
                <a:ea typeface="+mn-ea"/>
                <a:cs typeface="+mn-cs"/>
              </a:rPr>
              <a:t>, c'est le risque </a:t>
            </a:r>
            <a:r>
              <a:rPr lang="fr-FR" sz="1200" b="1" kern="1200" dirty="0">
                <a:solidFill>
                  <a:schemeClr val="tx1"/>
                </a:solidFill>
                <a:effectLst/>
                <a:latin typeface="+mn-lt"/>
                <a:ea typeface="+mn-ea"/>
                <a:cs typeface="+mn-cs"/>
              </a:rPr>
              <a:t>culturel</a:t>
            </a:r>
            <a:r>
              <a:rPr lang="fr-FR" sz="1200" b="0" kern="1200" dirty="0">
                <a:solidFill>
                  <a:schemeClr val="tx1"/>
                </a:solidFill>
                <a:effectLst/>
                <a:latin typeface="+mn-lt"/>
                <a:ea typeface="+mn-ea"/>
                <a:cs typeface="+mn-cs"/>
              </a:rPr>
              <a:t>, mis en évidence dans notre première carte rouge.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Si nos </a:t>
            </a:r>
            <a:r>
              <a:rPr lang="fr-FR" sz="1200" b="1" kern="1200" dirty="0">
                <a:solidFill>
                  <a:schemeClr val="tx1"/>
                </a:solidFill>
                <a:effectLst/>
                <a:latin typeface="+mn-lt"/>
                <a:ea typeface="+mn-ea"/>
                <a:cs typeface="+mn-cs"/>
              </a:rPr>
              <a:t>développeurs</a:t>
            </a:r>
            <a:r>
              <a:rPr lang="fr-FR" sz="1200" b="0" kern="1200" dirty="0">
                <a:solidFill>
                  <a:schemeClr val="tx1"/>
                </a:solidFill>
                <a:effectLst/>
                <a:latin typeface="+mn-lt"/>
                <a:ea typeface="+mn-ea"/>
                <a:cs typeface="+mn-cs"/>
              </a:rPr>
              <a:t> agiles perçoivent la gouvernance comme une </a:t>
            </a:r>
            <a:r>
              <a:rPr lang="fr-FR" sz="1200" b="1" kern="1200" dirty="0">
                <a:solidFill>
                  <a:schemeClr val="tx1"/>
                </a:solidFill>
                <a:effectLst/>
                <a:latin typeface="+mn-lt"/>
                <a:ea typeface="+mn-ea"/>
                <a:cs typeface="+mn-cs"/>
              </a:rPr>
              <a:t>contrainte administrative lourde</a:t>
            </a:r>
            <a:r>
              <a:rPr lang="fr-FR" sz="1200" b="0" kern="1200" dirty="0">
                <a:solidFill>
                  <a:schemeClr val="tx1"/>
                </a:solidFill>
                <a:effectLst/>
                <a:latin typeface="+mn-lt"/>
                <a:ea typeface="+mn-ea"/>
                <a:cs typeface="+mn-cs"/>
              </a:rPr>
              <a:t>, ils vont la </a:t>
            </a:r>
            <a:r>
              <a:rPr lang="fr-FR" sz="1200" b="1" kern="1200" dirty="0">
                <a:solidFill>
                  <a:schemeClr val="tx1"/>
                </a:solidFill>
                <a:effectLst/>
                <a:latin typeface="+mn-lt"/>
                <a:ea typeface="+mn-ea"/>
                <a:cs typeface="+mn-cs"/>
              </a:rPr>
              <a:t>contourner</a:t>
            </a:r>
            <a:r>
              <a:rPr lang="fr-FR" sz="1200" b="0" kern="1200" dirty="0">
                <a:solidFill>
                  <a:schemeClr val="tx1"/>
                </a:solidFill>
                <a:effectLst/>
                <a:latin typeface="+mn-lt"/>
                <a:ea typeface="+mn-ea"/>
                <a:cs typeface="+mn-cs"/>
              </a:rPr>
              <a:t> systématiquement.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Pour mitiger cela, notre réponse est </a:t>
            </a:r>
            <a:r>
              <a:rPr lang="fr-FR" sz="1200" b="1" kern="1200" dirty="0">
                <a:solidFill>
                  <a:schemeClr val="tx1"/>
                </a:solidFill>
                <a:effectLst/>
                <a:latin typeface="+mn-lt"/>
                <a:ea typeface="+mn-ea"/>
                <a:cs typeface="+mn-cs"/>
              </a:rPr>
              <a:t>l'intégration flui</a:t>
            </a:r>
            <a:r>
              <a:rPr lang="fr-FR" sz="1200" b="0" kern="1200" dirty="0">
                <a:solidFill>
                  <a:schemeClr val="tx1"/>
                </a:solidFill>
                <a:effectLst/>
                <a:latin typeface="+mn-lt"/>
                <a:ea typeface="+mn-ea"/>
                <a:cs typeface="+mn-cs"/>
              </a:rPr>
              <a:t>de de la </a:t>
            </a:r>
            <a:r>
              <a:rPr lang="fr-FR" sz="1200" b="1" kern="1200" dirty="0">
                <a:solidFill>
                  <a:schemeClr val="tx1"/>
                </a:solidFill>
                <a:effectLst/>
                <a:latin typeface="+mn-lt"/>
                <a:ea typeface="+mn-ea"/>
                <a:cs typeface="+mn-cs"/>
              </a:rPr>
              <a:t>gouvernance</a:t>
            </a:r>
            <a:r>
              <a:rPr lang="fr-FR" sz="1200" b="0" kern="1200" dirty="0">
                <a:solidFill>
                  <a:schemeClr val="tx1"/>
                </a:solidFill>
                <a:effectLst/>
                <a:latin typeface="+mn-lt"/>
                <a:ea typeface="+mn-ea"/>
                <a:cs typeface="+mn-cs"/>
              </a:rPr>
              <a:t> dans leurs outils quotidiens. Nos </a:t>
            </a:r>
            <a:r>
              <a:rPr lang="fr-FR" sz="1200" b="1" kern="1200" dirty="0" err="1">
                <a:solidFill>
                  <a:schemeClr val="tx1"/>
                </a:solidFill>
                <a:effectLst/>
                <a:latin typeface="+mn-lt"/>
                <a:ea typeface="+mn-ea"/>
                <a:cs typeface="+mn-cs"/>
              </a:rPr>
              <a:t>templates</a:t>
            </a:r>
            <a:r>
              <a:rPr lang="fr-FR" sz="1200" b="1" kern="1200" dirty="0">
                <a:solidFill>
                  <a:schemeClr val="tx1"/>
                </a:solidFill>
                <a:effectLst/>
                <a:latin typeface="+mn-lt"/>
                <a:ea typeface="+mn-ea"/>
                <a:cs typeface="+mn-cs"/>
              </a:rPr>
              <a:t> Golden </a:t>
            </a:r>
            <a:r>
              <a:rPr lang="fr-FR" sz="1200" b="1" kern="1200" dirty="0" err="1">
                <a:solidFill>
                  <a:schemeClr val="tx1"/>
                </a:solidFill>
                <a:effectLst/>
                <a:latin typeface="+mn-lt"/>
                <a:ea typeface="+mn-ea"/>
                <a:cs typeface="+mn-cs"/>
              </a:rPr>
              <a:t>Paths</a:t>
            </a:r>
            <a:r>
              <a:rPr lang="fr-FR" sz="1200" b="1" kern="1200" dirty="0">
                <a:solidFill>
                  <a:schemeClr val="tx1"/>
                </a:solidFill>
                <a:effectLst/>
                <a:latin typeface="+mn-lt"/>
                <a:ea typeface="+mn-ea"/>
                <a:cs typeface="+mn-cs"/>
              </a:rPr>
              <a:t> </a:t>
            </a:r>
            <a:r>
              <a:rPr lang="fr-FR" sz="1200" b="0" kern="1200" dirty="0">
                <a:solidFill>
                  <a:schemeClr val="tx1"/>
                </a:solidFill>
                <a:effectLst/>
                <a:latin typeface="+mn-lt"/>
                <a:ea typeface="+mn-ea"/>
                <a:cs typeface="+mn-cs"/>
              </a:rPr>
              <a:t>et le catalogue </a:t>
            </a:r>
            <a:r>
              <a:rPr lang="fr-FR" sz="1200" b="1" kern="1200" dirty="0">
                <a:solidFill>
                  <a:schemeClr val="tx1"/>
                </a:solidFill>
                <a:effectLst/>
                <a:latin typeface="+mn-lt"/>
                <a:ea typeface="+mn-ea"/>
                <a:cs typeface="+mn-cs"/>
              </a:rPr>
              <a:t>Backstage</a:t>
            </a:r>
            <a:r>
              <a:rPr lang="fr-FR" sz="1200" b="0" kern="1200" dirty="0">
                <a:solidFill>
                  <a:schemeClr val="tx1"/>
                </a:solidFill>
                <a:effectLst/>
                <a:latin typeface="+mn-lt"/>
                <a:ea typeface="+mn-ea"/>
                <a:cs typeface="+mn-cs"/>
              </a:rPr>
              <a:t> leur font gagner du temps de développement plutôt que de leur en faire perdre. </a:t>
            </a:r>
          </a:p>
          <a:p>
            <a:r>
              <a:rPr lang="fr-FR" sz="1200" b="0" kern="1200" dirty="0">
                <a:solidFill>
                  <a:schemeClr val="tx1"/>
                </a:solidFill>
                <a:effectLst/>
                <a:latin typeface="+mn-lt"/>
                <a:ea typeface="+mn-ea"/>
                <a:cs typeface="+mn-cs"/>
              </a:rPr>
              <a:t>Les </a:t>
            </a:r>
            <a:r>
              <a:rPr lang="fr-FR" sz="1200" b="1" kern="1200" dirty="0">
                <a:solidFill>
                  <a:schemeClr val="tx1"/>
                </a:solidFill>
                <a:effectLst/>
                <a:latin typeface="+mn-lt"/>
                <a:ea typeface="+mn-ea"/>
                <a:cs typeface="+mn-cs"/>
              </a:rPr>
              <a:t>risques</a:t>
            </a:r>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d'intégration technique</a:t>
            </a:r>
            <a:r>
              <a:rPr lang="fr-FR" sz="1200" b="0" kern="1200" dirty="0">
                <a:solidFill>
                  <a:schemeClr val="tx1"/>
                </a:solidFill>
                <a:effectLst/>
                <a:latin typeface="+mn-lt"/>
                <a:ea typeface="+mn-ea"/>
                <a:cs typeface="+mn-cs"/>
              </a:rPr>
              <a:t>, de </a:t>
            </a:r>
            <a:r>
              <a:rPr lang="fr-FR" sz="1200" b="1" kern="1200" dirty="0">
                <a:solidFill>
                  <a:schemeClr val="tx1"/>
                </a:solidFill>
                <a:effectLst/>
                <a:latin typeface="+mn-lt"/>
                <a:ea typeface="+mn-ea"/>
                <a:cs typeface="+mn-cs"/>
              </a:rPr>
              <a:t>manque de compétences </a:t>
            </a:r>
            <a:r>
              <a:rPr lang="fr-FR" sz="1200" b="0" kern="1200" dirty="0">
                <a:solidFill>
                  <a:schemeClr val="tx1"/>
                </a:solidFill>
                <a:effectLst/>
                <a:latin typeface="+mn-lt"/>
                <a:ea typeface="+mn-ea"/>
                <a:cs typeface="+mn-cs"/>
              </a:rPr>
              <a:t>ou </a:t>
            </a:r>
            <a:r>
              <a:rPr lang="fr-FR" sz="1200" b="1" kern="1200" dirty="0">
                <a:solidFill>
                  <a:schemeClr val="tx1"/>
                </a:solidFill>
                <a:effectLst/>
                <a:latin typeface="+mn-lt"/>
                <a:ea typeface="+mn-ea"/>
                <a:cs typeface="+mn-cs"/>
              </a:rPr>
              <a:t>d'évolutions législatives </a:t>
            </a:r>
            <a:r>
              <a:rPr lang="fr-FR" sz="1200" b="0" kern="1200" dirty="0">
                <a:solidFill>
                  <a:schemeClr val="tx1"/>
                </a:solidFill>
                <a:effectLst/>
                <a:latin typeface="+mn-lt"/>
                <a:ea typeface="+mn-ea"/>
                <a:cs typeface="+mn-cs"/>
              </a:rPr>
              <a:t>rapides sont quant à eux couverts par des POC réguliers, de la formation interne et la veille de notre DPO.</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20</a:t>
            </a:fld>
            <a:endParaRPr lang="fr-FR"/>
          </a:p>
        </p:txBody>
      </p:sp>
    </p:spTree>
    <p:extLst>
      <p:ext uri="{BB962C8B-B14F-4D97-AF65-F5344CB8AC3E}">
        <p14:creationId xmlns:p14="http://schemas.microsoft.com/office/powerpoint/2010/main" val="20995995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pour conclure, je souhaite réaffirmer que la </a:t>
            </a:r>
            <a:r>
              <a:rPr lang="fr-FR" sz="1200" b="1" kern="1200" dirty="0">
                <a:solidFill>
                  <a:schemeClr val="tx1"/>
                </a:solidFill>
                <a:effectLst/>
                <a:latin typeface="+mn-lt"/>
                <a:ea typeface="+mn-ea"/>
                <a:cs typeface="+mn-cs"/>
              </a:rPr>
              <a:t>gouvernance des données </a:t>
            </a:r>
            <a:r>
              <a:rPr lang="fr-FR" sz="1200" b="0" kern="1200" dirty="0">
                <a:solidFill>
                  <a:schemeClr val="tx1"/>
                </a:solidFill>
                <a:effectLst/>
                <a:latin typeface="+mn-lt"/>
                <a:ea typeface="+mn-ea"/>
                <a:cs typeface="+mn-cs"/>
              </a:rPr>
              <a:t>n'est pas </a:t>
            </a:r>
            <a:r>
              <a:rPr lang="fr-FR" sz="1200" b="1" kern="1200" dirty="0">
                <a:solidFill>
                  <a:schemeClr val="tx1"/>
                </a:solidFill>
                <a:effectLst/>
                <a:latin typeface="+mn-lt"/>
                <a:ea typeface="+mn-ea"/>
                <a:cs typeface="+mn-cs"/>
              </a:rPr>
              <a:t>un centre de coût</a:t>
            </a:r>
            <a:r>
              <a:rPr lang="fr-FR" sz="1200" b="0" kern="1200" dirty="0">
                <a:solidFill>
                  <a:schemeClr val="tx1"/>
                </a:solidFill>
                <a:effectLst/>
                <a:latin typeface="+mn-lt"/>
                <a:ea typeface="+mn-ea"/>
                <a:cs typeface="+mn-cs"/>
              </a:rPr>
              <a:t>, c'est un </a:t>
            </a:r>
            <a:r>
              <a:rPr lang="fr-FR" sz="1200" b="1" kern="1200" dirty="0">
                <a:solidFill>
                  <a:schemeClr val="tx1"/>
                </a:solidFill>
                <a:effectLst/>
                <a:latin typeface="+mn-lt"/>
                <a:ea typeface="+mn-ea"/>
                <a:cs typeface="+mn-cs"/>
              </a:rPr>
              <a:t>investissement stratégique </a:t>
            </a:r>
            <a:r>
              <a:rPr lang="fr-FR" sz="1200" b="0" kern="1200" dirty="0">
                <a:solidFill>
                  <a:schemeClr val="tx1"/>
                </a:solidFill>
                <a:effectLst/>
                <a:latin typeface="+mn-lt"/>
                <a:ea typeface="+mn-ea"/>
                <a:cs typeface="+mn-cs"/>
              </a:rPr>
              <a:t>et </a:t>
            </a:r>
            <a:r>
              <a:rPr lang="fr-FR" sz="1200" b="1" kern="1200" dirty="0">
                <a:solidFill>
                  <a:schemeClr val="tx1"/>
                </a:solidFill>
                <a:effectLst/>
                <a:latin typeface="+mn-lt"/>
                <a:ea typeface="+mn-ea"/>
                <a:cs typeface="+mn-cs"/>
              </a:rPr>
              <a:t>financier</a:t>
            </a:r>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structurant</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En appliquant les principes de </a:t>
            </a:r>
            <a:r>
              <a:rPr lang="fr-FR" sz="1200" b="1" kern="1200" dirty="0">
                <a:solidFill>
                  <a:schemeClr val="tx1"/>
                </a:solidFill>
                <a:effectLst/>
                <a:latin typeface="+mn-lt"/>
                <a:ea typeface="+mn-ea"/>
                <a:cs typeface="+mn-cs"/>
              </a:rPr>
              <a:t>l'</a:t>
            </a:r>
            <a:r>
              <a:rPr lang="fr-FR" sz="1200" b="1" kern="1200" dirty="0" err="1">
                <a:solidFill>
                  <a:schemeClr val="tx1"/>
                </a:solidFill>
                <a:effectLst/>
                <a:latin typeface="+mn-lt"/>
                <a:ea typeface="+mn-ea"/>
                <a:cs typeface="+mn-cs"/>
              </a:rPr>
              <a:t>Infonomics</a:t>
            </a:r>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de Douglas Laney</a:t>
            </a:r>
            <a:r>
              <a:rPr lang="fr-FR" sz="1200" b="0" kern="1200" dirty="0">
                <a:solidFill>
                  <a:schemeClr val="tx1"/>
                </a:solidFill>
                <a:effectLst/>
                <a:latin typeface="+mn-lt"/>
                <a:ea typeface="+mn-ea"/>
                <a:cs typeface="+mn-cs"/>
              </a:rPr>
              <a:t>, nous démontrons </a:t>
            </a:r>
            <a:r>
              <a:rPr lang="fr-FR" sz="1200" b="1" kern="1200" dirty="0">
                <a:solidFill>
                  <a:schemeClr val="tx1"/>
                </a:solidFill>
                <a:effectLst/>
                <a:latin typeface="+mn-lt"/>
                <a:ea typeface="+mn-ea"/>
                <a:cs typeface="+mn-cs"/>
              </a:rPr>
              <a:t>des gains financiers directs </a:t>
            </a:r>
            <a:r>
              <a:rPr lang="fr-FR" sz="1200" b="0" kern="1200" dirty="0">
                <a:solidFill>
                  <a:schemeClr val="tx1"/>
                </a:solidFill>
                <a:effectLst/>
                <a:latin typeface="+mn-lt"/>
                <a:ea typeface="+mn-ea"/>
                <a:cs typeface="+mn-cs"/>
              </a:rPr>
              <a:t>: une baisse de </a:t>
            </a:r>
            <a:r>
              <a:rPr lang="fr-FR" sz="1200" b="1" kern="1200" dirty="0">
                <a:solidFill>
                  <a:schemeClr val="tx1"/>
                </a:solidFill>
                <a:effectLst/>
                <a:latin typeface="+mn-lt"/>
                <a:ea typeface="+mn-ea"/>
                <a:cs typeface="+mn-cs"/>
              </a:rPr>
              <a:t>15 % de nos dépenses d'acquisition </a:t>
            </a:r>
            <a:r>
              <a:rPr lang="fr-FR" sz="1200" b="0" kern="1200" dirty="0">
                <a:solidFill>
                  <a:schemeClr val="tx1"/>
                </a:solidFill>
                <a:effectLst/>
                <a:latin typeface="+mn-lt"/>
                <a:ea typeface="+mn-ea"/>
                <a:cs typeface="+mn-cs"/>
              </a:rPr>
              <a:t>publicitaire en </a:t>
            </a:r>
            <a:r>
              <a:rPr lang="fr-FR" sz="1200" b="1" kern="1200" dirty="0">
                <a:solidFill>
                  <a:schemeClr val="tx1"/>
                </a:solidFill>
                <a:effectLst/>
                <a:latin typeface="+mn-lt"/>
                <a:ea typeface="+mn-ea"/>
                <a:cs typeface="+mn-cs"/>
              </a:rPr>
              <a:t>éliminant les doublons </a:t>
            </a:r>
            <a:r>
              <a:rPr lang="fr-FR" sz="1200" b="0" kern="1200" dirty="0">
                <a:solidFill>
                  <a:schemeClr val="tx1"/>
                </a:solidFill>
                <a:effectLst/>
                <a:latin typeface="+mn-lt"/>
                <a:ea typeface="+mn-ea"/>
                <a:cs typeface="+mn-cs"/>
              </a:rPr>
              <a:t>de prospects, </a:t>
            </a:r>
          </a:p>
          <a:p>
            <a:r>
              <a:rPr lang="fr-FR" sz="1200" b="0" kern="1200" dirty="0">
                <a:solidFill>
                  <a:schemeClr val="tx1"/>
                </a:solidFill>
                <a:effectLst/>
                <a:latin typeface="+mn-lt"/>
                <a:ea typeface="+mn-ea"/>
                <a:cs typeface="+mn-cs"/>
              </a:rPr>
              <a:t>et une hausse de </a:t>
            </a:r>
            <a:r>
              <a:rPr lang="fr-FR" sz="1200" b="1" kern="1200" dirty="0">
                <a:solidFill>
                  <a:schemeClr val="tx1"/>
                </a:solidFill>
                <a:effectLst/>
                <a:latin typeface="+mn-lt"/>
                <a:ea typeface="+mn-ea"/>
                <a:cs typeface="+mn-cs"/>
              </a:rPr>
              <a:t>productivité de 25 %</a:t>
            </a:r>
            <a:r>
              <a:rPr lang="fr-FR" sz="1200" b="0" kern="1200" dirty="0">
                <a:solidFill>
                  <a:schemeClr val="tx1"/>
                </a:solidFill>
                <a:effectLst/>
                <a:latin typeface="+mn-lt"/>
                <a:ea typeface="+mn-ea"/>
                <a:cs typeface="+mn-cs"/>
              </a:rPr>
              <a:t> de nos </a:t>
            </a:r>
            <a:r>
              <a:rPr lang="fr-FR" sz="1200" b="1" kern="1200" dirty="0">
                <a:solidFill>
                  <a:schemeClr val="tx1"/>
                </a:solidFill>
                <a:effectLst/>
                <a:latin typeface="+mn-lt"/>
                <a:ea typeface="+mn-ea"/>
                <a:cs typeface="+mn-cs"/>
              </a:rPr>
              <a:t>scientifiques de données</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En couplant cette </a:t>
            </a: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performance économique </a:t>
            </a:r>
            <a:r>
              <a:rPr lang="fr-FR" sz="1200" b="0" kern="1200" dirty="0">
                <a:solidFill>
                  <a:schemeClr val="tx1"/>
                </a:solidFill>
                <a:effectLst/>
                <a:latin typeface="+mn-lt"/>
                <a:ea typeface="+mn-ea"/>
                <a:cs typeface="+mn-cs"/>
              </a:rPr>
              <a:t>à une </a:t>
            </a:r>
            <a:r>
              <a:rPr lang="fr-FR" sz="1200" b="1" kern="1200" dirty="0">
                <a:solidFill>
                  <a:schemeClr val="tx1"/>
                </a:solidFill>
                <a:effectLst/>
                <a:latin typeface="+mn-lt"/>
                <a:ea typeface="+mn-ea"/>
                <a:cs typeface="+mn-cs"/>
              </a:rPr>
              <a:t>conformité automatisée</a:t>
            </a:r>
            <a:r>
              <a:rPr lang="fr-FR" sz="1200" b="0" kern="1200" dirty="0">
                <a:solidFill>
                  <a:schemeClr val="tx1"/>
                </a:solidFill>
                <a:effectLst/>
                <a:latin typeface="+mn-lt"/>
                <a:ea typeface="+mn-ea"/>
                <a:cs typeface="+mn-cs"/>
              </a:rPr>
              <a:t>, </a:t>
            </a:r>
          </a:p>
          <a:p>
            <a:r>
              <a:rPr lang="fr-FR" sz="1200" b="0" kern="1200" dirty="0">
                <a:solidFill>
                  <a:schemeClr val="tx1"/>
                </a:solidFill>
                <a:effectLst/>
                <a:latin typeface="+mn-lt"/>
                <a:ea typeface="+mn-ea"/>
                <a:cs typeface="+mn-cs"/>
              </a:rPr>
              <a:t>	une </a:t>
            </a:r>
            <a:r>
              <a:rPr lang="fr-FR" sz="1200" b="1" kern="1200" dirty="0">
                <a:solidFill>
                  <a:schemeClr val="tx1"/>
                </a:solidFill>
                <a:effectLst/>
                <a:latin typeface="+mn-lt"/>
                <a:ea typeface="+mn-ea"/>
                <a:cs typeface="+mn-cs"/>
              </a:rPr>
              <a:t>démarche d'inclusion RGAA </a:t>
            </a:r>
            <a:r>
              <a:rPr lang="fr-FR" sz="1200" b="0" kern="1200" dirty="0">
                <a:solidFill>
                  <a:schemeClr val="tx1"/>
                </a:solidFill>
                <a:effectLst/>
                <a:latin typeface="+mn-lt"/>
                <a:ea typeface="+mn-ea"/>
                <a:cs typeface="+mn-cs"/>
              </a:rPr>
              <a:t>pour nos collaborateurs </a:t>
            </a:r>
          </a:p>
          <a:p>
            <a:r>
              <a:rPr lang="fr-FR" sz="1200" b="0" kern="1200" dirty="0">
                <a:solidFill>
                  <a:schemeClr val="tx1"/>
                </a:solidFill>
                <a:effectLst/>
                <a:latin typeface="+mn-lt"/>
                <a:ea typeface="+mn-ea"/>
                <a:cs typeface="+mn-cs"/>
              </a:rPr>
              <a:t>	et une </a:t>
            </a:r>
            <a:r>
              <a:rPr lang="fr-FR" sz="1200" b="1" kern="1200" dirty="0">
                <a:solidFill>
                  <a:schemeClr val="tx1"/>
                </a:solidFill>
                <a:effectLst/>
                <a:latin typeface="+mn-lt"/>
                <a:ea typeface="+mn-ea"/>
                <a:cs typeface="+mn-cs"/>
              </a:rPr>
              <a:t>cyber-résilience éprouvée </a:t>
            </a:r>
            <a:r>
              <a:rPr lang="fr-FR" sz="1200" b="0" kern="1200" dirty="0">
                <a:solidFill>
                  <a:schemeClr val="tx1"/>
                </a:solidFill>
                <a:effectLst/>
                <a:latin typeface="+mn-lt"/>
                <a:ea typeface="+mn-ea"/>
                <a:cs typeface="+mn-cs"/>
              </a:rPr>
              <a:t>face aux </a:t>
            </a:r>
            <a:r>
              <a:rPr lang="fr-FR" sz="1200" b="1" kern="1200" dirty="0">
                <a:solidFill>
                  <a:schemeClr val="tx1"/>
                </a:solidFill>
                <a:effectLst/>
                <a:latin typeface="+mn-lt"/>
                <a:ea typeface="+mn-ea"/>
                <a:cs typeface="+mn-cs"/>
              </a:rPr>
              <a:t>crises</a:t>
            </a:r>
            <a:r>
              <a:rPr lang="fr-FR" sz="1200" b="0" kern="1200" dirty="0">
                <a:solidFill>
                  <a:schemeClr val="tx1"/>
                </a:solidFill>
                <a:effectLst/>
                <a:latin typeface="+mn-lt"/>
                <a:ea typeface="+mn-ea"/>
                <a:cs typeface="+mn-cs"/>
              </a:rPr>
              <a:t> majeures, </a:t>
            </a:r>
          </a:p>
          <a:p>
            <a:r>
              <a:rPr lang="fr-FR" sz="1200" b="0" kern="1200" dirty="0">
                <a:solidFill>
                  <a:schemeClr val="tx1"/>
                </a:solidFill>
                <a:effectLst/>
                <a:latin typeface="+mn-lt"/>
                <a:ea typeface="+mn-ea"/>
                <a:cs typeface="+mn-cs"/>
              </a:rPr>
              <a:t>ce programme </a:t>
            </a:r>
            <a:r>
              <a:rPr lang="fr-FR" sz="1200" b="1" kern="1200" dirty="0">
                <a:solidFill>
                  <a:schemeClr val="tx1"/>
                </a:solidFill>
                <a:effectLst/>
                <a:latin typeface="+mn-lt"/>
                <a:ea typeface="+mn-ea"/>
                <a:cs typeface="+mn-cs"/>
              </a:rPr>
              <a:t>jette le socle </a:t>
            </a:r>
            <a:r>
              <a:rPr lang="fr-FR" sz="1200" b="0" kern="1200" dirty="0">
                <a:solidFill>
                  <a:schemeClr val="tx1"/>
                </a:solidFill>
                <a:effectLst/>
                <a:latin typeface="+mn-lt"/>
                <a:ea typeface="+mn-ea"/>
                <a:cs typeface="+mn-cs"/>
              </a:rPr>
              <a:t>d'une </a:t>
            </a:r>
            <a:r>
              <a:rPr lang="fr-FR" sz="1200" b="1" kern="1200" dirty="0">
                <a:solidFill>
                  <a:schemeClr val="tx1"/>
                </a:solidFill>
                <a:effectLst/>
                <a:latin typeface="+mn-lt"/>
                <a:ea typeface="+mn-ea"/>
                <a:cs typeface="+mn-cs"/>
              </a:rPr>
              <a:t>IA de recommandation sûre, éthique et </a:t>
            </a:r>
            <a:r>
              <a:rPr lang="fr-FR" sz="1200" b="0" kern="1200" dirty="0">
                <a:solidFill>
                  <a:schemeClr val="tx1"/>
                </a:solidFill>
                <a:effectLst/>
                <a:latin typeface="+mn-lt"/>
                <a:ea typeface="+mn-ea"/>
                <a:cs typeface="+mn-cs"/>
              </a:rPr>
              <a:t>durable pour Spotify. </a:t>
            </a:r>
          </a:p>
          <a:p>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Je vous remercie pour votre attention et me tiens désormais à votre entière disposition pour répondre à vos questions.</a:t>
            </a:r>
          </a:p>
          <a:p>
            <a:endParaRPr lang="fr-FR" dirty="0"/>
          </a:p>
        </p:txBody>
      </p:sp>
      <p:sp>
        <p:nvSpPr>
          <p:cNvPr id="4" name="Espace réservé du numéro de diapositive 3"/>
          <p:cNvSpPr>
            <a:spLocks noGrp="1"/>
          </p:cNvSpPr>
          <p:nvPr>
            <p:ph type="sldNum" sz="quarter" idx="5"/>
          </p:nvPr>
        </p:nvSpPr>
        <p:spPr/>
        <p:txBody>
          <a:bodyPr/>
          <a:lstStyle/>
          <a:p>
            <a:fld id="{63000ABB-DDDE-4CEB-8AF7-E965FFF7A354}" type="slidenum">
              <a:rPr lang="fr-FR" smtClean="0"/>
              <a:t>21</a:t>
            </a:fld>
            <a:endParaRPr lang="fr-FR"/>
          </a:p>
        </p:txBody>
      </p:sp>
    </p:spTree>
    <p:extLst>
      <p:ext uri="{BB962C8B-B14F-4D97-AF65-F5344CB8AC3E}">
        <p14:creationId xmlns:p14="http://schemas.microsoft.com/office/powerpoint/2010/main" val="1840557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371600"/>
            <a:ext cx="9601200" cy="3200876"/>
          </a:xfrm>
          <a:prstGeom prst="rect">
            <a:avLst/>
          </a:prstGeom>
          <a:noFill/>
        </p:spPr>
        <p:txBody>
          <a:bodyPr wrap="square">
            <a:spAutoFit/>
          </a:bodyPr>
          <a:lstStyle/>
          <a:p>
            <a:pPr>
              <a:spcAft>
                <a:spcPts val="2000"/>
              </a:spcAft>
              <a:defRPr sz="1200" b="1">
                <a:solidFill>
                  <a:srgbClr val="1DB954"/>
                </a:solidFill>
                <a:latin typeface="Arial"/>
              </a:defRPr>
            </a:pPr>
            <a:r>
              <a:rPr dirty="0"/>
              <a:t>PROJET DE VALIDATION - BLOC 1 (RNCP 38777)</a:t>
            </a:r>
          </a:p>
          <a:p>
            <a:pPr>
              <a:spcAft>
                <a:spcPts val="1200"/>
              </a:spcAft>
              <a:defRPr sz="3800" b="1">
                <a:solidFill>
                  <a:srgbClr val="FFFFFF"/>
                </a:solidFill>
                <a:latin typeface="Arial"/>
              </a:defRPr>
            </a:pPr>
            <a:r>
              <a:rPr dirty="0" err="1"/>
              <a:t>Stratégie</a:t>
            </a:r>
            <a:r>
              <a:rPr dirty="0"/>
              <a:t> et </a:t>
            </a:r>
            <a:r>
              <a:rPr dirty="0" err="1"/>
              <a:t>implémentation</a:t>
            </a:r>
            <a:r>
              <a:rPr dirty="0"/>
              <a:t> de la </a:t>
            </a:r>
            <a:r>
              <a:rPr dirty="0" err="1"/>
              <a:t>gouvernance</a:t>
            </a:r>
            <a:r>
              <a:rPr dirty="0"/>
              <a:t> des données</a:t>
            </a:r>
          </a:p>
          <a:p>
            <a:pPr>
              <a:spcAft>
                <a:spcPts val="4000"/>
              </a:spcAft>
              <a:defRPr sz="1800">
                <a:solidFill>
                  <a:srgbClr val="B3B3B3"/>
                </a:solidFill>
                <a:latin typeface="Arial"/>
              </a:defRPr>
            </a:pPr>
            <a:r>
              <a:rPr dirty="0"/>
              <a:t>Blueprint </a:t>
            </a:r>
            <a:r>
              <a:rPr dirty="0" err="1"/>
              <a:t>opérationnel</a:t>
            </a:r>
            <a:r>
              <a:rPr dirty="0"/>
              <a:t> vers le </a:t>
            </a:r>
            <a:r>
              <a:rPr dirty="0" err="1"/>
              <a:t>niveau</a:t>
            </a:r>
            <a:r>
              <a:rPr dirty="0"/>
              <a:t> </a:t>
            </a:r>
            <a:r>
              <a:rPr lang="fr-FR" dirty="0"/>
              <a:t>"</a:t>
            </a:r>
            <a:r>
              <a:rPr dirty="0"/>
              <a:t>Managed</a:t>
            </a:r>
            <a:r>
              <a:rPr lang="fr-FR" dirty="0"/>
              <a:t>"</a:t>
            </a:r>
            <a:r>
              <a:rPr dirty="0"/>
              <a:t> chez Spotify S.A.</a:t>
            </a:r>
          </a:p>
          <a:p>
            <a:pPr>
              <a:defRPr sz="1200">
                <a:solidFill>
                  <a:srgbClr val="B3B3B3"/>
                </a:solidFill>
                <a:latin typeface="Arial"/>
              </a:defRPr>
            </a:pPr>
            <a:r>
              <a:rPr dirty="0"/>
              <a:t>Auteur : </a:t>
            </a:r>
            <a:r>
              <a:rPr dirty="0" err="1"/>
              <a:t>Candidat</a:t>
            </a:r>
            <a:r>
              <a:rPr dirty="0"/>
              <a:t> au </a:t>
            </a:r>
            <a:r>
              <a:rPr dirty="0" err="1"/>
              <a:t>titre</a:t>
            </a:r>
            <a:r>
              <a:rPr dirty="0"/>
              <a:t> </a:t>
            </a:r>
            <a:r>
              <a:rPr dirty="0" err="1"/>
              <a:t>d'architecte</a:t>
            </a:r>
            <a:r>
              <a:rPr dirty="0"/>
              <a:t> </a:t>
            </a:r>
            <a:r>
              <a:rPr dirty="0" err="1"/>
              <a:t>en</a:t>
            </a:r>
            <a:r>
              <a:rPr dirty="0"/>
              <a:t> IA</a:t>
            </a:r>
            <a:br>
              <a:rPr dirty="0"/>
            </a:br>
            <a:br>
              <a:rPr dirty="0"/>
            </a:br>
            <a:r>
              <a:rPr dirty="0"/>
              <a:t>Date de </a:t>
            </a:r>
            <a:r>
              <a:rPr dirty="0" err="1"/>
              <a:t>présentation</a:t>
            </a:r>
            <a:r>
              <a:rPr dirty="0"/>
              <a:t> : Juin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3" name="TextBox 2"/>
          <p:cNvSpPr txBox="1"/>
          <p:nvPr/>
        </p:nvSpPr>
        <p:spPr>
          <a:xfrm>
            <a:off x="548640" y="502920"/>
            <a:ext cx="10058400" cy="400110"/>
          </a:xfrm>
          <a:prstGeom prst="rect">
            <a:avLst/>
          </a:prstGeom>
          <a:noFill/>
        </p:spPr>
        <p:txBody>
          <a:bodyPr wrap="square" lIns="0" tIns="0" rIns="0" bIns="0">
            <a:spAutoFit/>
          </a:bodyPr>
          <a:lstStyle/>
          <a:p>
            <a:pPr>
              <a:defRPr sz="2600" b="1">
                <a:solidFill>
                  <a:srgbClr val="FFFFFF"/>
                </a:solidFill>
                <a:latin typeface="Arial"/>
              </a:defRPr>
            </a:pPr>
            <a:r>
              <a:rPr lang="fr-FR" dirty="0"/>
              <a:t>Plan</a:t>
            </a:r>
            <a:endParaRPr dirty="0"/>
          </a:p>
        </p:txBody>
      </p:sp>
      <p:sp>
        <p:nvSpPr>
          <p:cNvPr id="4" name="TextBox 3"/>
          <p:cNvSpPr txBox="1"/>
          <p:nvPr/>
        </p:nvSpPr>
        <p:spPr>
          <a:xfrm>
            <a:off x="548640" y="6400800"/>
            <a:ext cx="11094415" cy="274320"/>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2 / 21</a:t>
            </a:r>
          </a:p>
        </p:txBody>
      </p:sp>
      <p:sp>
        <p:nvSpPr>
          <p:cNvPr id="21" name="ZoneTexte 20">
            <a:extLst>
              <a:ext uri="{FF2B5EF4-FFF2-40B4-BE49-F238E27FC236}">
                <a16:creationId xmlns:a16="http://schemas.microsoft.com/office/drawing/2014/main" id="{059012D5-EEA5-2445-3544-83DCFF15645C}"/>
              </a:ext>
            </a:extLst>
          </p:cNvPr>
          <p:cNvSpPr txBox="1"/>
          <p:nvPr/>
        </p:nvSpPr>
        <p:spPr>
          <a:xfrm>
            <a:off x="454180" y="1493762"/>
            <a:ext cx="4978953" cy="400110"/>
          </a:xfrm>
          <a:prstGeom prst="rect">
            <a:avLst/>
          </a:prstGeom>
          <a:noFill/>
        </p:spPr>
        <p:txBody>
          <a:bodyPr wrap="square" rtlCol="0">
            <a:spAutoFit/>
          </a:bodyPr>
          <a:lstStyle/>
          <a:p>
            <a:r>
              <a:rPr lang="fr-FR" sz="2000" b="1" dirty="0">
                <a:solidFill>
                  <a:schemeClr val="bg1"/>
                </a:solidFill>
                <a:latin typeface="Arial" panose="020B0604020202020204" pitchFamily="34" charset="0"/>
                <a:cs typeface="Arial" panose="020B0604020202020204" pitchFamily="34" charset="0"/>
              </a:rPr>
              <a:t>1. Diagnostic de maturité</a:t>
            </a:r>
          </a:p>
        </p:txBody>
      </p:sp>
      <p:sp>
        <p:nvSpPr>
          <p:cNvPr id="22" name="ZoneTexte 21">
            <a:extLst>
              <a:ext uri="{FF2B5EF4-FFF2-40B4-BE49-F238E27FC236}">
                <a16:creationId xmlns:a16="http://schemas.microsoft.com/office/drawing/2014/main" id="{2018AAF8-4FE0-D475-8E91-6735BD86BC7C}"/>
              </a:ext>
            </a:extLst>
          </p:cNvPr>
          <p:cNvSpPr txBox="1"/>
          <p:nvPr/>
        </p:nvSpPr>
        <p:spPr>
          <a:xfrm>
            <a:off x="454181" y="2267400"/>
            <a:ext cx="9305708" cy="400110"/>
          </a:xfrm>
          <a:prstGeom prst="rect">
            <a:avLst/>
          </a:prstGeom>
          <a:noFill/>
        </p:spPr>
        <p:txBody>
          <a:bodyPr wrap="square" rtlCol="0">
            <a:spAutoFit/>
          </a:bodyPr>
          <a:lstStyle/>
          <a:p>
            <a:r>
              <a:rPr lang="fr-FR" sz="2000" b="1" dirty="0">
                <a:solidFill>
                  <a:schemeClr val="bg1"/>
                </a:solidFill>
                <a:latin typeface="Arial" panose="020B0604020202020204" pitchFamily="34" charset="0"/>
                <a:cs typeface="Arial" panose="020B0604020202020204" pitchFamily="34" charset="0"/>
              </a:rPr>
              <a:t>2. Modèle opératoire cible &amp; organisation </a:t>
            </a:r>
          </a:p>
        </p:txBody>
      </p:sp>
      <p:sp>
        <p:nvSpPr>
          <p:cNvPr id="23" name="ZoneTexte 22">
            <a:extLst>
              <a:ext uri="{FF2B5EF4-FFF2-40B4-BE49-F238E27FC236}">
                <a16:creationId xmlns:a16="http://schemas.microsoft.com/office/drawing/2014/main" id="{B552B6DC-D332-0EBE-53EC-F5C719FEE31B}"/>
              </a:ext>
            </a:extLst>
          </p:cNvPr>
          <p:cNvSpPr txBox="1"/>
          <p:nvPr/>
        </p:nvSpPr>
        <p:spPr>
          <a:xfrm>
            <a:off x="454181" y="3041038"/>
            <a:ext cx="9305708" cy="400110"/>
          </a:xfrm>
          <a:prstGeom prst="rect">
            <a:avLst/>
          </a:prstGeom>
          <a:noFill/>
        </p:spPr>
        <p:txBody>
          <a:bodyPr wrap="square" rtlCol="0">
            <a:spAutoFit/>
          </a:bodyPr>
          <a:lstStyle/>
          <a:p>
            <a:r>
              <a:rPr lang="fr-FR" sz="2000" b="1" dirty="0">
                <a:solidFill>
                  <a:schemeClr val="bg1"/>
                </a:solidFill>
                <a:latin typeface="Arial" panose="020B0604020202020204" pitchFamily="34" charset="0"/>
                <a:cs typeface="Arial" panose="020B0604020202020204" pitchFamily="34" charset="0"/>
              </a:rPr>
              <a:t>3. Architecture de données  &amp; conformité </a:t>
            </a:r>
          </a:p>
        </p:txBody>
      </p:sp>
      <p:sp>
        <p:nvSpPr>
          <p:cNvPr id="24" name="ZoneTexte 23">
            <a:extLst>
              <a:ext uri="{FF2B5EF4-FFF2-40B4-BE49-F238E27FC236}">
                <a16:creationId xmlns:a16="http://schemas.microsoft.com/office/drawing/2014/main" id="{AE31F237-FD33-6DAD-DE6C-42AAD7580180}"/>
              </a:ext>
            </a:extLst>
          </p:cNvPr>
          <p:cNvSpPr txBox="1"/>
          <p:nvPr/>
        </p:nvSpPr>
        <p:spPr>
          <a:xfrm>
            <a:off x="454181" y="3814676"/>
            <a:ext cx="9305708" cy="400110"/>
          </a:xfrm>
          <a:prstGeom prst="rect">
            <a:avLst/>
          </a:prstGeom>
          <a:noFill/>
        </p:spPr>
        <p:txBody>
          <a:bodyPr wrap="square" rtlCol="0">
            <a:spAutoFit/>
          </a:bodyPr>
          <a:lstStyle/>
          <a:p>
            <a:r>
              <a:rPr lang="fr-FR" sz="2000" b="1" dirty="0">
                <a:solidFill>
                  <a:schemeClr val="bg1"/>
                </a:solidFill>
                <a:latin typeface="Arial" panose="020B0604020202020204" pitchFamily="34" charset="0"/>
                <a:cs typeface="Arial" panose="020B0604020202020204" pitchFamily="34" charset="0"/>
              </a:rPr>
              <a:t>4. POC  et protocoles d’urgence </a:t>
            </a:r>
          </a:p>
        </p:txBody>
      </p:sp>
      <p:sp>
        <p:nvSpPr>
          <p:cNvPr id="25" name="ZoneTexte 24">
            <a:extLst>
              <a:ext uri="{FF2B5EF4-FFF2-40B4-BE49-F238E27FC236}">
                <a16:creationId xmlns:a16="http://schemas.microsoft.com/office/drawing/2014/main" id="{DA4F92AD-F4AD-D493-9693-C3B10860E6C9}"/>
              </a:ext>
            </a:extLst>
          </p:cNvPr>
          <p:cNvSpPr txBox="1"/>
          <p:nvPr/>
        </p:nvSpPr>
        <p:spPr>
          <a:xfrm>
            <a:off x="454181" y="4588313"/>
            <a:ext cx="6195436" cy="400110"/>
          </a:xfrm>
          <a:prstGeom prst="rect">
            <a:avLst/>
          </a:prstGeom>
          <a:noFill/>
        </p:spPr>
        <p:txBody>
          <a:bodyPr wrap="square" rtlCol="0">
            <a:spAutoFit/>
          </a:bodyPr>
          <a:lstStyle/>
          <a:p>
            <a:r>
              <a:rPr lang="fr-FR" sz="2000" b="1" dirty="0">
                <a:solidFill>
                  <a:schemeClr val="bg1"/>
                </a:solidFill>
                <a:latin typeface="Arial" panose="020B0604020202020204" pitchFamily="34" charset="0"/>
                <a:cs typeface="Arial" panose="020B0604020202020204" pitchFamily="34" charset="0"/>
              </a:rPr>
              <a:t>5. Roadmap &amp; Valorisation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16B277A-7447-57AE-8AB2-4881AB3AD4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25C135-700C-63C8-F2D6-EE5E61FCD174}"/>
              </a:ext>
            </a:extLst>
          </p:cNvPr>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Diagnostic de maturité des données de Spotify</a:t>
            </a:r>
          </a:p>
        </p:txBody>
      </p:sp>
      <p:sp>
        <p:nvSpPr>
          <p:cNvPr id="4" name="TextBox 3">
            <a:extLst>
              <a:ext uri="{FF2B5EF4-FFF2-40B4-BE49-F238E27FC236}">
                <a16:creationId xmlns:a16="http://schemas.microsoft.com/office/drawing/2014/main" id="{0F8ED8E5-06D8-D540-A44C-94E349EECD8F}"/>
              </a:ext>
            </a:extLst>
          </p:cNvPr>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3 / 21</a:t>
            </a:r>
            <a:endParaRPr dirty="0"/>
          </a:p>
        </p:txBody>
      </p:sp>
      <p:sp>
        <p:nvSpPr>
          <p:cNvPr id="5" name="TextBox 4">
            <a:extLst>
              <a:ext uri="{FF2B5EF4-FFF2-40B4-BE49-F238E27FC236}">
                <a16:creationId xmlns:a16="http://schemas.microsoft.com/office/drawing/2014/main" id="{A495C9E8-229E-7F2C-3B1F-CB3B5FE300D9}"/>
              </a:ext>
            </a:extLst>
          </p:cNvPr>
          <p:cNvSpPr txBox="1"/>
          <p:nvPr/>
        </p:nvSpPr>
        <p:spPr>
          <a:xfrm>
            <a:off x="548640" y="1371600"/>
            <a:ext cx="3474720" cy="1200329"/>
          </a:xfrm>
          <a:prstGeom prst="rect">
            <a:avLst/>
          </a:prstGeom>
          <a:noFill/>
        </p:spPr>
        <p:txBody>
          <a:bodyPr wrap="square">
            <a:spAutoFit/>
          </a:bodyPr>
          <a:lstStyle/>
          <a:p>
            <a:pPr>
              <a:spcAft>
                <a:spcPts val="2000"/>
              </a:spcAft>
              <a:defRPr sz="1200">
                <a:solidFill>
                  <a:srgbClr val="B3B3B3"/>
                </a:solidFill>
                <a:latin typeface="Arial"/>
              </a:defRPr>
            </a:pPr>
            <a:r>
              <a:rPr dirty="0"/>
              <a:t>État des </a:t>
            </a:r>
            <a:r>
              <a:rPr dirty="0" err="1"/>
              <a:t>lieux</a:t>
            </a:r>
            <a:r>
              <a:rPr dirty="0"/>
              <a:t> initial chez Spotify (Transition 2020) :</a:t>
            </a:r>
            <a:br>
              <a:rPr dirty="0"/>
            </a:br>
            <a:r>
              <a:rPr dirty="0" err="1"/>
              <a:t>L'hyper-croissance</a:t>
            </a:r>
            <a:r>
              <a:rPr dirty="0"/>
              <a:t> et </a:t>
            </a:r>
            <a:r>
              <a:rPr lang="fr-FR" dirty="0"/>
              <a:t>la migration</a:t>
            </a:r>
            <a:r>
              <a:rPr dirty="0"/>
              <a:t> </a:t>
            </a:r>
            <a:r>
              <a:rPr dirty="0" err="1"/>
              <a:t>intégral</a:t>
            </a:r>
            <a:r>
              <a:rPr lang="fr-FR" dirty="0"/>
              <a:t>e</a:t>
            </a:r>
            <a:r>
              <a:rPr dirty="0"/>
              <a:t> vers le cloud </a:t>
            </a:r>
            <a:r>
              <a:rPr dirty="0" err="1"/>
              <a:t>ont</a:t>
            </a:r>
            <a:r>
              <a:rPr dirty="0"/>
              <a:t> </a:t>
            </a:r>
            <a:r>
              <a:rPr dirty="0" err="1"/>
              <a:t>généré</a:t>
            </a:r>
            <a:r>
              <a:rPr dirty="0"/>
              <a:t> </a:t>
            </a:r>
            <a:r>
              <a:rPr dirty="0" err="1"/>
              <a:t>une</a:t>
            </a:r>
            <a:r>
              <a:rPr dirty="0"/>
              <a:t> fragmentation de </a:t>
            </a:r>
            <a:r>
              <a:rPr dirty="0" err="1"/>
              <a:t>l'architecture</a:t>
            </a:r>
            <a:r>
              <a:rPr dirty="0"/>
              <a:t> technique, </a:t>
            </a:r>
            <a:r>
              <a:rPr dirty="0" err="1"/>
              <a:t>menaçant</a:t>
            </a:r>
            <a:r>
              <a:rPr dirty="0"/>
              <a:t> la </a:t>
            </a:r>
            <a:r>
              <a:rPr dirty="0" err="1"/>
              <a:t>traçabilité</a:t>
            </a:r>
            <a:r>
              <a:rPr dirty="0"/>
              <a:t> et la </a:t>
            </a:r>
            <a:r>
              <a:rPr dirty="0" err="1"/>
              <a:t>qualité</a:t>
            </a:r>
            <a:r>
              <a:rPr dirty="0"/>
              <a:t> </a:t>
            </a:r>
            <a:r>
              <a:rPr dirty="0" err="1"/>
              <a:t>globale</a:t>
            </a:r>
            <a:r>
              <a:rPr dirty="0"/>
              <a:t>.</a:t>
            </a:r>
          </a:p>
        </p:txBody>
      </p:sp>
      <p:sp>
        <p:nvSpPr>
          <p:cNvPr id="6" name="Rounded Rectangle 5">
            <a:extLst>
              <a:ext uri="{FF2B5EF4-FFF2-40B4-BE49-F238E27FC236}">
                <a16:creationId xmlns:a16="http://schemas.microsoft.com/office/drawing/2014/main" id="{6E6CD794-1BD7-254C-CE89-9E13BDB282C8}"/>
              </a:ext>
            </a:extLst>
          </p:cNvPr>
          <p:cNvSpPr/>
          <p:nvPr/>
        </p:nvSpPr>
        <p:spPr>
          <a:xfrm>
            <a:off x="548640" y="2926080"/>
            <a:ext cx="3474720" cy="1371600"/>
          </a:xfrm>
          <a:prstGeom prst="roundRect">
            <a:avLst/>
          </a:prstGeom>
          <a:solidFill>
            <a:srgbClr val="2D1414"/>
          </a:solid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D70DD35-A5F5-AA3A-DE0A-AD29C97E8D04}"/>
              </a:ext>
            </a:extLst>
          </p:cNvPr>
          <p:cNvSpPr txBox="1"/>
          <p:nvPr/>
        </p:nvSpPr>
        <p:spPr>
          <a:xfrm>
            <a:off x="713232" y="3090672"/>
            <a:ext cx="3145536" cy="1042416"/>
          </a:xfrm>
          <a:prstGeom prst="rect">
            <a:avLst/>
          </a:prstGeom>
          <a:noFill/>
        </p:spPr>
        <p:txBody>
          <a:bodyPr wrap="square" lIns="0" tIns="0" rIns="0" bIns="0">
            <a:spAutoFit/>
          </a:bodyPr>
          <a:lstStyle/>
          <a:p>
            <a:pPr>
              <a:spcAft>
                <a:spcPts val="600"/>
              </a:spcAft>
              <a:defRPr sz="1200" b="1">
                <a:solidFill>
                  <a:srgbClr val="FFFFFF"/>
                </a:solidFill>
                <a:latin typeface="Arial"/>
              </a:defRPr>
            </a:pPr>
            <a:r>
              <a:rPr dirty="0" err="1"/>
              <a:t>Maturité</a:t>
            </a:r>
            <a:r>
              <a:rPr dirty="0"/>
              <a:t> </a:t>
            </a:r>
            <a:r>
              <a:rPr dirty="0" err="1"/>
              <a:t>initiale</a:t>
            </a:r>
            <a:endParaRPr dirty="0"/>
          </a:p>
          <a:p>
            <a:pPr>
              <a:spcAft>
                <a:spcPts val="400"/>
              </a:spcAft>
              <a:defRPr sz="950" b="1">
                <a:solidFill>
                  <a:srgbClr val="FFFFFF"/>
                </a:solidFill>
                <a:latin typeface="Arial"/>
              </a:defRPr>
            </a:pPr>
            <a:r>
              <a:rPr dirty="0" err="1"/>
              <a:t>Niveau</a:t>
            </a:r>
            <a:r>
              <a:rPr dirty="0"/>
              <a:t> 2 :</a:t>
            </a:r>
            <a:r>
              <a:rPr sz="950" b="0" dirty="0">
                <a:solidFill>
                  <a:srgbClr val="B3B3B3"/>
                </a:solidFill>
              </a:rPr>
              <a:t> Reactive (Gartner)</a:t>
            </a:r>
          </a:p>
          <a:p>
            <a:pPr>
              <a:spcAft>
                <a:spcPts val="400"/>
              </a:spcAft>
              <a:defRPr sz="950">
                <a:solidFill>
                  <a:srgbClr val="B3B3B3"/>
                </a:solidFill>
                <a:latin typeface="Arial"/>
              </a:defRPr>
            </a:pPr>
            <a:r>
              <a:rPr dirty="0"/>
              <a:t>Une gestion locale, </a:t>
            </a:r>
            <a:r>
              <a:rPr dirty="0" err="1"/>
              <a:t>fragmentée</a:t>
            </a:r>
            <a:r>
              <a:rPr dirty="0"/>
              <a:t> et </a:t>
            </a:r>
            <a:r>
              <a:rPr dirty="0" err="1"/>
              <a:t>réactive</a:t>
            </a:r>
            <a:r>
              <a:rPr dirty="0"/>
              <a:t> face aux </a:t>
            </a:r>
            <a:r>
              <a:rPr dirty="0" err="1"/>
              <a:t>pannes</a:t>
            </a:r>
            <a:r>
              <a:rPr dirty="0"/>
              <a:t> </a:t>
            </a:r>
            <a:r>
              <a:rPr dirty="0" err="1"/>
              <a:t>ou</a:t>
            </a:r>
            <a:r>
              <a:rPr dirty="0"/>
              <a:t> </a:t>
            </a:r>
            <a:r>
              <a:rPr dirty="0" err="1"/>
              <a:t>requêtes</a:t>
            </a:r>
            <a:r>
              <a:rPr dirty="0"/>
              <a:t> </a:t>
            </a:r>
            <a:r>
              <a:rPr dirty="0" err="1"/>
              <a:t>légales</a:t>
            </a:r>
            <a:r>
              <a:rPr dirty="0"/>
              <a:t>.</a:t>
            </a:r>
          </a:p>
        </p:txBody>
      </p:sp>
      <p:sp>
        <p:nvSpPr>
          <p:cNvPr id="8" name="Rounded Rectangle 7">
            <a:extLst>
              <a:ext uri="{FF2B5EF4-FFF2-40B4-BE49-F238E27FC236}">
                <a16:creationId xmlns:a16="http://schemas.microsoft.com/office/drawing/2014/main" id="{0A1DF2E8-8ECE-9F4F-BBBE-952B7BA1463C}"/>
              </a:ext>
            </a:extLst>
          </p:cNvPr>
          <p:cNvSpPr/>
          <p:nvPr/>
        </p:nvSpPr>
        <p:spPr>
          <a:xfrm>
            <a:off x="548640" y="4480560"/>
            <a:ext cx="3474720" cy="1371600"/>
          </a:xfrm>
          <a:prstGeom prst="roundRect">
            <a:avLst/>
          </a:prstGeom>
          <a:solidFill>
            <a:srgbClr val="142D19"/>
          </a:solidFill>
          <a:ln w="19050">
            <a:solidFill>
              <a:srgbClr val="289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4B1E1AB-46C3-7662-9A57-69886A90CCE2}"/>
              </a:ext>
            </a:extLst>
          </p:cNvPr>
          <p:cNvSpPr txBox="1"/>
          <p:nvPr/>
        </p:nvSpPr>
        <p:spPr>
          <a:xfrm>
            <a:off x="713232" y="4645152"/>
            <a:ext cx="3145536" cy="751488"/>
          </a:xfrm>
          <a:prstGeom prst="rect">
            <a:avLst/>
          </a:prstGeom>
          <a:noFill/>
        </p:spPr>
        <p:txBody>
          <a:bodyPr wrap="square" lIns="0" tIns="0" rIns="0" bIns="0">
            <a:spAutoFit/>
          </a:bodyPr>
          <a:lstStyle/>
          <a:p>
            <a:pPr>
              <a:spcAft>
                <a:spcPts val="600"/>
              </a:spcAft>
              <a:defRPr sz="1200" b="1">
                <a:solidFill>
                  <a:srgbClr val="FFFFFF"/>
                </a:solidFill>
                <a:latin typeface="Arial"/>
              </a:defRPr>
            </a:pPr>
            <a:r>
              <a:rPr dirty="0" err="1"/>
              <a:t>Cible</a:t>
            </a:r>
            <a:r>
              <a:rPr dirty="0"/>
              <a:t> à 18 </a:t>
            </a:r>
            <a:r>
              <a:rPr dirty="0" err="1"/>
              <a:t>mois</a:t>
            </a:r>
            <a:endParaRPr dirty="0"/>
          </a:p>
          <a:p>
            <a:pPr>
              <a:spcAft>
                <a:spcPts val="400"/>
              </a:spcAft>
              <a:defRPr sz="950" b="1">
                <a:solidFill>
                  <a:srgbClr val="FFFFFF"/>
                </a:solidFill>
                <a:latin typeface="Arial"/>
              </a:defRPr>
            </a:pPr>
            <a:r>
              <a:rPr dirty="0" err="1"/>
              <a:t>Niveau</a:t>
            </a:r>
            <a:r>
              <a:rPr dirty="0"/>
              <a:t> 4 :</a:t>
            </a:r>
            <a:r>
              <a:rPr sz="950" b="0" dirty="0">
                <a:solidFill>
                  <a:srgbClr val="B3B3B3"/>
                </a:solidFill>
              </a:rPr>
              <a:t> Managed (Gartner)</a:t>
            </a:r>
          </a:p>
          <a:p>
            <a:pPr>
              <a:spcAft>
                <a:spcPts val="400"/>
              </a:spcAft>
              <a:defRPr sz="950">
                <a:solidFill>
                  <a:srgbClr val="B3B3B3"/>
                </a:solidFill>
                <a:latin typeface="Arial"/>
              </a:defRPr>
            </a:pPr>
            <a:r>
              <a:rPr dirty="0" err="1"/>
              <a:t>Gouvernance</a:t>
            </a:r>
            <a:r>
              <a:rPr dirty="0"/>
              <a:t> invisible, </a:t>
            </a:r>
            <a:r>
              <a:rPr dirty="0" err="1"/>
              <a:t>automatisée</a:t>
            </a:r>
            <a:r>
              <a:rPr dirty="0"/>
              <a:t> et </a:t>
            </a:r>
            <a:r>
              <a:rPr dirty="0" err="1"/>
              <a:t>intégrée</a:t>
            </a:r>
            <a:r>
              <a:rPr dirty="0"/>
              <a:t> </a:t>
            </a:r>
            <a:r>
              <a:rPr dirty="0" err="1"/>
              <a:t>nativement</a:t>
            </a:r>
            <a:r>
              <a:rPr dirty="0"/>
              <a:t> dans le flux de dev</a:t>
            </a:r>
          </a:p>
        </p:txBody>
      </p:sp>
      <p:sp>
        <p:nvSpPr>
          <p:cNvPr id="10" name="Rounded Rectangle 9">
            <a:extLst>
              <a:ext uri="{FF2B5EF4-FFF2-40B4-BE49-F238E27FC236}">
                <a16:creationId xmlns:a16="http://schemas.microsoft.com/office/drawing/2014/main" id="{4BEFE9FF-0FD2-5B4D-CDC5-42FC63F4453C}"/>
              </a:ext>
            </a:extLst>
          </p:cNvPr>
          <p:cNvSpPr/>
          <p:nvPr/>
        </p:nvSpPr>
        <p:spPr>
          <a:xfrm>
            <a:off x="4297680" y="1371600"/>
            <a:ext cx="347472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34156D1-A0F3-0039-DA04-9B21B5753EF6}"/>
              </a:ext>
            </a:extLst>
          </p:cNvPr>
          <p:cNvSpPr txBox="1"/>
          <p:nvPr/>
        </p:nvSpPr>
        <p:spPr>
          <a:xfrm>
            <a:off x="4462272" y="1536192"/>
            <a:ext cx="314553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t>1. Fragmentation sémantique</a:t>
            </a:r>
          </a:p>
          <a:p>
            <a:pPr>
              <a:spcAft>
                <a:spcPts val="400"/>
              </a:spcAft>
              <a:defRPr sz="950" b="1">
                <a:solidFill>
                  <a:srgbClr val="FFFFFF"/>
                </a:solidFill>
                <a:latin typeface="Arial"/>
              </a:defRPr>
            </a:pPr>
            <a:r>
              <a:t>Incohérences de définitions :</a:t>
            </a:r>
            <a:r>
              <a:rPr sz="950" b="0">
                <a:solidFill>
                  <a:srgbClr val="B3B3B3"/>
                </a:solidFill>
              </a:rPr>
              <a:t> Rupture de langage entre les équipes agiles.</a:t>
            </a:r>
          </a:p>
          <a:p>
            <a:pPr>
              <a:spcAft>
                <a:spcPts val="400"/>
              </a:spcAft>
              <a:defRPr sz="950" b="1">
                <a:solidFill>
                  <a:srgbClr val="FFFFFF"/>
                </a:solidFill>
                <a:latin typeface="Arial"/>
              </a:defRPr>
            </a:pPr>
            <a:r>
              <a:t>Silos d'information :</a:t>
            </a:r>
            <a:r>
              <a:rPr sz="950" b="0">
                <a:solidFill>
                  <a:srgbClr val="B3B3B3"/>
                </a:solidFill>
              </a:rPr>
              <a:t> Duplications inutiles d'ingestions de données.</a:t>
            </a:r>
          </a:p>
        </p:txBody>
      </p:sp>
      <p:sp>
        <p:nvSpPr>
          <p:cNvPr id="12" name="Rounded Rectangle 11">
            <a:extLst>
              <a:ext uri="{FF2B5EF4-FFF2-40B4-BE49-F238E27FC236}">
                <a16:creationId xmlns:a16="http://schemas.microsoft.com/office/drawing/2014/main" id="{86958656-87AF-1383-F4E4-D755D606D99A}"/>
              </a:ext>
            </a:extLst>
          </p:cNvPr>
          <p:cNvSpPr/>
          <p:nvPr/>
        </p:nvSpPr>
        <p:spPr>
          <a:xfrm>
            <a:off x="8046720" y="1371600"/>
            <a:ext cx="35661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C3724F52-79F0-44C4-7EBC-70890261167F}"/>
              </a:ext>
            </a:extLst>
          </p:cNvPr>
          <p:cNvSpPr txBox="1"/>
          <p:nvPr/>
        </p:nvSpPr>
        <p:spPr>
          <a:xfrm>
            <a:off x="8211312" y="1536192"/>
            <a:ext cx="323697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t>2. Pipelines &amp; actifs orphelins</a:t>
            </a:r>
          </a:p>
          <a:p>
            <a:pPr>
              <a:spcAft>
                <a:spcPts val="400"/>
              </a:spcAft>
              <a:defRPr sz="950" b="1">
                <a:solidFill>
                  <a:srgbClr val="FFFFFF"/>
                </a:solidFill>
                <a:latin typeface="Arial"/>
              </a:defRPr>
            </a:pPr>
            <a:r>
              <a:t>Zéro traçabilité :</a:t>
            </a:r>
            <a:r>
              <a:rPr sz="950" b="0">
                <a:solidFill>
                  <a:srgbClr val="B3B3B3"/>
                </a:solidFill>
              </a:rPr>
              <a:t> Des milliers de tables sans propriétaire identifié.</a:t>
            </a:r>
          </a:p>
          <a:p>
            <a:pPr>
              <a:spcAft>
                <a:spcPts val="400"/>
              </a:spcAft>
              <a:defRPr sz="950" b="1">
                <a:solidFill>
                  <a:srgbClr val="FFFFFF"/>
                </a:solidFill>
                <a:latin typeface="Arial"/>
              </a:defRPr>
            </a:pPr>
            <a:r>
              <a:t>Explosion cloud :</a:t>
            </a:r>
            <a:r>
              <a:rPr sz="950" b="0">
                <a:solidFill>
                  <a:srgbClr val="B3B3B3"/>
                </a:solidFill>
              </a:rPr>
              <a:t> Risques financiers majeurs et pannes non résolues.</a:t>
            </a:r>
          </a:p>
        </p:txBody>
      </p:sp>
      <p:sp>
        <p:nvSpPr>
          <p:cNvPr id="14" name="Rounded Rectangle 13">
            <a:extLst>
              <a:ext uri="{FF2B5EF4-FFF2-40B4-BE49-F238E27FC236}">
                <a16:creationId xmlns:a16="http://schemas.microsoft.com/office/drawing/2014/main" id="{DDBA25EE-CF65-CEF6-7505-E440503DC679}"/>
              </a:ext>
            </a:extLst>
          </p:cNvPr>
          <p:cNvSpPr/>
          <p:nvPr/>
        </p:nvSpPr>
        <p:spPr>
          <a:xfrm>
            <a:off x="4297680" y="3749039"/>
            <a:ext cx="347472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9432E1A5-19CC-CA22-52E7-0F6AA90214A6}"/>
              </a:ext>
            </a:extLst>
          </p:cNvPr>
          <p:cNvSpPr txBox="1"/>
          <p:nvPr/>
        </p:nvSpPr>
        <p:spPr>
          <a:xfrm>
            <a:off x="4462272" y="3913631"/>
            <a:ext cx="314553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t>3. Rupture de traçabilité IA</a:t>
            </a:r>
          </a:p>
          <a:p>
            <a:pPr>
              <a:spcAft>
                <a:spcPts val="400"/>
              </a:spcAft>
              <a:defRPr sz="950" b="1">
                <a:solidFill>
                  <a:srgbClr val="FFFFFF"/>
                </a:solidFill>
                <a:latin typeface="Arial"/>
              </a:defRPr>
            </a:pPr>
            <a:r>
              <a:t>Origine floue :</a:t>
            </a:r>
            <a:r>
              <a:rPr sz="950" b="0">
                <a:solidFill>
                  <a:srgbClr val="B3B3B3"/>
                </a:solidFill>
              </a:rPr>
              <a:t> Difficulté d'auditer l'origine des données d'entraînement.</a:t>
            </a:r>
          </a:p>
          <a:p>
            <a:pPr>
              <a:spcAft>
                <a:spcPts val="400"/>
              </a:spcAft>
              <a:defRPr sz="950" b="1">
                <a:solidFill>
                  <a:srgbClr val="FFFFFF"/>
                </a:solidFill>
                <a:latin typeface="Arial"/>
              </a:defRPr>
            </a:pPr>
            <a:r>
              <a:t>Reproductibilité :</a:t>
            </a:r>
            <a:r>
              <a:rPr sz="950" b="0">
                <a:solidFill>
                  <a:srgbClr val="B3B3B3"/>
                </a:solidFill>
              </a:rPr>
              <a:t> Risque de biais et d'obsolescence sémantique.</a:t>
            </a:r>
          </a:p>
        </p:txBody>
      </p:sp>
      <p:sp>
        <p:nvSpPr>
          <p:cNvPr id="16" name="Rounded Rectangle 15">
            <a:extLst>
              <a:ext uri="{FF2B5EF4-FFF2-40B4-BE49-F238E27FC236}">
                <a16:creationId xmlns:a16="http://schemas.microsoft.com/office/drawing/2014/main" id="{D27EA114-C006-208F-8ABA-3408CF19A7A4}"/>
              </a:ext>
            </a:extLst>
          </p:cNvPr>
          <p:cNvSpPr/>
          <p:nvPr/>
        </p:nvSpPr>
        <p:spPr>
          <a:xfrm>
            <a:off x="8046720" y="3749039"/>
            <a:ext cx="35661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2D676D15-936D-11AF-6490-254C3CEF985A}"/>
              </a:ext>
            </a:extLst>
          </p:cNvPr>
          <p:cNvSpPr txBox="1"/>
          <p:nvPr/>
        </p:nvSpPr>
        <p:spPr>
          <a:xfrm>
            <a:off x="8211312" y="3913631"/>
            <a:ext cx="3236976" cy="897682"/>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4. </a:t>
            </a:r>
            <a:r>
              <a:rPr dirty="0" err="1"/>
              <a:t>Risques</a:t>
            </a:r>
            <a:r>
              <a:rPr dirty="0"/>
              <a:t> </a:t>
            </a:r>
            <a:r>
              <a:rPr dirty="0" err="1"/>
              <a:t>réglementaires</a:t>
            </a:r>
            <a:endParaRPr dirty="0"/>
          </a:p>
          <a:p>
            <a:pPr>
              <a:spcAft>
                <a:spcPts val="400"/>
              </a:spcAft>
              <a:defRPr sz="950" b="1">
                <a:solidFill>
                  <a:srgbClr val="FFFFFF"/>
                </a:solidFill>
                <a:latin typeface="Arial"/>
              </a:defRPr>
            </a:pPr>
            <a:r>
              <a:rPr dirty="0" err="1"/>
              <a:t>Conformité</a:t>
            </a:r>
            <a:r>
              <a:rPr dirty="0"/>
              <a:t> de masse :</a:t>
            </a:r>
            <a:r>
              <a:rPr sz="950" b="0" dirty="0">
                <a:solidFill>
                  <a:srgbClr val="B3B3B3"/>
                </a:solidFill>
              </a:rPr>
              <a:t> </a:t>
            </a:r>
            <a:r>
              <a:rPr sz="950" b="0" dirty="0" err="1">
                <a:solidFill>
                  <a:srgbClr val="B3B3B3"/>
                </a:solidFill>
              </a:rPr>
              <a:t>Complexité</a:t>
            </a:r>
            <a:r>
              <a:rPr sz="950" b="0" dirty="0">
                <a:solidFill>
                  <a:srgbClr val="B3B3B3"/>
                </a:solidFill>
              </a:rPr>
              <a:t> du RGPD (CNIL</a:t>
            </a:r>
            <a:r>
              <a:rPr lang="fr-FR" sz="950" b="0" dirty="0">
                <a:solidFill>
                  <a:srgbClr val="B3B3B3"/>
                </a:solidFill>
              </a:rPr>
              <a:t>/EDPB</a:t>
            </a:r>
            <a:r>
              <a:rPr sz="950" b="0" dirty="0">
                <a:solidFill>
                  <a:srgbClr val="B3B3B3"/>
                </a:solidFill>
              </a:rPr>
              <a:t>) et CCPA </a:t>
            </a:r>
            <a:r>
              <a:rPr sz="950" b="0" dirty="0" err="1">
                <a:solidFill>
                  <a:srgbClr val="B3B3B3"/>
                </a:solidFill>
              </a:rPr>
              <a:t>en</a:t>
            </a:r>
            <a:r>
              <a:rPr sz="950" b="0" dirty="0">
                <a:solidFill>
                  <a:srgbClr val="B3B3B3"/>
                </a:solidFill>
              </a:rPr>
              <a:t> production.</a:t>
            </a:r>
          </a:p>
          <a:p>
            <a:pPr>
              <a:spcAft>
                <a:spcPts val="400"/>
              </a:spcAft>
              <a:defRPr sz="950" b="1">
                <a:solidFill>
                  <a:srgbClr val="FFFFFF"/>
                </a:solidFill>
                <a:latin typeface="Arial"/>
              </a:defRPr>
            </a:pPr>
            <a:r>
              <a:rPr dirty="0"/>
              <a:t>Sanctions :</a:t>
            </a:r>
            <a:r>
              <a:rPr sz="950" b="0" dirty="0">
                <a:solidFill>
                  <a:srgbClr val="B3B3B3"/>
                </a:solidFill>
              </a:rPr>
              <a:t> Exposition cyber aux </a:t>
            </a:r>
            <a:r>
              <a:rPr sz="950" b="0" dirty="0" err="1">
                <a:solidFill>
                  <a:srgbClr val="B3B3B3"/>
                </a:solidFill>
              </a:rPr>
              <a:t>fuites</a:t>
            </a:r>
            <a:r>
              <a:rPr sz="950" b="0" dirty="0">
                <a:solidFill>
                  <a:srgbClr val="B3B3B3"/>
                </a:solidFill>
              </a:rPr>
              <a:t> de données </a:t>
            </a:r>
            <a:r>
              <a:rPr sz="950" b="0" dirty="0" err="1">
                <a:solidFill>
                  <a:srgbClr val="B3B3B3"/>
                </a:solidFill>
              </a:rPr>
              <a:t>d'écoute</a:t>
            </a:r>
            <a:r>
              <a:rPr sz="950" b="0" dirty="0">
                <a:solidFill>
                  <a:srgbClr val="B3B3B3"/>
                </a:solidFill>
              </a:rPr>
              <a:t> </a:t>
            </a:r>
            <a:r>
              <a:rPr sz="950" b="0" dirty="0" err="1">
                <a:solidFill>
                  <a:srgbClr val="B3B3B3"/>
                </a:solidFill>
              </a:rPr>
              <a:t>sensibles</a:t>
            </a:r>
            <a:r>
              <a:rPr sz="950" b="0" dirty="0">
                <a:solidFill>
                  <a:srgbClr val="B3B3B3"/>
                </a:solidFill>
              </a:rPr>
              <a:t>.</a:t>
            </a:r>
          </a:p>
        </p:txBody>
      </p:sp>
      <p:grpSp>
        <p:nvGrpSpPr>
          <p:cNvPr id="18" name="Groupe 17">
            <a:extLst>
              <a:ext uri="{FF2B5EF4-FFF2-40B4-BE49-F238E27FC236}">
                <a16:creationId xmlns:a16="http://schemas.microsoft.com/office/drawing/2014/main" id="{ECDF4A04-04D2-FEB7-B4D0-BD39CCE3D6B3}"/>
              </a:ext>
            </a:extLst>
          </p:cNvPr>
          <p:cNvGrpSpPr/>
          <p:nvPr/>
        </p:nvGrpSpPr>
        <p:grpSpPr>
          <a:xfrm>
            <a:off x="548640" y="220446"/>
            <a:ext cx="10866616" cy="230832"/>
            <a:chOff x="172859" y="1103789"/>
            <a:chExt cx="10866616" cy="230832"/>
          </a:xfrm>
        </p:grpSpPr>
        <p:sp>
          <p:nvSpPr>
            <p:cNvPr id="19" name="ZoneTexte 18">
              <a:extLst>
                <a:ext uri="{FF2B5EF4-FFF2-40B4-BE49-F238E27FC236}">
                  <a16:creationId xmlns:a16="http://schemas.microsoft.com/office/drawing/2014/main" id="{5C6D12B2-66EC-8C2E-6C96-45B216414E92}"/>
                </a:ext>
              </a:extLst>
            </p:cNvPr>
            <p:cNvSpPr txBox="1"/>
            <p:nvPr/>
          </p:nvSpPr>
          <p:spPr>
            <a:xfrm>
              <a:off x="172859" y="1103789"/>
              <a:ext cx="1568259"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20" name="ZoneTexte 19">
              <a:extLst>
                <a:ext uri="{FF2B5EF4-FFF2-40B4-BE49-F238E27FC236}">
                  <a16:creationId xmlns:a16="http://schemas.microsoft.com/office/drawing/2014/main" id="{C2C3B2D6-44A9-4F46-7C2A-261B4E58D4D2}"/>
                </a:ext>
              </a:extLst>
            </p:cNvPr>
            <p:cNvSpPr txBox="1"/>
            <p:nvPr/>
          </p:nvSpPr>
          <p:spPr>
            <a:xfrm>
              <a:off x="1671599"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21" name="ZoneTexte 20">
              <a:extLst>
                <a:ext uri="{FF2B5EF4-FFF2-40B4-BE49-F238E27FC236}">
                  <a16:creationId xmlns:a16="http://schemas.microsoft.com/office/drawing/2014/main" id="{30745E0F-9E4B-E6E1-7224-EF995C567A02}"/>
                </a:ext>
              </a:extLst>
            </p:cNvPr>
            <p:cNvSpPr txBox="1"/>
            <p:nvPr/>
          </p:nvSpPr>
          <p:spPr>
            <a:xfrm>
              <a:off x="4296533"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22" name="ZoneTexte 21">
              <a:extLst>
                <a:ext uri="{FF2B5EF4-FFF2-40B4-BE49-F238E27FC236}">
                  <a16:creationId xmlns:a16="http://schemas.microsoft.com/office/drawing/2014/main" id="{E49524F4-4563-D694-87B3-EFCF8AEEC73E}"/>
                </a:ext>
              </a:extLst>
            </p:cNvPr>
            <p:cNvSpPr txBox="1"/>
            <p:nvPr/>
          </p:nvSpPr>
          <p:spPr>
            <a:xfrm>
              <a:off x="6921467"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23" name="ZoneTexte 22">
              <a:extLst>
                <a:ext uri="{FF2B5EF4-FFF2-40B4-BE49-F238E27FC236}">
                  <a16:creationId xmlns:a16="http://schemas.microsoft.com/office/drawing/2014/main" id="{05504906-D01D-3BDB-2DFB-D4D3B145A5B9}"/>
                </a:ext>
              </a:extLst>
            </p:cNvPr>
            <p:cNvSpPr txBox="1"/>
            <p:nvPr/>
          </p:nvSpPr>
          <p:spPr>
            <a:xfrm>
              <a:off x="9088051" y="110378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extLst>
      <p:ext uri="{BB962C8B-B14F-4D97-AF65-F5344CB8AC3E}">
        <p14:creationId xmlns:p14="http://schemas.microsoft.com/office/powerpoint/2010/main" val="3983793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3" name="TextBox 2"/>
          <p:cNvSpPr txBox="1"/>
          <p:nvPr/>
        </p:nvSpPr>
        <p:spPr>
          <a:xfrm>
            <a:off x="548640" y="502920"/>
            <a:ext cx="10058400" cy="400110"/>
          </a:xfrm>
          <a:prstGeom prst="rect">
            <a:avLst/>
          </a:prstGeom>
          <a:noFill/>
        </p:spPr>
        <p:txBody>
          <a:bodyPr wrap="square" lIns="0" tIns="0" rIns="0" bIns="0">
            <a:spAutoFit/>
          </a:bodyPr>
          <a:lstStyle/>
          <a:p>
            <a:pPr>
              <a:defRPr sz="2600" b="1">
                <a:solidFill>
                  <a:srgbClr val="FFFFFF"/>
                </a:solidFill>
                <a:latin typeface="Arial"/>
              </a:defRPr>
            </a:pPr>
            <a:r>
              <a:rPr dirty="0"/>
              <a:t>4 </a:t>
            </a:r>
            <a:r>
              <a:rPr dirty="0" err="1"/>
              <a:t>objectifs</a:t>
            </a:r>
            <a:r>
              <a:rPr dirty="0"/>
              <a:t> </a:t>
            </a:r>
            <a:r>
              <a:rPr dirty="0" err="1"/>
              <a:t>stratégiques</a:t>
            </a:r>
            <a:r>
              <a:rPr dirty="0"/>
              <a:t> de la </a:t>
            </a:r>
            <a:r>
              <a:rPr dirty="0" err="1"/>
              <a:t>gouvernance</a:t>
            </a:r>
            <a:endParaRPr dirty="0"/>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4 / 21</a:t>
            </a:r>
            <a:endParaRPr dirty="0"/>
          </a:p>
        </p:txBody>
      </p:sp>
      <p:sp>
        <p:nvSpPr>
          <p:cNvPr id="5" name="TextBox 4"/>
          <p:cNvSpPr txBox="1"/>
          <p:nvPr/>
        </p:nvSpPr>
        <p:spPr>
          <a:xfrm>
            <a:off x="548640" y="1371600"/>
            <a:ext cx="3474720" cy="4572000"/>
          </a:xfrm>
          <a:prstGeom prst="rect">
            <a:avLst/>
          </a:prstGeom>
          <a:noFill/>
        </p:spPr>
        <p:txBody>
          <a:bodyPr wrap="square">
            <a:spAutoFit/>
          </a:bodyPr>
          <a:lstStyle/>
          <a:p>
            <a:pPr>
              <a:spcAft>
                <a:spcPts val="2000"/>
              </a:spcAft>
              <a:defRPr sz="1300">
                <a:solidFill>
                  <a:srgbClr val="B3B3B3"/>
                </a:solidFill>
                <a:latin typeface="Arial"/>
              </a:defRPr>
            </a:pPr>
            <a:r>
              <a:rPr dirty="0"/>
              <a:t>La notion de Source Unique de Vérité (SSOT) :</a:t>
            </a:r>
            <a:br>
              <a:rPr dirty="0"/>
            </a:br>
            <a:br>
              <a:rPr dirty="0"/>
            </a:br>
            <a:r>
              <a:rPr dirty="0"/>
              <a:t>Au </a:t>
            </a:r>
            <a:r>
              <a:rPr dirty="0" err="1"/>
              <a:t>cœur</a:t>
            </a:r>
            <a:r>
              <a:rPr dirty="0"/>
              <a:t> de </a:t>
            </a:r>
            <a:r>
              <a:rPr dirty="0" err="1"/>
              <a:t>notre</a:t>
            </a:r>
            <a:r>
              <a:rPr dirty="0"/>
              <a:t> </a:t>
            </a:r>
            <a:r>
              <a:rPr dirty="0" err="1"/>
              <a:t>feuille</a:t>
            </a:r>
            <a:r>
              <a:rPr dirty="0"/>
              <a:t> de route se </a:t>
            </a:r>
            <a:r>
              <a:rPr dirty="0" err="1"/>
              <a:t>trouve</a:t>
            </a:r>
            <a:r>
              <a:rPr dirty="0"/>
              <a:t> la </a:t>
            </a:r>
            <a:r>
              <a:rPr dirty="0" err="1"/>
              <a:t>création</a:t>
            </a:r>
            <a:r>
              <a:rPr dirty="0"/>
              <a:t> d'un </a:t>
            </a:r>
            <a:r>
              <a:rPr dirty="0" err="1"/>
              <a:t>référentiel</a:t>
            </a:r>
            <a:r>
              <a:rPr dirty="0"/>
              <a:t> de données </a:t>
            </a:r>
            <a:r>
              <a:rPr dirty="0" err="1"/>
              <a:t>unifié</a:t>
            </a:r>
            <a:r>
              <a:rPr dirty="0"/>
              <a:t> pour </a:t>
            </a:r>
            <a:r>
              <a:rPr dirty="0" err="1"/>
              <a:t>éradiquer</a:t>
            </a:r>
            <a:r>
              <a:rPr dirty="0"/>
              <a:t> les silos.</a:t>
            </a:r>
            <a:br>
              <a:rPr dirty="0"/>
            </a:br>
            <a:br>
              <a:rPr dirty="0"/>
            </a:br>
            <a:r>
              <a:rPr dirty="0" err="1"/>
              <a:t>Toutes</a:t>
            </a:r>
            <a:r>
              <a:rPr dirty="0"/>
              <a:t> les équipes de Spotify </a:t>
            </a:r>
            <a:r>
              <a:rPr dirty="0" err="1"/>
              <a:t>s'alignent</a:t>
            </a:r>
            <a:r>
              <a:rPr dirty="0"/>
              <a:t> sur </a:t>
            </a:r>
            <a:r>
              <a:rPr dirty="0" err="1"/>
              <a:t>une</a:t>
            </a:r>
            <a:r>
              <a:rPr dirty="0"/>
              <a:t> </a:t>
            </a:r>
            <a:r>
              <a:rPr dirty="0" err="1"/>
              <a:t>sémantique</a:t>
            </a:r>
            <a:r>
              <a:rPr dirty="0"/>
              <a:t> commune de </a:t>
            </a:r>
            <a:r>
              <a:rPr dirty="0" err="1"/>
              <a:t>métadonnées</a:t>
            </a:r>
            <a:r>
              <a:rPr dirty="0"/>
              <a:t> </a:t>
            </a:r>
            <a:r>
              <a:rPr dirty="0" err="1"/>
              <a:t>partagées</a:t>
            </a:r>
            <a:r>
              <a:rPr dirty="0"/>
              <a:t> pour </a:t>
            </a:r>
            <a:r>
              <a:rPr dirty="0" err="1"/>
              <a:t>l'analyse</a:t>
            </a:r>
            <a:r>
              <a:rPr dirty="0"/>
              <a:t> et la </a:t>
            </a:r>
            <a:r>
              <a:rPr dirty="0" err="1"/>
              <a:t>recommandation</a:t>
            </a:r>
            <a:r>
              <a:rPr dirty="0"/>
              <a:t> </a:t>
            </a:r>
            <a:r>
              <a:rPr dirty="0" err="1"/>
              <a:t>d'IA</a:t>
            </a:r>
            <a:r>
              <a:rPr dirty="0"/>
              <a:t>.</a:t>
            </a:r>
          </a:p>
        </p:txBody>
      </p:sp>
      <p:sp>
        <p:nvSpPr>
          <p:cNvPr id="6" name="Rounded Rectangle 5"/>
          <p:cNvSpPr/>
          <p:nvPr/>
        </p:nvSpPr>
        <p:spPr>
          <a:xfrm>
            <a:off x="4297680" y="1371600"/>
            <a:ext cx="347472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62272" y="1536192"/>
            <a:ext cx="314553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t>1. Briser les silos métiers</a:t>
            </a:r>
          </a:p>
          <a:p>
            <a:pPr>
              <a:spcAft>
                <a:spcPts val="400"/>
              </a:spcAft>
              <a:defRPr sz="950" b="1">
                <a:solidFill>
                  <a:srgbClr val="FFFFFF"/>
                </a:solidFill>
                <a:latin typeface="Arial"/>
              </a:defRPr>
            </a:pPr>
            <a:r>
              <a:t>Décloisonnement :</a:t>
            </a:r>
            <a:r>
              <a:rPr sz="950" b="0">
                <a:solidFill>
                  <a:srgbClr val="B3B3B3"/>
                </a:solidFill>
              </a:rPr>
              <a:t> Connecter de manière sécurisée les bases marketing, financières et comportementales.</a:t>
            </a:r>
          </a:p>
          <a:p>
            <a:pPr>
              <a:spcAft>
                <a:spcPts val="400"/>
              </a:spcAft>
              <a:defRPr sz="950" b="1">
                <a:solidFill>
                  <a:srgbClr val="FFFFFF"/>
                </a:solidFill>
                <a:latin typeface="Arial"/>
              </a:defRPr>
            </a:pPr>
            <a:r>
              <a:t>Coopération :</a:t>
            </a:r>
            <a:r>
              <a:rPr sz="950" b="0">
                <a:solidFill>
                  <a:srgbClr val="B3B3B3"/>
                </a:solidFill>
              </a:rPr>
              <a:t> Harmoniser les pipelines pour éliminer les doublons techniques.</a:t>
            </a:r>
          </a:p>
        </p:txBody>
      </p:sp>
      <p:sp>
        <p:nvSpPr>
          <p:cNvPr id="8" name="Rounded Rectangle 7"/>
          <p:cNvSpPr/>
          <p:nvPr/>
        </p:nvSpPr>
        <p:spPr>
          <a:xfrm>
            <a:off x="8046720" y="1371600"/>
            <a:ext cx="35661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536192"/>
            <a:ext cx="323697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t>2. Conformité stricte &amp; globale</a:t>
            </a:r>
          </a:p>
          <a:p>
            <a:pPr>
              <a:spcAft>
                <a:spcPts val="400"/>
              </a:spcAft>
              <a:defRPr sz="950" b="1">
                <a:solidFill>
                  <a:srgbClr val="FFFFFF"/>
                </a:solidFill>
                <a:latin typeface="Arial"/>
              </a:defRPr>
            </a:pPr>
            <a:r>
              <a:t>Multi-régulations :</a:t>
            </a:r>
            <a:r>
              <a:rPr sz="950" b="0">
                <a:solidFill>
                  <a:srgbClr val="B3B3B3"/>
                </a:solidFill>
              </a:rPr>
              <a:t> Assurer la conformité automatisée RGPD (Europe), CCPA (Californie) et PCI-DSS.</a:t>
            </a:r>
          </a:p>
          <a:p>
            <a:pPr>
              <a:spcAft>
                <a:spcPts val="400"/>
              </a:spcAft>
              <a:defRPr sz="950" b="1">
                <a:solidFill>
                  <a:srgbClr val="FFFFFF"/>
                </a:solidFill>
                <a:latin typeface="Arial"/>
              </a:defRPr>
            </a:pPr>
            <a:r>
              <a:t>Confiance :</a:t>
            </a:r>
            <a:r>
              <a:rPr sz="950" b="0">
                <a:solidFill>
                  <a:srgbClr val="B3B3B3"/>
                </a:solidFill>
              </a:rPr>
              <a:t> Garantir la souveraineté et le respect des droits des abonnés.</a:t>
            </a:r>
          </a:p>
        </p:txBody>
      </p:sp>
      <p:sp>
        <p:nvSpPr>
          <p:cNvPr id="10" name="Rounded Rectangle 9"/>
          <p:cNvSpPr/>
          <p:nvPr/>
        </p:nvSpPr>
        <p:spPr>
          <a:xfrm>
            <a:off x="4297680" y="3749039"/>
            <a:ext cx="347472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62272" y="3913631"/>
            <a:ext cx="314553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t>3. Qualité de donnée accrue</a:t>
            </a:r>
          </a:p>
          <a:p>
            <a:pPr>
              <a:spcAft>
                <a:spcPts val="400"/>
              </a:spcAft>
              <a:defRPr sz="950" b="1">
                <a:solidFill>
                  <a:srgbClr val="FFFFFF"/>
                </a:solidFill>
                <a:latin typeface="Arial"/>
              </a:defRPr>
            </a:pPr>
            <a:r>
              <a:t>Exactitude accrue :</a:t>
            </a:r>
            <a:r>
              <a:rPr sz="950" b="0">
                <a:solidFill>
                  <a:srgbClr val="B3B3B3"/>
                </a:solidFill>
              </a:rPr>
              <a:t> Améliorer les indicateurs de qualité de 20 % à l'ingestion.</a:t>
            </a:r>
          </a:p>
          <a:p>
            <a:pPr>
              <a:spcAft>
                <a:spcPts val="400"/>
              </a:spcAft>
              <a:defRPr sz="950" b="1">
                <a:solidFill>
                  <a:srgbClr val="FFFFFF"/>
                </a:solidFill>
                <a:latin typeface="Arial"/>
              </a:defRPr>
            </a:pPr>
            <a:r>
              <a:t>Algorithmes fiables :</a:t>
            </a:r>
            <a:r>
              <a:rPr sz="950" b="0">
                <a:solidFill>
                  <a:srgbClr val="B3B3B3"/>
                </a:solidFill>
              </a:rPr>
              <a:t> Fournir des données propres pour éliminer les biais des modèles d'IA.</a:t>
            </a:r>
          </a:p>
        </p:txBody>
      </p:sp>
      <p:sp>
        <p:nvSpPr>
          <p:cNvPr id="12" name="Rounded Rectangle 11"/>
          <p:cNvSpPr/>
          <p:nvPr/>
        </p:nvSpPr>
        <p:spPr>
          <a:xfrm>
            <a:off x="8046720" y="3749039"/>
            <a:ext cx="35661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11312" y="3913631"/>
            <a:ext cx="323697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t>4. Source unique de vérité</a:t>
            </a:r>
          </a:p>
          <a:p>
            <a:pPr>
              <a:spcAft>
                <a:spcPts val="400"/>
              </a:spcAft>
              <a:defRPr sz="950" b="1">
                <a:solidFill>
                  <a:srgbClr val="FFFFFF"/>
                </a:solidFill>
                <a:latin typeface="Arial"/>
              </a:defRPr>
            </a:pPr>
            <a:r>
              <a:t>Master Data unifié :</a:t>
            </a:r>
            <a:r>
              <a:rPr sz="950" b="0">
                <a:solidFill>
                  <a:srgbClr val="B3B3B3"/>
                </a:solidFill>
              </a:rPr>
              <a:t> Standardiser les modèles conceptuels de référence.</a:t>
            </a:r>
          </a:p>
          <a:p>
            <a:pPr>
              <a:spcAft>
                <a:spcPts val="400"/>
              </a:spcAft>
              <a:defRPr sz="950" b="1">
                <a:solidFill>
                  <a:srgbClr val="FFFFFF"/>
                </a:solidFill>
                <a:latin typeface="Arial"/>
              </a:defRPr>
            </a:pPr>
            <a:r>
              <a:t>Catalogue central :</a:t>
            </a:r>
            <a:r>
              <a:rPr sz="950" b="0">
                <a:solidFill>
                  <a:srgbClr val="B3B3B3"/>
                </a:solidFill>
              </a:rPr>
              <a:t> Backstage comme registre universel, traçable et auditable.</a:t>
            </a:r>
          </a:p>
        </p:txBody>
      </p:sp>
      <p:grpSp>
        <p:nvGrpSpPr>
          <p:cNvPr id="14" name="Groupe 13">
            <a:extLst>
              <a:ext uri="{FF2B5EF4-FFF2-40B4-BE49-F238E27FC236}">
                <a16:creationId xmlns:a16="http://schemas.microsoft.com/office/drawing/2014/main" id="{0E5A9A30-E3AB-0367-2077-59C86D28E707}"/>
              </a:ext>
            </a:extLst>
          </p:cNvPr>
          <p:cNvGrpSpPr/>
          <p:nvPr/>
        </p:nvGrpSpPr>
        <p:grpSpPr>
          <a:xfrm>
            <a:off x="477659" y="154645"/>
            <a:ext cx="10866616" cy="230832"/>
            <a:chOff x="172859" y="1103789"/>
            <a:chExt cx="10866616" cy="230832"/>
          </a:xfrm>
        </p:grpSpPr>
        <p:sp>
          <p:nvSpPr>
            <p:cNvPr id="15" name="ZoneTexte 14">
              <a:extLst>
                <a:ext uri="{FF2B5EF4-FFF2-40B4-BE49-F238E27FC236}">
                  <a16:creationId xmlns:a16="http://schemas.microsoft.com/office/drawing/2014/main" id="{F7985CFA-D570-8029-57A2-35B4186EDE36}"/>
                </a:ext>
              </a:extLst>
            </p:cNvPr>
            <p:cNvSpPr txBox="1"/>
            <p:nvPr/>
          </p:nvSpPr>
          <p:spPr>
            <a:xfrm>
              <a:off x="172859" y="1103789"/>
              <a:ext cx="1568259"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6" name="ZoneTexte 15">
              <a:extLst>
                <a:ext uri="{FF2B5EF4-FFF2-40B4-BE49-F238E27FC236}">
                  <a16:creationId xmlns:a16="http://schemas.microsoft.com/office/drawing/2014/main" id="{5A6B9BD7-1DE9-BC9E-9B14-194CF293960B}"/>
                </a:ext>
              </a:extLst>
            </p:cNvPr>
            <p:cNvSpPr txBox="1"/>
            <p:nvPr/>
          </p:nvSpPr>
          <p:spPr>
            <a:xfrm>
              <a:off x="1671599"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7" name="ZoneTexte 16">
              <a:extLst>
                <a:ext uri="{FF2B5EF4-FFF2-40B4-BE49-F238E27FC236}">
                  <a16:creationId xmlns:a16="http://schemas.microsoft.com/office/drawing/2014/main" id="{B0F93CE0-957F-32AE-CA85-EFFDD723EEC0}"/>
                </a:ext>
              </a:extLst>
            </p:cNvPr>
            <p:cNvSpPr txBox="1"/>
            <p:nvPr/>
          </p:nvSpPr>
          <p:spPr>
            <a:xfrm>
              <a:off x="4296533"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8" name="ZoneTexte 17">
              <a:extLst>
                <a:ext uri="{FF2B5EF4-FFF2-40B4-BE49-F238E27FC236}">
                  <a16:creationId xmlns:a16="http://schemas.microsoft.com/office/drawing/2014/main" id="{B88C3859-E3C9-A549-3AB4-AB2DAB16F6A3}"/>
                </a:ext>
              </a:extLst>
            </p:cNvPr>
            <p:cNvSpPr txBox="1"/>
            <p:nvPr/>
          </p:nvSpPr>
          <p:spPr>
            <a:xfrm>
              <a:off x="6921467"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9" name="ZoneTexte 18">
              <a:extLst>
                <a:ext uri="{FF2B5EF4-FFF2-40B4-BE49-F238E27FC236}">
                  <a16:creationId xmlns:a16="http://schemas.microsoft.com/office/drawing/2014/main" id="{48F497DD-0E8B-912E-BD75-6D3A56B05E8A}"/>
                </a:ext>
              </a:extLst>
            </p:cNvPr>
            <p:cNvSpPr txBox="1"/>
            <p:nvPr/>
          </p:nvSpPr>
          <p:spPr>
            <a:xfrm>
              <a:off x="9088051" y="110378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7A17EE5-7DBA-B366-88E9-82227E4ECFB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9616E5-E6F7-987A-FD31-EDCCB472276F}"/>
              </a:ext>
            </a:extLst>
          </p:cNvPr>
          <p:cNvSpPr txBox="1"/>
          <p:nvPr/>
        </p:nvSpPr>
        <p:spPr>
          <a:xfrm>
            <a:off x="548640" y="502920"/>
            <a:ext cx="10058400" cy="400110"/>
          </a:xfrm>
          <a:prstGeom prst="rect">
            <a:avLst/>
          </a:prstGeom>
          <a:noFill/>
        </p:spPr>
        <p:txBody>
          <a:bodyPr wrap="square" lIns="0" tIns="0" rIns="0" bIns="0">
            <a:spAutoFit/>
          </a:bodyPr>
          <a:lstStyle/>
          <a:p>
            <a:pPr>
              <a:defRPr sz="2600" b="1">
                <a:solidFill>
                  <a:srgbClr val="FFFFFF"/>
                </a:solidFill>
                <a:latin typeface="Arial"/>
              </a:defRPr>
            </a:pPr>
            <a:r>
              <a:rPr lang="fr-FR" dirty="0"/>
              <a:t>Cadre d’analyse </a:t>
            </a:r>
            <a:r>
              <a:rPr dirty="0"/>
              <a:t>DMBOK</a:t>
            </a:r>
          </a:p>
        </p:txBody>
      </p:sp>
      <p:sp>
        <p:nvSpPr>
          <p:cNvPr id="4" name="TextBox 3">
            <a:extLst>
              <a:ext uri="{FF2B5EF4-FFF2-40B4-BE49-F238E27FC236}">
                <a16:creationId xmlns:a16="http://schemas.microsoft.com/office/drawing/2014/main" id="{4744F94B-6229-E34A-320E-0D6DEBA441FA}"/>
              </a:ext>
            </a:extLst>
          </p:cNvPr>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5 / 21</a:t>
            </a:r>
            <a:endParaRPr dirty="0"/>
          </a:p>
        </p:txBody>
      </p:sp>
      <p:pic>
        <p:nvPicPr>
          <p:cNvPr id="22" name="Image 21">
            <a:extLst>
              <a:ext uri="{FF2B5EF4-FFF2-40B4-BE49-F238E27FC236}">
                <a16:creationId xmlns:a16="http://schemas.microsoft.com/office/drawing/2014/main" id="{571D6616-2EAA-56CA-AF1B-F906A118B218}"/>
              </a:ext>
            </a:extLst>
          </p:cNvPr>
          <p:cNvPicPr>
            <a:picLocks noChangeAspect="1"/>
          </p:cNvPicPr>
          <p:nvPr/>
        </p:nvPicPr>
        <p:blipFill>
          <a:blip r:embed="rId3"/>
          <a:srcRect t="4769"/>
          <a:stretch>
            <a:fillRect/>
          </a:stretch>
        </p:blipFill>
        <p:spPr>
          <a:xfrm>
            <a:off x="548640" y="1457324"/>
            <a:ext cx="10830292" cy="4450991"/>
          </a:xfrm>
          <a:prstGeom prst="rect">
            <a:avLst/>
          </a:prstGeom>
        </p:spPr>
      </p:pic>
      <p:sp>
        <p:nvSpPr>
          <p:cNvPr id="5" name="TextBox 1">
            <a:extLst>
              <a:ext uri="{FF2B5EF4-FFF2-40B4-BE49-F238E27FC236}">
                <a16:creationId xmlns:a16="http://schemas.microsoft.com/office/drawing/2014/main" id="{28D16706-48C2-74D5-55A5-1ADE6A866487}"/>
              </a:ext>
            </a:extLst>
          </p:cNvPr>
          <p:cNvSpPr txBox="1"/>
          <p:nvPr/>
        </p:nvSpPr>
        <p:spPr>
          <a:xfrm>
            <a:off x="548640" y="228600"/>
            <a:ext cx="10956516" cy="153888"/>
          </a:xfrm>
          <a:prstGeom prst="rect">
            <a:avLst/>
          </a:prstGeom>
          <a:noFill/>
        </p:spPr>
        <p:txBody>
          <a:bodyPr wrap="square" lIns="0" tIns="0" rIns="0" bIns="0">
            <a:spAutoFit/>
          </a:bodyPr>
          <a:lstStyle/>
          <a:p>
            <a:pPr>
              <a:defRPr sz="1000" b="1">
                <a:solidFill>
                  <a:srgbClr val="1DB954"/>
                </a:solidFill>
                <a:latin typeface="Arial"/>
              </a:defRPr>
            </a:pPr>
            <a:r>
              <a:rPr lang="fr-FR" dirty="0">
                <a:solidFill>
                  <a:schemeClr val="bg1">
                    <a:lumMod val="50000"/>
                  </a:schemeClr>
                </a:solidFill>
              </a:rPr>
              <a:t>1. Diagnostic de maturité </a:t>
            </a:r>
            <a:r>
              <a:rPr lang="fr-FR" sz="1000" b="1" dirty="0">
                <a:solidFill>
                  <a:schemeClr val="bg1">
                    <a:lumMod val="50000"/>
                  </a:schemeClr>
                </a:solidFill>
                <a:latin typeface="Arial"/>
              </a:rPr>
              <a:t>&gt;&gt; </a:t>
            </a:r>
            <a:r>
              <a:rPr lang="fr-FR" sz="1000" b="1" dirty="0">
                <a:solidFill>
                  <a:srgbClr val="1DB954"/>
                </a:solidFill>
                <a:latin typeface="Arial"/>
              </a:rPr>
              <a:t>2. Modèle opératoire cible &amp; organisation </a:t>
            </a:r>
            <a:r>
              <a:rPr lang="fr-FR" dirty="0">
                <a:solidFill>
                  <a:schemeClr val="bg1">
                    <a:lumMod val="50000"/>
                  </a:schemeClr>
                </a:solidFill>
              </a:rPr>
              <a:t>&gt;&gt; 3. Architecture de données  &amp; conformité &gt;&gt; 4. POC  et protocoles d’urgence &gt;&gt; 5. Roadmap &amp; Valorisation</a:t>
            </a:r>
            <a:endParaRPr dirty="0">
              <a:solidFill>
                <a:schemeClr val="bg1">
                  <a:lumMod val="50000"/>
                </a:schemeClr>
              </a:solidFill>
            </a:endParaRPr>
          </a:p>
        </p:txBody>
      </p:sp>
      <p:grpSp>
        <p:nvGrpSpPr>
          <p:cNvPr id="18" name="Groupe 17">
            <a:extLst>
              <a:ext uri="{FF2B5EF4-FFF2-40B4-BE49-F238E27FC236}">
                <a16:creationId xmlns:a16="http://schemas.microsoft.com/office/drawing/2014/main" id="{FFB8ABD5-8389-4D3A-A7C5-286E93B05CB4}"/>
              </a:ext>
            </a:extLst>
          </p:cNvPr>
          <p:cNvGrpSpPr/>
          <p:nvPr/>
        </p:nvGrpSpPr>
        <p:grpSpPr>
          <a:xfrm>
            <a:off x="477659" y="154645"/>
            <a:ext cx="10866616" cy="230832"/>
            <a:chOff x="172859" y="1103789"/>
            <a:chExt cx="10866616" cy="230832"/>
          </a:xfrm>
        </p:grpSpPr>
        <p:sp>
          <p:nvSpPr>
            <p:cNvPr id="19" name="ZoneTexte 18">
              <a:extLst>
                <a:ext uri="{FF2B5EF4-FFF2-40B4-BE49-F238E27FC236}">
                  <a16:creationId xmlns:a16="http://schemas.microsoft.com/office/drawing/2014/main" id="{8E0A4ECF-8D84-2128-3273-95B64A27ADD0}"/>
                </a:ext>
              </a:extLst>
            </p:cNvPr>
            <p:cNvSpPr txBox="1"/>
            <p:nvPr/>
          </p:nvSpPr>
          <p:spPr>
            <a:xfrm>
              <a:off x="172859" y="1103789"/>
              <a:ext cx="1568259"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20" name="ZoneTexte 19">
              <a:extLst>
                <a:ext uri="{FF2B5EF4-FFF2-40B4-BE49-F238E27FC236}">
                  <a16:creationId xmlns:a16="http://schemas.microsoft.com/office/drawing/2014/main" id="{134CB37D-7600-67DA-8DD3-DE7F9A06E1BE}"/>
                </a:ext>
              </a:extLst>
            </p:cNvPr>
            <p:cNvSpPr txBox="1"/>
            <p:nvPr/>
          </p:nvSpPr>
          <p:spPr>
            <a:xfrm>
              <a:off x="1671599"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21" name="ZoneTexte 20">
              <a:extLst>
                <a:ext uri="{FF2B5EF4-FFF2-40B4-BE49-F238E27FC236}">
                  <a16:creationId xmlns:a16="http://schemas.microsoft.com/office/drawing/2014/main" id="{6FE06A97-2248-BF90-8DF9-39CB004ECC63}"/>
                </a:ext>
              </a:extLst>
            </p:cNvPr>
            <p:cNvSpPr txBox="1"/>
            <p:nvPr/>
          </p:nvSpPr>
          <p:spPr>
            <a:xfrm>
              <a:off x="4296533"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23" name="ZoneTexte 22">
              <a:extLst>
                <a:ext uri="{FF2B5EF4-FFF2-40B4-BE49-F238E27FC236}">
                  <a16:creationId xmlns:a16="http://schemas.microsoft.com/office/drawing/2014/main" id="{6FC60111-5DBD-B807-D1AE-A2E8F825E6ED}"/>
                </a:ext>
              </a:extLst>
            </p:cNvPr>
            <p:cNvSpPr txBox="1"/>
            <p:nvPr/>
          </p:nvSpPr>
          <p:spPr>
            <a:xfrm>
              <a:off x="6921467"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24" name="ZoneTexte 23">
              <a:extLst>
                <a:ext uri="{FF2B5EF4-FFF2-40B4-BE49-F238E27FC236}">
                  <a16:creationId xmlns:a16="http://schemas.microsoft.com/office/drawing/2014/main" id="{E58FDEE5-D30A-BE58-C89F-396259447AE8}"/>
                </a:ext>
              </a:extLst>
            </p:cNvPr>
            <p:cNvSpPr txBox="1"/>
            <p:nvPr/>
          </p:nvSpPr>
          <p:spPr>
            <a:xfrm>
              <a:off x="9088051" y="110378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extLst>
      <p:ext uri="{BB962C8B-B14F-4D97-AF65-F5344CB8AC3E}">
        <p14:creationId xmlns:p14="http://schemas.microsoft.com/office/powerpoint/2010/main" val="1479577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54962E39-A483-1CEF-EF53-8B971D70E0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1070B8-AD0C-F3EA-FE1B-0B08FBAB3C6C}"/>
              </a:ext>
            </a:extLst>
          </p:cNvPr>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PRINCIPES DE GOUVERNANCE</a:t>
            </a:r>
          </a:p>
        </p:txBody>
      </p:sp>
      <p:sp>
        <p:nvSpPr>
          <p:cNvPr id="3" name="TextBox 2">
            <a:extLst>
              <a:ext uri="{FF2B5EF4-FFF2-40B4-BE49-F238E27FC236}">
                <a16:creationId xmlns:a16="http://schemas.microsoft.com/office/drawing/2014/main" id="{E3B81B22-5F17-2CD7-158F-5D5A4E49AAB8}"/>
              </a:ext>
            </a:extLst>
          </p:cNvPr>
          <p:cNvSpPr txBox="1"/>
          <p:nvPr/>
        </p:nvSpPr>
        <p:spPr>
          <a:xfrm>
            <a:off x="548640" y="502920"/>
            <a:ext cx="10058400" cy="400110"/>
          </a:xfrm>
          <a:prstGeom prst="rect">
            <a:avLst/>
          </a:prstGeom>
          <a:noFill/>
        </p:spPr>
        <p:txBody>
          <a:bodyPr wrap="square" lIns="0" tIns="0" rIns="0" bIns="0">
            <a:spAutoFit/>
          </a:bodyPr>
          <a:lstStyle/>
          <a:p>
            <a:pPr>
              <a:defRPr sz="2600" b="1">
                <a:solidFill>
                  <a:srgbClr val="FFFFFF"/>
                </a:solidFill>
                <a:latin typeface="Arial"/>
              </a:defRPr>
            </a:pPr>
            <a:r>
              <a:rPr lang="fr-FR" dirty="0"/>
              <a:t>Principes </a:t>
            </a:r>
            <a:r>
              <a:rPr dirty="0" err="1"/>
              <a:t>fondamentaux</a:t>
            </a:r>
            <a:r>
              <a:rPr dirty="0"/>
              <a:t> </a:t>
            </a:r>
            <a:r>
              <a:rPr lang="fr-FR" dirty="0"/>
              <a:t>vs</a:t>
            </a:r>
            <a:r>
              <a:rPr dirty="0"/>
              <a:t> axes DMBOK</a:t>
            </a:r>
          </a:p>
        </p:txBody>
      </p:sp>
      <p:sp>
        <p:nvSpPr>
          <p:cNvPr id="4" name="TextBox 3">
            <a:extLst>
              <a:ext uri="{FF2B5EF4-FFF2-40B4-BE49-F238E27FC236}">
                <a16:creationId xmlns:a16="http://schemas.microsoft.com/office/drawing/2014/main" id="{2363B36E-EFD0-67FC-59CE-FC14D575BD72}"/>
              </a:ext>
            </a:extLst>
          </p:cNvPr>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6 / 21</a:t>
            </a:r>
          </a:p>
        </p:txBody>
      </p:sp>
      <p:pic>
        <p:nvPicPr>
          <p:cNvPr id="22" name="Image 21">
            <a:extLst>
              <a:ext uri="{FF2B5EF4-FFF2-40B4-BE49-F238E27FC236}">
                <a16:creationId xmlns:a16="http://schemas.microsoft.com/office/drawing/2014/main" id="{2C32899F-8C02-1580-8D8C-0711ABAE99B8}"/>
              </a:ext>
            </a:extLst>
          </p:cNvPr>
          <p:cNvPicPr>
            <a:picLocks noChangeAspect="1"/>
          </p:cNvPicPr>
          <p:nvPr/>
        </p:nvPicPr>
        <p:blipFill>
          <a:blip r:embed="rId3"/>
          <a:srcRect t="4636"/>
          <a:stretch>
            <a:fillRect/>
          </a:stretch>
        </p:blipFill>
        <p:spPr>
          <a:xfrm>
            <a:off x="548640" y="1027706"/>
            <a:ext cx="11643360" cy="4405790"/>
          </a:xfrm>
          <a:prstGeom prst="rect">
            <a:avLst/>
          </a:prstGeom>
        </p:spPr>
      </p:pic>
      <p:grpSp>
        <p:nvGrpSpPr>
          <p:cNvPr id="11" name="Groupe 10">
            <a:extLst>
              <a:ext uri="{FF2B5EF4-FFF2-40B4-BE49-F238E27FC236}">
                <a16:creationId xmlns:a16="http://schemas.microsoft.com/office/drawing/2014/main" id="{C4A1C01F-D260-4D48-D3B5-EB19A78D86F6}"/>
              </a:ext>
            </a:extLst>
          </p:cNvPr>
          <p:cNvGrpSpPr/>
          <p:nvPr/>
        </p:nvGrpSpPr>
        <p:grpSpPr>
          <a:xfrm>
            <a:off x="477659" y="154645"/>
            <a:ext cx="10866616" cy="230832"/>
            <a:chOff x="172859" y="1103789"/>
            <a:chExt cx="10866616" cy="230832"/>
          </a:xfrm>
        </p:grpSpPr>
        <p:sp>
          <p:nvSpPr>
            <p:cNvPr id="12" name="ZoneTexte 11">
              <a:extLst>
                <a:ext uri="{FF2B5EF4-FFF2-40B4-BE49-F238E27FC236}">
                  <a16:creationId xmlns:a16="http://schemas.microsoft.com/office/drawing/2014/main" id="{409D5DA5-6297-E4B8-3E4A-F4E0AFD38EC4}"/>
                </a:ext>
              </a:extLst>
            </p:cNvPr>
            <p:cNvSpPr txBox="1"/>
            <p:nvPr/>
          </p:nvSpPr>
          <p:spPr>
            <a:xfrm>
              <a:off x="172859" y="1103789"/>
              <a:ext cx="1568259"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3" name="ZoneTexte 12">
              <a:extLst>
                <a:ext uri="{FF2B5EF4-FFF2-40B4-BE49-F238E27FC236}">
                  <a16:creationId xmlns:a16="http://schemas.microsoft.com/office/drawing/2014/main" id="{1EE34333-AF1F-CC6D-FE40-7DB50B07C1CC}"/>
                </a:ext>
              </a:extLst>
            </p:cNvPr>
            <p:cNvSpPr txBox="1"/>
            <p:nvPr/>
          </p:nvSpPr>
          <p:spPr>
            <a:xfrm>
              <a:off x="1671599"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4" name="ZoneTexte 13">
              <a:extLst>
                <a:ext uri="{FF2B5EF4-FFF2-40B4-BE49-F238E27FC236}">
                  <a16:creationId xmlns:a16="http://schemas.microsoft.com/office/drawing/2014/main" id="{EC6029A2-412B-9CD6-34C5-7D50AC2B8A76}"/>
                </a:ext>
              </a:extLst>
            </p:cNvPr>
            <p:cNvSpPr txBox="1"/>
            <p:nvPr/>
          </p:nvSpPr>
          <p:spPr>
            <a:xfrm>
              <a:off x="4296533"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5" name="ZoneTexte 14">
              <a:extLst>
                <a:ext uri="{FF2B5EF4-FFF2-40B4-BE49-F238E27FC236}">
                  <a16:creationId xmlns:a16="http://schemas.microsoft.com/office/drawing/2014/main" id="{045B9A49-1B0A-AA3A-F301-9EA9EDA4C6C9}"/>
                </a:ext>
              </a:extLst>
            </p:cNvPr>
            <p:cNvSpPr txBox="1"/>
            <p:nvPr/>
          </p:nvSpPr>
          <p:spPr>
            <a:xfrm>
              <a:off x="6921467" y="110378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6" name="ZoneTexte 15">
              <a:extLst>
                <a:ext uri="{FF2B5EF4-FFF2-40B4-BE49-F238E27FC236}">
                  <a16:creationId xmlns:a16="http://schemas.microsoft.com/office/drawing/2014/main" id="{5E30C516-D50D-027D-AE61-6C86B98CF689}"/>
                </a:ext>
              </a:extLst>
            </p:cNvPr>
            <p:cNvSpPr txBox="1"/>
            <p:nvPr/>
          </p:nvSpPr>
          <p:spPr>
            <a:xfrm>
              <a:off x="9088051" y="110378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extLst>
      <p:ext uri="{BB962C8B-B14F-4D97-AF65-F5344CB8AC3E}">
        <p14:creationId xmlns:p14="http://schemas.microsoft.com/office/powerpoint/2010/main" val="1215377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rPr dirty="0"/>
              <a:t>MODÈLE ORGANISATIONNEL</a:t>
            </a:r>
          </a:p>
        </p:txBody>
      </p:sp>
      <p:sp>
        <p:nvSpPr>
          <p:cNvPr id="3" name="TextBox 2"/>
          <p:cNvSpPr txBox="1"/>
          <p:nvPr/>
        </p:nvSpPr>
        <p:spPr>
          <a:xfrm>
            <a:off x="548640" y="502920"/>
            <a:ext cx="10058400" cy="400110"/>
          </a:xfrm>
          <a:prstGeom prst="rect">
            <a:avLst/>
          </a:prstGeom>
          <a:noFill/>
        </p:spPr>
        <p:txBody>
          <a:bodyPr wrap="square" lIns="0" tIns="0" rIns="0" bIns="0">
            <a:spAutoFit/>
          </a:bodyPr>
          <a:lstStyle/>
          <a:p>
            <a:pPr>
              <a:defRPr sz="2600" b="1">
                <a:solidFill>
                  <a:srgbClr val="FFFFFF"/>
                </a:solidFill>
                <a:latin typeface="Arial"/>
              </a:defRPr>
            </a:pPr>
            <a:r>
              <a:rPr dirty="0"/>
              <a:t>Adoption du </a:t>
            </a:r>
            <a:r>
              <a:rPr dirty="0" err="1"/>
              <a:t>modèle</a:t>
            </a:r>
            <a:r>
              <a:rPr dirty="0"/>
              <a:t> </a:t>
            </a:r>
            <a:r>
              <a:rPr lang="fr-FR" dirty="0"/>
              <a:t>"</a:t>
            </a:r>
            <a:r>
              <a:rPr dirty="0"/>
              <a:t>center of excellence</a:t>
            </a:r>
            <a:r>
              <a:rPr lang="fr-FR" dirty="0"/>
              <a:t>"</a:t>
            </a:r>
            <a:r>
              <a:rPr dirty="0"/>
              <a:t> (</a:t>
            </a:r>
            <a:r>
              <a:rPr dirty="0" err="1"/>
              <a:t>CoE</a:t>
            </a:r>
            <a:r>
              <a:rPr dirty="0"/>
              <a:t>)</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7 / 21</a:t>
            </a:r>
            <a:endParaRPr dirty="0"/>
          </a:p>
        </p:txBody>
      </p:sp>
      <p:sp>
        <p:nvSpPr>
          <p:cNvPr id="5" name="TextBox 4"/>
          <p:cNvSpPr txBox="1"/>
          <p:nvPr/>
        </p:nvSpPr>
        <p:spPr>
          <a:xfrm>
            <a:off x="548640" y="1371600"/>
            <a:ext cx="3474720" cy="4572000"/>
          </a:xfrm>
          <a:prstGeom prst="rect">
            <a:avLst/>
          </a:prstGeom>
          <a:noFill/>
        </p:spPr>
        <p:txBody>
          <a:bodyPr wrap="square">
            <a:spAutoFit/>
          </a:bodyPr>
          <a:lstStyle/>
          <a:p>
            <a:pPr>
              <a:spcAft>
                <a:spcPts val="2000"/>
              </a:spcAft>
              <a:defRPr sz="1300">
                <a:solidFill>
                  <a:srgbClr val="B3B3B3"/>
                </a:solidFill>
                <a:latin typeface="Arial"/>
              </a:defRPr>
            </a:pPr>
            <a:r>
              <a:rPr dirty="0" err="1"/>
              <a:t>Pourquoi</a:t>
            </a:r>
            <a:r>
              <a:rPr dirty="0"/>
              <a:t> un Center of Excellence (</a:t>
            </a:r>
            <a:r>
              <a:rPr dirty="0" err="1"/>
              <a:t>CoE</a:t>
            </a:r>
            <a:r>
              <a:rPr dirty="0"/>
              <a:t>) ?</a:t>
            </a:r>
            <a:br>
              <a:rPr dirty="0"/>
            </a:br>
            <a:br>
              <a:rPr dirty="0"/>
            </a:br>
            <a:r>
              <a:rPr dirty="0"/>
              <a:t>Ce </a:t>
            </a:r>
            <a:r>
              <a:rPr dirty="0" err="1"/>
              <a:t>modèle</a:t>
            </a:r>
            <a:r>
              <a:rPr dirty="0"/>
              <a:t> </a:t>
            </a:r>
            <a:r>
              <a:rPr dirty="0" err="1"/>
              <a:t>garantit</a:t>
            </a:r>
            <a:r>
              <a:rPr dirty="0"/>
              <a:t> </a:t>
            </a:r>
            <a:r>
              <a:rPr dirty="0" err="1"/>
              <a:t>l'alignement</a:t>
            </a:r>
            <a:r>
              <a:rPr dirty="0"/>
              <a:t> global pour plus de 7 000 </a:t>
            </a:r>
            <a:r>
              <a:rPr dirty="0" err="1"/>
              <a:t>collaborateurs</a:t>
            </a:r>
            <a:r>
              <a:rPr dirty="0"/>
              <a:t> </a:t>
            </a:r>
            <a:r>
              <a:rPr dirty="0" err="1"/>
              <a:t>répartis</a:t>
            </a:r>
            <a:r>
              <a:rPr dirty="0"/>
              <a:t> </a:t>
            </a:r>
            <a:r>
              <a:rPr dirty="0" err="1"/>
              <a:t>mondialement</a:t>
            </a:r>
            <a:r>
              <a:rPr dirty="0"/>
              <a:t>.</a:t>
            </a:r>
            <a:br>
              <a:rPr dirty="0"/>
            </a:br>
            <a:br>
              <a:rPr dirty="0"/>
            </a:br>
            <a:r>
              <a:rPr dirty="0"/>
              <a:t>Il assure </a:t>
            </a:r>
            <a:r>
              <a:rPr dirty="0" err="1"/>
              <a:t>une</a:t>
            </a:r>
            <a:r>
              <a:rPr dirty="0"/>
              <a:t> coordination centrale tout </a:t>
            </a:r>
            <a:r>
              <a:rPr dirty="0" err="1"/>
              <a:t>en</a:t>
            </a:r>
            <a:r>
              <a:rPr dirty="0"/>
              <a:t> </a:t>
            </a:r>
            <a:r>
              <a:rPr dirty="0" err="1"/>
              <a:t>embarquant</a:t>
            </a:r>
            <a:r>
              <a:rPr dirty="0"/>
              <a:t> </a:t>
            </a:r>
            <a:r>
              <a:rPr dirty="0" err="1"/>
              <a:t>l'expertise</a:t>
            </a:r>
            <a:r>
              <a:rPr dirty="0"/>
              <a:t> </a:t>
            </a:r>
            <a:r>
              <a:rPr dirty="0" err="1"/>
              <a:t>directement</a:t>
            </a:r>
            <a:r>
              <a:rPr dirty="0"/>
              <a:t> dans les divisions métiers.</a:t>
            </a:r>
          </a:p>
        </p:txBody>
      </p:sp>
      <p:sp>
        <p:nvSpPr>
          <p:cNvPr id="6" name="Rounded Rectangle 5"/>
          <p:cNvSpPr/>
          <p:nvPr/>
        </p:nvSpPr>
        <p:spPr>
          <a:xfrm>
            <a:off x="4297680" y="1371600"/>
            <a:ext cx="347472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62272" y="1536192"/>
            <a:ext cx="314553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Division marketing</a:t>
            </a:r>
          </a:p>
          <a:p>
            <a:pPr>
              <a:spcAft>
                <a:spcPts val="400"/>
              </a:spcAft>
              <a:defRPr sz="950" b="1">
                <a:solidFill>
                  <a:srgbClr val="FFFFFF"/>
                </a:solidFill>
                <a:latin typeface="Arial"/>
              </a:defRPr>
            </a:pPr>
            <a:r>
              <a:rPr dirty="0" err="1"/>
              <a:t>Périmètre</a:t>
            </a:r>
            <a:r>
              <a:rPr dirty="0"/>
              <a:t> :</a:t>
            </a:r>
            <a:r>
              <a:rPr sz="950" b="0" dirty="0">
                <a:solidFill>
                  <a:srgbClr val="B3B3B3"/>
                </a:solidFill>
              </a:rPr>
              <a:t> Données de prospects, </a:t>
            </a:r>
            <a:r>
              <a:rPr sz="950" b="0" dirty="0" err="1">
                <a:solidFill>
                  <a:srgbClr val="B3B3B3"/>
                </a:solidFill>
              </a:rPr>
              <a:t>comportement</a:t>
            </a:r>
            <a:r>
              <a:rPr sz="950" b="0" dirty="0">
                <a:solidFill>
                  <a:srgbClr val="B3B3B3"/>
                </a:solidFill>
              </a:rPr>
              <a:t> de streaming.</a:t>
            </a:r>
          </a:p>
          <a:p>
            <a:pPr>
              <a:spcAft>
                <a:spcPts val="400"/>
              </a:spcAft>
              <a:defRPr sz="950" b="1">
                <a:solidFill>
                  <a:srgbClr val="FFFFFF"/>
                </a:solidFill>
                <a:latin typeface="Arial"/>
              </a:defRPr>
            </a:pPr>
            <a:r>
              <a:rPr dirty="0"/>
              <a:t>Steward </a:t>
            </a:r>
            <a:r>
              <a:rPr dirty="0" err="1"/>
              <a:t>embarqué</a:t>
            </a:r>
            <a:r>
              <a:rPr dirty="0"/>
              <a:t> :</a:t>
            </a:r>
            <a:r>
              <a:rPr sz="950" b="0" dirty="0">
                <a:solidFill>
                  <a:srgbClr val="B3B3B3"/>
                </a:solidFill>
              </a:rPr>
              <a:t> </a:t>
            </a:r>
            <a:r>
              <a:rPr sz="950" b="0" dirty="0" err="1">
                <a:solidFill>
                  <a:srgbClr val="B3B3B3"/>
                </a:solidFill>
              </a:rPr>
              <a:t>Alignement</a:t>
            </a:r>
            <a:r>
              <a:rPr sz="950" b="0" dirty="0">
                <a:solidFill>
                  <a:srgbClr val="B3B3B3"/>
                </a:solidFill>
              </a:rPr>
              <a:t> </a:t>
            </a:r>
            <a:r>
              <a:rPr sz="950" b="0" dirty="0" err="1">
                <a:solidFill>
                  <a:srgbClr val="B3B3B3"/>
                </a:solidFill>
              </a:rPr>
              <a:t>OneTrust</a:t>
            </a:r>
            <a:r>
              <a:rPr sz="950" b="0" dirty="0">
                <a:solidFill>
                  <a:srgbClr val="B3B3B3"/>
                </a:solidFill>
              </a:rPr>
              <a:t>, </a:t>
            </a:r>
            <a:r>
              <a:rPr sz="950" b="0" dirty="0" err="1">
                <a:solidFill>
                  <a:srgbClr val="B3B3B3"/>
                </a:solidFill>
              </a:rPr>
              <a:t>élimination</a:t>
            </a:r>
            <a:r>
              <a:rPr sz="950" b="0" dirty="0">
                <a:solidFill>
                  <a:srgbClr val="B3B3B3"/>
                </a:solidFill>
              </a:rPr>
              <a:t> des </a:t>
            </a:r>
            <a:r>
              <a:rPr sz="950" b="0" dirty="0" err="1">
                <a:solidFill>
                  <a:srgbClr val="B3B3B3"/>
                </a:solidFill>
              </a:rPr>
              <a:t>doublons</a:t>
            </a:r>
            <a:r>
              <a:rPr sz="950" b="0" dirty="0">
                <a:solidFill>
                  <a:srgbClr val="B3B3B3"/>
                </a:solidFill>
              </a:rPr>
              <a:t> de prospects.</a:t>
            </a:r>
          </a:p>
          <a:p>
            <a:pPr>
              <a:spcAft>
                <a:spcPts val="400"/>
              </a:spcAft>
              <a:defRPr sz="950" b="1">
                <a:solidFill>
                  <a:srgbClr val="FFFFFF"/>
                </a:solidFill>
                <a:latin typeface="Arial"/>
              </a:defRPr>
            </a:pPr>
            <a:r>
              <a:rPr dirty="0" err="1"/>
              <a:t>Sémantique</a:t>
            </a:r>
            <a:r>
              <a:rPr dirty="0"/>
              <a:t> :</a:t>
            </a:r>
            <a:r>
              <a:rPr sz="950" b="0" dirty="0">
                <a:solidFill>
                  <a:srgbClr val="B3B3B3"/>
                </a:solidFill>
              </a:rPr>
              <a:t> Tracking du </a:t>
            </a:r>
            <a:r>
              <a:rPr sz="950" b="0" dirty="0" err="1">
                <a:solidFill>
                  <a:srgbClr val="B3B3B3"/>
                </a:solidFill>
              </a:rPr>
              <a:t>parcours</a:t>
            </a:r>
            <a:r>
              <a:rPr sz="950" b="0" dirty="0">
                <a:solidFill>
                  <a:srgbClr val="B3B3B3"/>
                </a:solidFill>
              </a:rPr>
              <a:t> </a:t>
            </a:r>
            <a:r>
              <a:rPr sz="950" b="0" dirty="0" err="1">
                <a:solidFill>
                  <a:srgbClr val="B3B3B3"/>
                </a:solidFill>
              </a:rPr>
              <a:t>utilisateur</a:t>
            </a:r>
            <a:r>
              <a:rPr sz="950" b="0" dirty="0">
                <a:solidFill>
                  <a:srgbClr val="B3B3B3"/>
                </a:solidFill>
              </a:rPr>
              <a:t> </a:t>
            </a:r>
            <a:r>
              <a:rPr sz="950" b="0" dirty="0" err="1">
                <a:solidFill>
                  <a:srgbClr val="B3B3B3"/>
                </a:solidFill>
              </a:rPr>
              <a:t>d'acquisition</a:t>
            </a:r>
            <a:r>
              <a:rPr sz="950" b="0" dirty="0">
                <a:solidFill>
                  <a:srgbClr val="B3B3B3"/>
                </a:solidFill>
              </a:rPr>
              <a:t>.</a:t>
            </a:r>
          </a:p>
        </p:txBody>
      </p:sp>
      <p:sp>
        <p:nvSpPr>
          <p:cNvPr id="8" name="Rounded Rectangle 7"/>
          <p:cNvSpPr/>
          <p:nvPr/>
        </p:nvSpPr>
        <p:spPr>
          <a:xfrm>
            <a:off x="8046720" y="1371600"/>
            <a:ext cx="35661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536192"/>
            <a:ext cx="323697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Division finance</a:t>
            </a:r>
          </a:p>
          <a:p>
            <a:pPr>
              <a:spcAft>
                <a:spcPts val="400"/>
              </a:spcAft>
              <a:defRPr sz="950" b="1">
                <a:solidFill>
                  <a:srgbClr val="FFFFFF"/>
                </a:solidFill>
                <a:latin typeface="Arial"/>
              </a:defRPr>
            </a:pPr>
            <a:r>
              <a:rPr dirty="0" err="1"/>
              <a:t>Périmètre</a:t>
            </a:r>
            <a:r>
              <a:rPr dirty="0"/>
              <a:t> :</a:t>
            </a:r>
            <a:r>
              <a:rPr sz="950" b="0" dirty="0">
                <a:solidFill>
                  <a:srgbClr val="B3B3B3"/>
                </a:solidFill>
              </a:rPr>
              <a:t> </a:t>
            </a:r>
            <a:r>
              <a:rPr sz="950" b="0" dirty="0" err="1">
                <a:solidFill>
                  <a:srgbClr val="B3B3B3"/>
                </a:solidFill>
              </a:rPr>
              <a:t>Facturation</a:t>
            </a:r>
            <a:r>
              <a:rPr sz="950" b="0" dirty="0">
                <a:solidFill>
                  <a:srgbClr val="B3B3B3"/>
                </a:solidFill>
              </a:rPr>
              <a:t>, transactions, flux </a:t>
            </a:r>
            <a:r>
              <a:rPr sz="950" b="0" dirty="0" err="1">
                <a:solidFill>
                  <a:srgbClr val="B3B3B3"/>
                </a:solidFill>
              </a:rPr>
              <a:t>d'abonnement</a:t>
            </a:r>
            <a:r>
              <a:rPr sz="950" b="0" dirty="0">
                <a:solidFill>
                  <a:srgbClr val="B3B3B3"/>
                </a:solidFill>
              </a:rPr>
              <a:t>.</a:t>
            </a:r>
          </a:p>
          <a:p>
            <a:pPr>
              <a:spcAft>
                <a:spcPts val="400"/>
              </a:spcAft>
              <a:defRPr sz="950" b="1">
                <a:solidFill>
                  <a:srgbClr val="FFFFFF"/>
                </a:solidFill>
                <a:latin typeface="Arial"/>
              </a:defRPr>
            </a:pPr>
            <a:r>
              <a:rPr dirty="0"/>
              <a:t>Steward </a:t>
            </a:r>
            <a:r>
              <a:rPr dirty="0" err="1"/>
              <a:t>embarqué</a:t>
            </a:r>
            <a:r>
              <a:rPr dirty="0"/>
              <a:t> :</a:t>
            </a:r>
            <a:r>
              <a:rPr sz="950" b="0" dirty="0">
                <a:solidFill>
                  <a:srgbClr val="B3B3B3"/>
                </a:solidFill>
              </a:rPr>
              <a:t> </a:t>
            </a:r>
            <a:r>
              <a:rPr sz="950" b="0" dirty="0" err="1">
                <a:solidFill>
                  <a:srgbClr val="B3B3B3"/>
                </a:solidFill>
              </a:rPr>
              <a:t>Conformité</a:t>
            </a:r>
            <a:r>
              <a:rPr sz="950" b="0" dirty="0">
                <a:solidFill>
                  <a:srgbClr val="B3B3B3"/>
                </a:solidFill>
              </a:rPr>
              <a:t> </a:t>
            </a:r>
            <a:r>
              <a:rPr sz="950" b="0" dirty="0" err="1">
                <a:solidFill>
                  <a:srgbClr val="B3B3B3"/>
                </a:solidFill>
              </a:rPr>
              <a:t>stricte</a:t>
            </a:r>
            <a:r>
              <a:rPr sz="950" b="0" dirty="0">
                <a:solidFill>
                  <a:srgbClr val="B3B3B3"/>
                </a:solidFill>
              </a:rPr>
              <a:t> aux exigences PCI-DSS.</a:t>
            </a:r>
          </a:p>
          <a:p>
            <a:pPr>
              <a:spcAft>
                <a:spcPts val="400"/>
              </a:spcAft>
              <a:defRPr sz="950" b="1">
                <a:solidFill>
                  <a:srgbClr val="FFFFFF"/>
                </a:solidFill>
                <a:latin typeface="Arial"/>
              </a:defRPr>
            </a:pPr>
            <a:r>
              <a:rPr dirty="0" err="1"/>
              <a:t>Sémantique</a:t>
            </a:r>
            <a:r>
              <a:rPr dirty="0"/>
              <a:t> :</a:t>
            </a:r>
            <a:r>
              <a:rPr sz="950" b="0" dirty="0">
                <a:solidFill>
                  <a:srgbClr val="B3B3B3"/>
                </a:solidFill>
              </a:rPr>
              <a:t> Données de </a:t>
            </a:r>
            <a:r>
              <a:rPr sz="950" b="0" dirty="0" err="1">
                <a:solidFill>
                  <a:srgbClr val="B3B3B3"/>
                </a:solidFill>
              </a:rPr>
              <a:t>paiement</a:t>
            </a:r>
            <a:r>
              <a:rPr sz="950" b="0" dirty="0">
                <a:solidFill>
                  <a:srgbClr val="B3B3B3"/>
                </a:solidFill>
              </a:rPr>
              <a:t> </a:t>
            </a:r>
            <a:r>
              <a:rPr sz="950" b="0" dirty="0" err="1">
                <a:solidFill>
                  <a:srgbClr val="B3B3B3"/>
                </a:solidFill>
              </a:rPr>
              <a:t>isolées</a:t>
            </a:r>
            <a:r>
              <a:rPr sz="950" b="0" dirty="0">
                <a:solidFill>
                  <a:srgbClr val="B3B3B3"/>
                </a:solidFill>
              </a:rPr>
              <a:t> (CDE).</a:t>
            </a:r>
          </a:p>
        </p:txBody>
      </p:sp>
      <p:sp>
        <p:nvSpPr>
          <p:cNvPr id="10" name="Rounded Rectangle 9"/>
          <p:cNvSpPr/>
          <p:nvPr/>
        </p:nvSpPr>
        <p:spPr>
          <a:xfrm>
            <a:off x="4297680" y="3749039"/>
            <a:ext cx="347472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62272" y="3913631"/>
            <a:ext cx="314553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Division tech &amp; R&amp;D IA</a:t>
            </a:r>
          </a:p>
          <a:p>
            <a:pPr>
              <a:spcAft>
                <a:spcPts val="400"/>
              </a:spcAft>
              <a:defRPr sz="950" b="1">
                <a:solidFill>
                  <a:srgbClr val="FFFFFF"/>
                </a:solidFill>
                <a:latin typeface="Arial"/>
              </a:defRPr>
            </a:pPr>
            <a:r>
              <a:rPr dirty="0" err="1"/>
              <a:t>Périmètre</a:t>
            </a:r>
            <a:r>
              <a:rPr dirty="0"/>
              <a:t> :</a:t>
            </a:r>
            <a:r>
              <a:rPr sz="950" b="0" dirty="0">
                <a:solidFill>
                  <a:srgbClr val="B3B3B3"/>
                </a:solidFill>
              </a:rPr>
              <a:t> </a:t>
            </a:r>
            <a:r>
              <a:rPr sz="950" b="0" dirty="0" err="1">
                <a:solidFill>
                  <a:srgbClr val="B3B3B3"/>
                </a:solidFill>
              </a:rPr>
              <a:t>Algorithmes</a:t>
            </a:r>
            <a:r>
              <a:rPr sz="950" b="0" dirty="0">
                <a:solidFill>
                  <a:srgbClr val="B3B3B3"/>
                </a:solidFill>
              </a:rPr>
              <a:t> de </a:t>
            </a:r>
            <a:r>
              <a:rPr sz="950" b="0" dirty="0" err="1">
                <a:solidFill>
                  <a:srgbClr val="B3B3B3"/>
                </a:solidFill>
              </a:rPr>
              <a:t>recommandation</a:t>
            </a:r>
            <a:r>
              <a:rPr sz="950" b="0" dirty="0">
                <a:solidFill>
                  <a:srgbClr val="B3B3B3"/>
                </a:solidFill>
              </a:rPr>
              <a:t>, </a:t>
            </a:r>
            <a:r>
              <a:rPr sz="950" b="0" dirty="0" err="1">
                <a:solidFill>
                  <a:srgbClr val="B3B3B3"/>
                </a:solidFill>
              </a:rPr>
              <a:t>modèles</a:t>
            </a:r>
            <a:r>
              <a:rPr sz="950" b="0" dirty="0">
                <a:solidFill>
                  <a:srgbClr val="B3B3B3"/>
                </a:solidFill>
              </a:rPr>
              <a:t> </a:t>
            </a:r>
            <a:r>
              <a:rPr sz="950" b="0" dirty="0" err="1">
                <a:solidFill>
                  <a:srgbClr val="B3B3B3"/>
                </a:solidFill>
              </a:rPr>
              <a:t>prédictifs</a:t>
            </a:r>
            <a:r>
              <a:rPr sz="950" b="0" dirty="0">
                <a:solidFill>
                  <a:srgbClr val="B3B3B3"/>
                </a:solidFill>
              </a:rPr>
              <a:t>.</a:t>
            </a:r>
          </a:p>
          <a:p>
            <a:pPr>
              <a:spcAft>
                <a:spcPts val="400"/>
              </a:spcAft>
              <a:defRPr sz="950" b="1">
                <a:solidFill>
                  <a:srgbClr val="FFFFFF"/>
                </a:solidFill>
                <a:latin typeface="Arial"/>
              </a:defRPr>
            </a:pPr>
            <a:r>
              <a:rPr dirty="0"/>
              <a:t>Steward </a:t>
            </a:r>
            <a:r>
              <a:rPr dirty="0" err="1"/>
              <a:t>embarqué</a:t>
            </a:r>
            <a:r>
              <a:rPr dirty="0"/>
              <a:t> :</a:t>
            </a:r>
            <a:r>
              <a:rPr sz="950" b="0" dirty="0">
                <a:solidFill>
                  <a:srgbClr val="B3B3B3"/>
                </a:solidFill>
              </a:rPr>
              <a:t> </a:t>
            </a:r>
            <a:r>
              <a:rPr sz="950" b="0" dirty="0" err="1">
                <a:solidFill>
                  <a:srgbClr val="B3B3B3"/>
                </a:solidFill>
              </a:rPr>
              <a:t>Traçabilité</a:t>
            </a:r>
            <a:r>
              <a:rPr sz="950" b="0" dirty="0">
                <a:solidFill>
                  <a:srgbClr val="B3B3B3"/>
                </a:solidFill>
              </a:rPr>
              <a:t> des données </a:t>
            </a:r>
            <a:r>
              <a:rPr sz="950" b="0" dirty="0" err="1">
                <a:solidFill>
                  <a:srgbClr val="B3B3B3"/>
                </a:solidFill>
              </a:rPr>
              <a:t>d'entraînement</a:t>
            </a:r>
            <a:r>
              <a:rPr sz="950" b="0" dirty="0">
                <a:solidFill>
                  <a:srgbClr val="B3B3B3"/>
                </a:solidFill>
              </a:rPr>
              <a:t> </a:t>
            </a:r>
            <a:r>
              <a:rPr sz="950" b="0" dirty="0" err="1">
                <a:solidFill>
                  <a:srgbClr val="B3B3B3"/>
                </a:solidFill>
              </a:rPr>
              <a:t>d'IA</a:t>
            </a:r>
            <a:r>
              <a:rPr sz="950" b="0" dirty="0">
                <a:solidFill>
                  <a:srgbClr val="B3B3B3"/>
                </a:solidFill>
              </a:rPr>
              <a:t>.</a:t>
            </a:r>
          </a:p>
          <a:p>
            <a:pPr>
              <a:spcAft>
                <a:spcPts val="400"/>
              </a:spcAft>
              <a:defRPr sz="950" b="1">
                <a:solidFill>
                  <a:srgbClr val="FFFFFF"/>
                </a:solidFill>
                <a:latin typeface="Arial"/>
              </a:defRPr>
            </a:pPr>
            <a:r>
              <a:rPr dirty="0" err="1"/>
              <a:t>Sémantique</a:t>
            </a:r>
            <a:r>
              <a:rPr dirty="0"/>
              <a:t> :</a:t>
            </a:r>
            <a:r>
              <a:rPr sz="950" b="0" dirty="0">
                <a:solidFill>
                  <a:srgbClr val="B3B3B3"/>
                </a:solidFill>
              </a:rPr>
              <a:t> </a:t>
            </a:r>
            <a:r>
              <a:rPr sz="950" b="0" dirty="0" err="1">
                <a:solidFill>
                  <a:srgbClr val="B3B3B3"/>
                </a:solidFill>
              </a:rPr>
              <a:t>Élimination</a:t>
            </a:r>
            <a:r>
              <a:rPr sz="950" b="0" dirty="0">
                <a:solidFill>
                  <a:srgbClr val="B3B3B3"/>
                </a:solidFill>
              </a:rPr>
              <a:t> des </a:t>
            </a:r>
            <a:r>
              <a:rPr sz="950" b="0" dirty="0" err="1">
                <a:solidFill>
                  <a:srgbClr val="B3B3B3"/>
                </a:solidFill>
              </a:rPr>
              <a:t>biais</a:t>
            </a:r>
            <a:r>
              <a:rPr sz="950" b="0" dirty="0">
                <a:solidFill>
                  <a:srgbClr val="B3B3B3"/>
                </a:solidFill>
              </a:rPr>
              <a:t>, </a:t>
            </a:r>
            <a:r>
              <a:rPr sz="950" b="0" dirty="0" err="1">
                <a:solidFill>
                  <a:srgbClr val="B3B3B3"/>
                </a:solidFill>
              </a:rPr>
              <a:t>explicabilité</a:t>
            </a:r>
            <a:r>
              <a:rPr sz="950" b="0" dirty="0">
                <a:solidFill>
                  <a:srgbClr val="B3B3B3"/>
                </a:solidFill>
              </a:rPr>
              <a:t> des </a:t>
            </a:r>
            <a:r>
              <a:rPr sz="950" b="0" dirty="0" err="1">
                <a:solidFill>
                  <a:srgbClr val="B3B3B3"/>
                </a:solidFill>
              </a:rPr>
              <a:t>modèles</a:t>
            </a:r>
            <a:r>
              <a:rPr sz="950" b="0" dirty="0">
                <a:solidFill>
                  <a:srgbClr val="B3B3B3"/>
                </a:solidFill>
              </a:rPr>
              <a:t>.</a:t>
            </a:r>
          </a:p>
        </p:txBody>
      </p:sp>
      <p:sp>
        <p:nvSpPr>
          <p:cNvPr id="12" name="Rounded Rectangle 11"/>
          <p:cNvSpPr/>
          <p:nvPr/>
        </p:nvSpPr>
        <p:spPr>
          <a:xfrm>
            <a:off x="8046720" y="3749039"/>
            <a:ext cx="35661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11312" y="3913631"/>
            <a:ext cx="3236976" cy="1865376"/>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Division RH</a:t>
            </a:r>
          </a:p>
          <a:p>
            <a:pPr>
              <a:spcAft>
                <a:spcPts val="400"/>
              </a:spcAft>
              <a:defRPr sz="950" b="1">
                <a:solidFill>
                  <a:srgbClr val="FFFFFF"/>
                </a:solidFill>
                <a:latin typeface="Arial"/>
              </a:defRPr>
            </a:pPr>
            <a:r>
              <a:rPr dirty="0" err="1"/>
              <a:t>Périmètre</a:t>
            </a:r>
            <a:r>
              <a:rPr dirty="0"/>
              <a:t> :</a:t>
            </a:r>
            <a:r>
              <a:rPr sz="950" b="0" dirty="0">
                <a:solidFill>
                  <a:srgbClr val="B3B3B3"/>
                </a:solidFill>
              </a:rPr>
              <a:t> Données des </a:t>
            </a:r>
            <a:r>
              <a:rPr sz="950" b="0" dirty="0" err="1">
                <a:solidFill>
                  <a:srgbClr val="B3B3B3"/>
                </a:solidFill>
              </a:rPr>
              <a:t>collaborateurs</a:t>
            </a:r>
            <a:r>
              <a:rPr sz="950" b="0" dirty="0">
                <a:solidFill>
                  <a:srgbClr val="B3B3B3"/>
                </a:solidFill>
              </a:rPr>
              <a:t>, dossiers personnels.</a:t>
            </a:r>
          </a:p>
          <a:p>
            <a:pPr>
              <a:spcAft>
                <a:spcPts val="400"/>
              </a:spcAft>
              <a:defRPr sz="950" b="1">
                <a:solidFill>
                  <a:srgbClr val="FFFFFF"/>
                </a:solidFill>
                <a:latin typeface="Arial"/>
              </a:defRPr>
            </a:pPr>
            <a:r>
              <a:rPr dirty="0"/>
              <a:t>Steward </a:t>
            </a:r>
            <a:r>
              <a:rPr dirty="0" err="1"/>
              <a:t>embarqué</a:t>
            </a:r>
            <a:r>
              <a:rPr dirty="0"/>
              <a:t> :</a:t>
            </a:r>
            <a:r>
              <a:rPr sz="950" b="0" dirty="0">
                <a:solidFill>
                  <a:srgbClr val="B3B3B3"/>
                </a:solidFill>
              </a:rPr>
              <a:t> </a:t>
            </a:r>
            <a:r>
              <a:rPr sz="950" b="0" dirty="0" err="1">
                <a:solidFill>
                  <a:srgbClr val="B3B3B3"/>
                </a:solidFill>
              </a:rPr>
              <a:t>Contrôle</a:t>
            </a:r>
            <a:r>
              <a:rPr sz="950" b="0" dirty="0">
                <a:solidFill>
                  <a:srgbClr val="B3B3B3"/>
                </a:solidFill>
              </a:rPr>
              <a:t> strict des données </a:t>
            </a:r>
            <a:r>
              <a:rPr sz="950" b="0" dirty="0" err="1">
                <a:solidFill>
                  <a:srgbClr val="B3B3B3"/>
                </a:solidFill>
              </a:rPr>
              <a:t>confidentielles</a:t>
            </a:r>
            <a:r>
              <a:rPr sz="950" b="0" dirty="0">
                <a:solidFill>
                  <a:srgbClr val="B3B3B3"/>
                </a:solidFill>
              </a:rPr>
              <a:t>.</a:t>
            </a:r>
          </a:p>
          <a:p>
            <a:pPr>
              <a:spcAft>
                <a:spcPts val="400"/>
              </a:spcAft>
              <a:defRPr sz="950" b="1">
                <a:solidFill>
                  <a:srgbClr val="FFFFFF"/>
                </a:solidFill>
                <a:latin typeface="Arial"/>
              </a:defRPr>
            </a:pPr>
            <a:r>
              <a:rPr dirty="0" err="1"/>
              <a:t>Sémantique</a:t>
            </a:r>
            <a:r>
              <a:rPr dirty="0"/>
              <a:t> :</a:t>
            </a:r>
            <a:r>
              <a:rPr sz="950" b="0" dirty="0">
                <a:solidFill>
                  <a:srgbClr val="B3B3B3"/>
                </a:solidFill>
              </a:rPr>
              <a:t> Habilitations IAM </a:t>
            </a:r>
            <a:r>
              <a:rPr sz="950" b="0" dirty="0" err="1">
                <a:solidFill>
                  <a:srgbClr val="B3B3B3"/>
                </a:solidFill>
              </a:rPr>
              <a:t>d'accès</a:t>
            </a:r>
            <a:r>
              <a:rPr sz="950" b="0" dirty="0">
                <a:solidFill>
                  <a:srgbClr val="B3B3B3"/>
                </a:solidFill>
              </a:rPr>
              <a:t> </a:t>
            </a:r>
            <a:r>
              <a:rPr sz="950" b="0" dirty="0" err="1">
                <a:solidFill>
                  <a:srgbClr val="B3B3B3"/>
                </a:solidFill>
              </a:rPr>
              <a:t>selon</a:t>
            </a:r>
            <a:r>
              <a:rPr sz="950" b="0" dirty="0">
                <a:solidFill>
                  <a:srgbClr val="B3B3B3"/>
                </a:solidFill>
              </a:rPr>
              <a:t> le </a:t>
            </a:r>
            <a:r>
              <a:rPr sz="950" b="0" dirty="0" err="1">
                <a:solidFill>
                  <a:srgbClr val="B3B3B3"/>
                </a:solidFill>
              </a:rPr>
              <a:t>profil</a:t>
            </a:r>
            <a:r>
              <a:rPr sz="950" b="0" dirty="0">
                <a:solidFill>
                  <a:srgbClr val="B3B3B3"/>
                </a:solidFill>
              </a:rPr>
              <a:t>.</a:t>
            </a:r>
          </a:p>
        </p:txBody>
      </p:sp>
      <p:grpSp>
        <p:nvGrpSpPr>
          <p:cNvPr id="14" name="Groupe 13">
            <a:extLst>
              <a:ext uri="{FF2B5EF4-FFF2-40B4-BE49-F238E27FC236}">
                <a16:creationId xmlns:a16="http://schemas.microsoft.com/office/drawing/2014/main" id="{BE935120-FA65-90DA-F8C8-4B3324A4B234}"/>
              </a:ext>
            </a:extLst>
          </p:cNvPr>
          <p:cNvGrpSpPr/>
          <p:nvPr/>
        </p:nvGrpSpPr>
        <p:grpSpPr>
          <a:xfrm>
            <a:off x="548640" y="172451"/>
            <a:ext cx="10866616" cy="230832"/>
            <a:chOff x="172859" y="1601629"/>
            <a:chExt cx="10866616" cy="230832"/>
          </a:xfrm>
        </p:grpSpPr>
        <p:sp>
          <p:nvSpPr>
            <p:cNvPr id="15" name="ZoneTexte 14">
              <a:extLst>
                <a:ext uri="{FF2B5EF4-FFF2-40B4-BE49-F238E27FC236}">
                  <a16:creationId xmlns:a16="http://schemas.microsoft.com/office/drawing/2014/main" id="{F0431FB8-D51D-5918-073F-D2B028DD6805}"/>
                </a:ext>
              </a:extLst>
            </p:cNvPr>
            <p:cNvSpPr txBox="1"/>
            <p:nvPr/>
          </p:nvSpPr>
          <p:spPr>
            <a:xfrm>
              <a:off x="172859" y="160162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6" name="ZoneTexte 15">
              <a:extLst>
                <a:ext uri="{FF2B5EF4-FFF2-40B4-BE49-F238E27FC236}">
                  <a16:creationId xmlns:a16="http://schemas.microsoft.com/office/drawing/2014/main" id="{F5B287E1-4672-1A0B-5F8C-D5CC600EA764}"/>
                </a:ext>
              </a:extLst>
            </p:cNvPr>
            <p:cNvSpPr txBox="1"/>
            <p:nvPr/>
          </p:nvSpPr>
          <p:spPr>
            <a:xfrm>
              <a:off x="1671599" y="160162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7" name="ZoneTexte 16">
              <a:extLst>
                <a:ext uri="{FF2B5EF4-FFF2-40B4-BE49-F238E27FC236}">
                  <a16:creationId xmlns:a16="http://schemas.microsoft.com/office/drawing/2014/main" id="{34968EB1-748A-ED7A-7F31-E61B5E58A3A4}"/>
                </a:ext>
              </a:extLst>
            </p:cNvPr>
            <p:cNvSpPr txBox="1"/>
            <p:nvPr/>
          </p:nvSpPr>
          <p:spPr>
            <a:xfrm>
              <a:off x="4296533" y="160162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8" name="ZoneTexte 17">
              <a:extLst>
                <a:ext uri="{FF2B5EF4-FFF2-40B4-BE49-F238E27FC236}">
                  <a16:creationId xmlns:a16="http://schemas.microsoft.com/office/drawing/2014/main" id="{93BC90BF-EEAA-D7CC-9C51-4E40DAAE907B}"/>
                </a:ext>
              </a:extLst>
            </p:cNvPr>
            <p:cNvSpPr txBox="1"/>
            <p:nvPr/>
          </p:nvSpPr>
          <p:spPr>
            <a:xfrm>
              <a:off x="6921467" y="160162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9" name="ZoneTexte 18">
              <a:extLst>
                <a:ext uri="{FF2B5EF4-FFF2-40B4-BE49-F238E27FC236}">
                  <a16:creationId xmlns:a16="http://schemas.microsoft.com/office/drawing/2014/main" id="{9244D6AB-810A-86C3-B89A-2443FBD8C875}"/>
                </a:ext>
              </a:extLst>
            </p:cNvPr>
            <p:cNvSpPr txBox="1"/>
            <p:nvPr/>
          </p:nvSpPr>
          <p:spPr>
            <a:xfrm>
              <a:off x="9088051" y="160162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AC6C7B28-AB4F-6891-44D2-0AF524D2F2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E61CD-1AF1-7376-660F-2D781CC66F3D}"/>
              </a:ext>
            </a:extLst>
          </p:cNvPr>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rPr dirty="0"/>
              <a:t>MODÈLE ORGANISATIONNEL</a:t>
            </a:r>
          </a:p>
        </p:txBody>
      </p:sp>
      <p:sp>
        <p:nvSpPr>
          <p:cNvPr id="3" name="TextBox 2">
            <a:extLst>
              <a:ext uri="{FF2B5EF4-FFF2-40B4-BE49-F238E27FC236}">
                <a16:creationId xmlns:a16="http://schemas.microsoft.com/office/drawing/2014/main" id="{AE17D21E-F7A9-6E10-7C72-309F23A862BB}"/>
              </a:ext>
            </a:extLst>
          </p:cNvPr>
          <p:cNvSpPr txBox="1"/>
          <p:nvPr/>
        </p:nvSpPr>
        <p:spPr>
          <a:xfrm>
            <a:off x="548640" y="502920"/>
            <a:ext cx="10058400" cy="800219"/>
          </a:xfrm>
          <a:prstGeom prst="rect">
            <a:avLst/>
          </a:prstGeom>
          <a:noFill/>
        </p:spPr>
        <p:txBody>
          <a:bodyPr wrap="square" lIns="0" tIns="0" rIns="0" bIns="0">
            <a:spAutoFit/>
          </a:bodyPr>
          <a:lstStyle/>
          <a:p>
            <a:pPr>
              <a:defRPr sz="2600" b="1">
                <a:solidFill>
                  <a:srgbClr val="FFFFFF"/>
                </a:solidFill>
                <a:latin typeface="Arial"/>
              </a:defRPr>
            </a:pPr>
            <a:r>
              <a:rPr lang="fr-FR" dirty="0"/>
              <a:t>Organigramme des rôles et responsabilités</a:t>
            </a:r>
          </a:p>
          <a:p>
            <a:pPr>
              <a:defRPr sz="2600" b="1">
                <a:solidFill>
                  <a:srgbClr val="FFFFFF"/>
                </a:solidFill>
                <a:latin typeface="Arial"/>
              </a:defRPr>
            </a:pPr>
            <a:endParaRPr dirty="0"/>
          </a:p>
        </p:txBody>
      </p:sp>
      <p:sp>
        <p:nvSpPr>
          <p:cNvPr id="4" name="TextBox 3">
            <a:extLst>
              <a:ext uri="{FF2B5EF4-FFF2-40B4-BE49-F238E27FC236}">
                <a16:creationId xmlns:a16="http://schemas.microsoft.com/office/drawing/2014/main" id="{3FB7D4AB-194F-B463-B4F1-E590F16FD281}"/>
              </a:ext>
            </a:extLst>
          </p:cNvPr>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8 / 21</a:t>
            </a:r>
            <a:endParaRPr dirty="0"/>
          </a:p>
        </p:txBody>
      </p:sp>
      <p:pic>
        <p:nvPicPr>
          <p:cNvPr id="15" name="Image 14">
            <a:extLst>
              <a:ext uri="{FF2B5EF4-FFF2-40B4-BE49-F238E27FC236}">
                <a16:creationId xmlns:a16="http://schemas.microsoft.com/office/drawing/2014/main" id="{690F5C70-F77E-1DE5-2DA4-4796B42F06F0}"/>
              </a:ext>
            </a:extLst>
          </p:cNvPr>
          <p:cNvPicPr>
            <a:picLocks noChangeAspect="1"/>
          </p:cNvPicPr>
          <p:nvPr/>
        </p:nvPicPr>
        <p:blipFill>
          <a:blip r:embed="rId3"/>
          <a:stretch>
            <a:fillRect/>
          </a:stretch>
        </p:blipFill>
        <p:spPr>
          <a:xfrm>
            <a:off x="203200" y="1234440"/>
            <a:ext cx="10546080" cy="4419199"/>
          </a:xfrm>
          <a:prstGeom prst="rect">
            <a:avLst/>
          </a:prstGeom>
        </p:spPr>
      </p:pic>
      <p:grpSp>
        <p:nvGrpSpPr>
          <p:cNvPr id="5" name="Groupe 4">
            <a:extLst>
              <a:ext uri="{FF2B5EF4-FFF2-40B4-BE49-F238E27FC236}">
                <a16:creationId xmlns:a16="http://schemas.microsoft.com/office/drawing/2014/main" id="{2F812E23-8439-7F53-C2CB-0ECA053CFED8}"/>
              </a:ext>
            </a:extLst>
          </p:cNvPr>
          <p:cNvGrpSpPr/>
          <p:nvPr/>
        </p:nvGrpSpPr>
        <p:grpSpPr>
          <a:xfrm>
            <a:off x="548640" y="172451"/>
            <a:ext cx="10866616" cy="230832"/>
            <a:chOff x="172859" y="1601629"/>
            <a:chExt cx="10866616" cy="230832"/>
          </a:xfrm>
        </p:grpSpPr>
        <p:sp>
          <p:nvSpPr>
            <p:cNvPr id="6" name="ZoneTexte 5">
              <a:extLst>
                <a:ext uri="{FF2B5EF4-FFF2-40B4-BE49-F238E27FC236}">
                  <a16:creationId xmlns:a16="http://schemas.microsoft.com/office/drawing/2014/main" id="{51940375-D0BA-B094-D7C1-9B5871D29E0C}"/>
                </a:ext>
              </a:extLst>
            </p:cNvPr>
            <p:cNvSpPr txBox="1"/>
            <p:nvPr/>
          </p:nvSpPr>
          <p:spPr>
            <a:xfrm>
              <a:off x="172859" y="160162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7" name="ZoneTexte 6">
              <a:extLst>
                <a:ext uri="{FF2B5EF4-FFF2-40B4-BE49-F238E27FC236}">
                  <a16:creationId xmlns:a16="http://schemas.microsoft.com/office/drawing/2014/main" id="{D04E9024-EB48-8D59-9D8A-BB227D742DF9}"/>
                </a:ext>
              </a:extLst>
            </p:cNvPr>
            <p:cNvSpPr txBox="1"/>
            <p:nvPr/>
          </p:nvSpPr>
          <p:spPr>
            <a:xfrm>
              <a:off x="1671599" y="160162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8" name="ZoneTexte 7">
              <a:extLst>
                <a:ext uri="{FF2B5EF4-FFF2-40B4-BE49-F238E27FC236}">
                  <a16:creationId xmlns:a16="http://schemas.microsoft.com/office/drawing/2014/main" id="{B7BC8E73-3367-3C26-C275-E43D133F1588}"/>
                </a:ext>
              </a:extLst>
            </p:cNvPr>
            <p:cNvSpPr txBox="1"/>
            <p:nvPr/>
          </p:nvSpPr>
          <p:spPr>
            <a:xfrm>
              <a:off x="4296533" y="160162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9" name="ZoneTexte 8">
              <a:extLst>
                <a:ext uri="{FF2B5EF4-FFF2-40B4-BE49-F238E27FC236}">
                  <a16:creationId xmlns:a16="http://schemas.microsoft.com/office/drawing/2014/main" id="{5EDCABA7-49B0-816A-8C13-EEC4A41D7BB3}"/>
                </a:ext>
              </a:extLst>
            </p:cNvPr>
            <p:cNvSpPr txBox="1"/>
            <p:nvPr/>
          </p:nvSpPr>
          <p:spPr>
            <a:xfrm>
              <a:off x="6921467" y="160162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0" name="ZoneTexte 9">
              <a:extLst>
                <a:ext uri="{FF2B5EF4-FFF2-40B4-BE49-F238E27FC236}">
                  <a16:creationId xmlns:a16="http://schemas.microsoft.com/office/drawing/2014/main" id="{3A79C91D-A25D-3489-2498-8BEF5ED3D2F9}"/>
                </a:ext>
              </a:extLst>
            </p:cNvPr>
            <p:cNvSpPr txBox="1"/>
            <p:nvPr/>
          </p:nvSpPr>
          <p:spPr>
            <a:xfrm>
              <a:off x="9088051" y="160162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extLst>
      <p:ext uri="{BB962C8B-B14F-4D97-AF65-F5344CB8AC3E}">
        <p14:creationId xmlns:p14="http://schemas.microsoft.com/office/powerpoint/2010/main" val="264254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3EA239C9-2D1B-4D23-6407-B72BFAECD5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9A0F0B-64F4-5A57-A72D-7C1A2BC3C2F8}"/>
              </a:ext>
            </a:extLst>
          </p:cNvPr>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MATRICE DES RESPONSABILITÉS</a:t>
            </a:r>
          </a:p>
        </p:txBody>
      </p:sp>
      <p:sp>
        <p:nvSpPr>
          <p:cNvPr id="3" name="TextBox 2">
            <a:extLst>
              <a:ext uri="{FF2B5EF4-FFF2-40B4-BE49-F238E27FC236}">
                <a16:creationId xmlns:a16="http://schemas.microsoft.com/office/drawing/2014/main" id="{F619E961-FDC3-39F8-036A-9F5034E29C8F}"/>
              </a:ext>
            </a:extLst>
          </p:cNvPr>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La matrice RACI (responsabilités clés du programme)</a:t>
            </a:r>
          </a:p>
        </p:txBody>
      </p:sp>
      <p:sp>
        <p:nvSpPr>
          <p:cNvPr id="4" name="TextBox 3">
            <a:extLst>
              <a:ext uri="{FF2B5EF4-FFF2-40B4-BE49-F238E27FC236}">
                <a16:creationId xmlns:a16="http://schemas.microsoft.com/office/drawing/2014/main" id="{D615490B-2E73-971D-702D-99967A2BFA88}"/>
              </a:ext>
            </a:extLst>
          </p:cNvPr>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9 / 21</a:t>
            </a:r>
            <a:endParaRPr dirty="0"/>
          </a:p>
        </p:txBody>
      </p:sp>
      <p:pic>
        <p:nvPicPr>
          <p:cNvPr id="14" name="Image 13">
            <a:extLst>
              <a:ext uri="{FF2B5EF4-FFF2-40B4-BE49-F238E27FC236}">
                <a16:creationId xmlns:a16="http://schemas.microsoft.com/office/drawing/2014/main" id="{A3C12EC3-1753-8698-7CCD-F47BB116F07F}"/>
              </a:ext>
            </a:extLst>
          </p:cNvPr>
          <p:cNvPicPr>
            <a:picLocks noChangeAspect="1"/>
          </p:cNvPicPr>
          <p:nvPr/>
        </p:nvPicPr>
        <p:blipFill>
          <a:blip r:embed="rId3"/>
          <a:stretch>
            <a:fillRect/>
          </a:stretch>
        </p:blipFill>
        <p:spPr>
          <a:xfrm>
            <a:off x="413174" y="1508760"/>
            <a:ext cx="11643055" cy="4754247"/>
          </a:xfrm>
          <a:prstGeom prst="rect">
            <a:avLst/>
          </a:prstGeom>
        </p:spPr>
      </p:pic>
      <p:grpSp>
        <p:nvGrpSpPr>
          <p:cNvPr id="5" name="Groupe 4">
            <a:extLst>
              <a:ext uri="{FF2B5EF4-FFF2-40B4-BE49-F238E27FC236}">
                <a16:creationId xmlns:a16="http://schemas.microsoft.com/office/drawing/2014/main" id="{B88D4BC8-BA02-2EC1-05FA-067DC3522AA1}"/>
              </a:ext>
            </a:extLst>
          </p:cNvPr>
          <p:cNvGrpSpPr/>
          <p:nvPr/>
        </p:nvGrpSpPr>
        <p:grpSpPr>
          <a:xfrm>
            <a:off x="548640" y="172451"/>
            <a:ext cx="10866616" cy="230832"/>
            <a:chOff x="172859" y="1601629"/>
            <a:chExt cx="10866616" cy="230832"/>
          </a:xfrm>
        </p:grpSpPr>
        <p:sp>
          <p:nvSpPr>
            <p:cNvPr id="6" name="ZoneTexte 5">
              <a:extLst>
                <a:ext uri="{FF2B5EF4-FFF2-40B4-BE49-F238E27FC236}">
                  <a16:creationId xmlns:a16="http://schemas.microsoft.com/office/drawing/2014/main" id="{6A31654A-BEB6-295F-36AC-7AC4B19E97A1}"/>
                </a:ext>
              </a:extLst>
            </p:cNvPr>
            <p:cNvSpPr txBox="1"/>
            <p:nvPr/>
          </p:nvSpPr>
          <p:spPr>
            <a:xfrm>
              <a:off x="172859" y="160162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7" name="ZoneTexte 6">
              <a:extLst>
                <a:ext uri="{FF2B5EF4-FFF2-40B4-BE49-F238E27FC236}">
                  <a16:creationId xmlns:a16="http://schemas.microsoft.com/office/drawing/2014/main" id="{A6FB966E-A2C8-2730-0FF2-33EE71A1138A}"/>
                </a:ext>
              </a:extLst>
            </p:cNvPr>
            <p:cNvSpPr txBox="1"/>
            <p:nvPr/>
          </p:nvSpPr>
          <p:spPr>
            <a:xfrm>
              <a:off x="1671599" y="160162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8" name="ZoneTexte 7">
              <a:extLst>
                <a:ext uri="{FF2B5EF4-FFF2-40B4-BE49-F238E27FC236}">
                  <a16:creationId xmlns:a16="http://schemas.microsoft.com/office/drawing/2014/main" id="{F7EB787B-52D0-98E5-0956-4F21027BB737}"/>
                </a:ext>
              </a:extLst>
            </p:cNvPr>
            <p:cNvSpPr txBox="1"/>
            <p:nvPr/>
          </p:nvSpPr>
          <p:spPr>
            <a:xfrm>
              <a:off x="4296533" y="160162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9" name="ZoneTexte 8">
              <a:extLst>
                <a:ext uri="{FF2B5EF4-FFF2-40B4-BE49-F238E27FC236}">
                  <a16:creationId xmlns:a16="http://schemas.microsoft.com/office/drawing/2014/main" id="{0E20EC0F-3041-EB07-850D-E89236F1EA1F}"/>
                </a:ext>
              </a:extLst>
            </p:cNvPr>
            <p:cNvSpPr txBox="1"/>
            <p:nvPr/>
          </p:nvSpPr>
          <p:spPr>
            <a:xfrm>
              <a:off x="6921467" y="160162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0" name="ZoneTexte 9">
              <a:extLst>
                <a:ext uri="{FF2B5EF4-FFF2-40B4-BE49-F238E27FC236}">
                  <a16:creationId xmlns:a16="http://schemas.microsoft.com/office/drawing/2014/main" id="{70A6F1B3-6C14-4067-FEF8-B0EBBA3DDFAE}"/>
                </a:ext>
              </a:extLst>
            </p:cNvPr>
            <p:cNvSpPr txBox="1"/>
            <p:nvPr/>
          </p:nvSpPr>
          <p:spPr>
            <a:xfrm>
              <a:off x="9088051" y="160162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extLst>
      <p:ext uri="{BB962C8B-B14F-4D97-AF65-F5344CB8AC3E}">
        <p14:creationId xmlns:p14="http://schemas.microsoft.com/office/powerpoint/2010/main" val="449239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MODÈLE TECHNIQUE</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Gouvernance fédérée &amp; automatisation technique</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10 / 21</a:t>
            </a:r>
            <a:endParaRPr dirty="0"/>
          </a:p>
        </p:txBody>
      </p:sp>
      <p:sp>
        <p:nvSpPr>
          <p:cNvPr id="5" name="TextBox 4"/>
          <p:cNvSpPr txBox="1"/>
          <p:nvPr/>
        </p:nvSpPr>
        <p:spPr>
          <a:xfrm>
            <a:off x="548640" y="1371600"/>
            <a:ext cx="3200400" cy="4572000"/>
          </a:xfrm>
          <a:prstGeom prst="rect">
            <a:avLst/>
          </a:prstGeom>
          <a:noFill/>
        </p:spPr>
        <p:txBody>
          <a:bodyPr wrap="square">
            <a:spAutoFit/>
          </a:bodyPr>
          <a:lstStyle/>
          <a:p>
            <a:pPr>
              <a:spcAft>
                <a:spcPts val="2000"/>
              </a:spcAft>
              <a:defRPr sz="1300">
                <a:solidFill>
                  <a:srgbClr val="B3B3B3"/>
                </a:solidFill>
                <a:latin typeface="Arial"/>
              </a:defRPr>
            </a:pPr>
            <a:r>
              <a:t>Gouvernance invisible intégrée :</a:t>
            </a:r>
            <a:br/>
            <a:r>
              <a:t>L'autonomie des Squads de développement est préservée. Zéro contrôle bureaucratique manuel.</a:t>
            </a:r>
            <a:br/>
            <a:br/>
            <a:r>
              <a:t>La propriété des données est codifiée et gérée comme du code logiciel versionné.</a:t>
            </a:r>
          </a:p>
        </p:txBody>
      </p:sp>
      <p:sp>
        <p:nvSpPr>
          <p:cNvPr id="6" name="Rounded Rectangle 5"/>
          <p:cNvSpPr/>
          <p:nvPr/>
        </p:nvSpPr>
        <p:spPr>
          <a:xfrm>
            <a:off x="4023360" y="1371600"/>
            <a:ext cx="246888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87952" y="1536192"/>
            <a:ext cx="2139696" cy="4242816"/>
          </a:xfrm>
          <a:prstGeom prst="rect">
            <a:avLst/>
          </a:prstGeom>
          <a:noFill/>
        </p:spPr>
        <p:txBody>
          <a:bodyPr wrap="square" lIns="0" tIns="0" rIns="0" bIns="0">
            <a:spAutoFit/>
          </a:bodyPr>
          <a:lstStyle/>
          <a:p>
            <a:pPr>
              <a:spcAft>
                <a:spcPts val="600"/>
              </a:spcAft>
              <a:defRPr sz="1200" b="1">
                <a:solidFill>
                  <a:srgbClr val="1DB954"/>
                </a:solidFill>
                <a:latin typeface="Arial"/>
              </a:defRPr>
            </a:pPr>
            <a:r>
              <a:t>Responsabilisation Git</a:t>
            </a:r>
          </a:p>
          <a:p>
            <a:pPr>
              <a:spcAft>
                <a:spcPts val="400"/>
              </a:spcAft>
              <a:defRPr sz="950" b="1">
                <a:solidFill>
                  <a:srgbClr val="FFFFFF"/>
                </a:solidFill>
                <a:latin typeface="Arial"/>
              </a:defRPr>
            </a:pPr>
            <a:r>
              <a:t>Fichier owner.yaml :</a:t>
            </a:r>
            <a:r>
              <a:rPr sz="950" b="0">
                <a:solidFill>
                  <a:srgbClr val="B3B3B3"/>
                </a:solidFill>
              </a:rPr>
              <a:t> Fichier standardisé obligatoire à la racine de chaque dépôt.</a:t>
            </a:r>
          </a:p>
          <a:p>
            <a:pPr>
              <a:spcAft>
                <a:spcPts val="400"/>
              </a:spcAft>
              <a:defRPr sz="950" b="1">
                <a:solidFill>
                  <a:srgbClr val="FFFFFF"/>
                </a:solidFill>
                <a:latin typeface="Arial"/>
              </a:defRPr>
            </a:pPr>
            <a:r>
              <a:t>Métadonnées clés :</a:t>
            </a:r>
            <a:r>
              <a:rPr sz="950" b="0">
                <a:solidFill>
                  <a:srgbClr val="B3B3B3"/>
                </a:solidFill>
              </a:rPr>
              <a:t> Identité du Data Owner, canal Slack d'équipe, et périmètre sémantique.</a:t>
            </a:r>
          </a:p>
          <a:p>
            <a:pPr>
              <a:spcAft>
                <a:spcPts val="400"/>
              </a:spcAft>
              <a:defRPr sz="950" b="1">
                <a:solidFill>
                  <a:srgbClr val="FFFFFF"/>
                </a:solidFill>
                <a:latin typeface="Arial"/>
              </a:defRPr>
            </a:pPr>
            <a:r>
              <a:t>Zéro Orphelin :</a:t>
            </a:r>
            <a:r>
              <a:rPr sz="950" b="0">
                <a:solidFill>
                  <a:srgbClr val="B3B3B3"/>
                </a:solidFill>
              </a:rPr>
              <a:t> Aucun pipeline ne peut être déployé en production sans propriétaire déclaré.</a:t>
            </a:r>
          </a:p>
        </p:txBody>
      </p:sp>
      <p:sp>
        <p:nvSpPr>
          <p:cNvPr id="8" name="Rounded Rectangle 7"/>
          <p:cNvSpPr/>
          <p:nvPr/>
        </p:nvSpPr>
        <p:spPr>
          <a:xfrm>
            <a:off x="6675120" y="1371600"/>
            <a:ext cx="246888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1536192"/>
            <a:ext cx="2139696" cy="4242816"/>
          </a:xfrm>
          <a:prstGeom prst="rect">
            <a:avLst/>
          </a:prstGeom>
          <a:noFill/>
        </p:spPr>
        <p:txBody>
          <a:bodyPr wrap="square" lIns="0" tIns="0" rIns="0" bIns="0">
            <a:spAutoFit/>
          </a:bodyPr>
          <a:lstStyle/>
          <a:p>
            <a:pPr>
              <a:spcAft>
                <a:spcPts val="600"/>
              </a:spcAft>
              <a:defRPr sz="1200" b="1">
                <a:solidFill>
                  <a:srgbClr val="1DB954"/>
                </a:solidFill>
                <a:latin typeface="Arial"/>
              </a:defRPr>
            </a:pPr>
            <a:r>
              <a:t>Le portail Backstage</a:t>
            </a:r>
          </a:p>
          <a:p>
            <a:pPr>
              <a:spcAft>
                <a:spcPts val="400"/>
              </a:spcAft>
              <a:defRPr sz="950" b="1">
                <a:solidFill>
                  <a:srgbClr val="FFFFFF"/>
                </a:solidFill>
                <a:latin typeface="Arial"/>
              </a:defRPr>
            </a:pPr>
            <a:r>
              <a:t>Registre Automatique :</a:t>
            </a:r>
            <a:r>
              <a:rPr sz="950" b="0">
                <a:solidFill>
                  <a:srgbClr val="B3B3B3"/>
                </a:solidFill>
              </a:rPr>
              <a:t> Extraction asynchrone des owner.yaml pour cartographier le catalogue.</a:t>
            </a:r>
          </a:p>
          <a:p>
            <a:pPr>
              <a:spcAft>
                <a:spcPts val="400"/>
              </a:spcAft>
              <a:defRPr sz="950" b="1">
                <a:solidFill>
                  <a:srgbClr val="FFFFFF"/>
                </a:solidFill>
                <a:latin typeface="Arial"/>
              </a:defRPr>
            </a:pPr>
            <a:r>
              <a:t>Visualisation :</a:t>
            </a:r>
            <a:r>
              <a:rPr sz="950" b="0">
                <a:solidFill>
                  <a:srgbClr val="B3B3B3"/>
                </a:solidFill>
              </a:rPr>
              <a:t> Cartographie dynamique du lignage technique (lineage) de bout en bout.</a:t>
            </a:r>
          </a:p>
          <a:p>
            <a:pPr>
              <a:spcAft>
                <a:spcPts val="400"/>
              </a:spcAft>
              <a:defRPr sz="950" b="1">
                <a:solidFill>
                  <a:srgbClr val="FFFFFF"/>
                </a:solidFill>
                <a:latin typeface="Arial"/>
              </a:defRPr>
            </a:pPr>
            <a:r>
              <a:t>Découverte intelligente :</a:t>
            </a:r>
            <a:r>
              <a:rPr sz="950" b="0">
                <a:solidFill>
                  <a:srgbClr val="B3B3B3"/>
                </a:solidFill>
              </a:rPr>
              <a:t> Moteur sémantique de recommandation de jeux de données valides.</a:t>
            </a:r>
          </a:p>
        </p:txBody>
      </p:sp>
      <p:sp>
        <p:nvSpPr>
          <p:cNvPr id="10" name="Rounded Rectangle 9"/>
          <p:cNvSpPr/>
          <p:nvPr/>
        </p:nvSpPr>
        <p:spPr>
          <a:xfrm>
            <a:off x="9463832" y="1371600"/>
            <a:ext cx="2286000" cy="4572000"/>
          </a:xfrm>
          <a:prstGeom prst="roundRect">
            <a:avLst/>
          </a:prstGeom>
          <a:solidFill>
            <a:srgbClr val="142D19"/>
          </a:solidFill>
          <a:ln w="19050">
            <a:solidFill>
              <a:srgbClr val="289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28424" y="1536192"/>
            <a:ext cx="1956816" cy="3328416"/>
          </a:xfrm>
          <a:prstGeom prst="rect">
            <a:avLst/>
          </a:prstGeom>
          <a:noFill/>
        </p:spPr>
        <p:txBody>
          <a:bodyPr wrap="square" lIns="0" tIns="0" rIns="0" bIns="0">
            <a:spAutoFit/>
          </a:bodyPr>
          <a:lstStyle/>
          <a:p>
            <a:pPr>
              <a:spcAft>
                <a:spcPts val="600"/>
              </a:spcAft>
              <a:defRPr sz="1200" b="1">
                <a:solidFill>
                  <a:srgbClr val="FFFFFF"/>
                </a:solidFill>
                <a:latin typeface="Arial"/>
              </a:defRPr>
            </a:pPr>
            <a:r>
              <a:t>Gouvernance invisible</a:t>
            </a:r>
          </a:p>
          <a:p>
            <a:pPr>
              <a:spcAft>
                <a:spcPts val="400"/>
              </a:spcAft>
              <a:defRPr sz="950" b="1">
                <a:solidFill>
                  <a:srgbClr val="FFFFFF"/>
                </a:solidFill>
                <a:latin typeface="Arial"/>
              </a:defRPr>
            </a:pPr>
            <a:r>
              <a:t>Conformité fluide :</a:t>
            </a:r>
            <a:r>
              <a:rPr sz="950" b="0">
                <a:solidFill>
                  <a:srgbClr val="B3B3B3"/>
                </a:solidFill>
              </a:rPr>
              <a:t> Intégration dans les outils quotidiens des développeurs.</a:t>
            </a:r>
          </a:p>
          <a:p>
            <a:pPr>
              <a:spcAft>
                <a:spcPts val="400"/>
              </a:spcAft>
              <a:defRPr sz="950" b="1">
                <a:solidFill>
                  <a:srgbClr val="FFFFFF"/>
                </a:solidFill>
                <a:latin typeface="Arial"/>
              </a:defRPr>
            </a:pPr>
            <a:r>
              <a:t>Modèles prêts à l'usage :</a:t>
            </a:r>
            <a:r>
              <a:rPr sz="950" b="0">
                <a:solidFill>
                  <a:srgbClr val="B3B3B3"/>
                </a:solidFill>
              </a:rPr>
              <a:t> Templates (Golden Paths) de code pré-approuvés.</a:t>
            </a:r>
          </a:p>
          <a:p>
            <a:pPr>
              <a:spcAft>
                <a:spcPts val="400"/>
              </a:spcAft>
              <a:defRPr sz="950" b="1">
                <a:solidFill>
                  <a:srgbClr val="FFFFFF"/>
                </a:solidFill>
                <a:latin typeface="Arial"/>
              </a:defRPr>
            </a:pPr>
            <a:r>
              <a:t>Zéro ralentissement :</a:t>
            </a:r>
            <a:r>
              <a:rPr sz="950" b="0">
                <a:solidFill>
                  <a:srgbClr val="B3B3B3"/>
                </a:solidFill>
              </a:rPr>
              <a:t> Accélère la vélocité tout en garantissant l'alignement.</a:t>
            </a:r>
          </a:p>
        </p:txBody>
      </p:sp>
      <p:grpSp>
        <p:nvGrpSpPr>
          <p:cNvPr id="18" name="Groupe 17">
            <a:extLst>
              <a:ext uri="{FF2B5EF4-FFF2-40B4-BE49-F238E27FC236}">
                <a16:creationId xmlns:a16="http://schemas.microsoft.com/office/drawing/2014/main" id="{A1C153E8-0728-DD62-4396-5524B3A71506}"/>
              </a:ext>
            </a:extLst>
          </p:cNvPr>
          <p:cNvGrpSpPr/>
          <p:nvPr/>
        </p:nvGrpSpPr>
        <p:grpSpPr>
          <a:xfrm>
            <a:off x="548640" y="222912"/>
            <a:ext cx="10866616" cy="230832"/>
            <a:chOff x="172859" y="2099469"/>
            <a:chExt cx="10866616" cy="230832"/>
          </a:xfrm>
        </p:grpSpPr>
        <p:sp>
          <p:nvSpPr>
            <p:cNvPr id="19" name="ZoneTexte 18">
              <a:extLst>
                <a:ext uri="{FF2B5EF4-FFF2-40B4-BE49-F238E27FC236}">
                  <a16:creationId xmlns:a16="http://schemas.microsoft.com/office/drawing/2014/main" id="{01E8700A-75D2-BA0F-3DF1-DE26A483BE66}"/>
                </a:ext>
              </a:extLst>
            </p:cNvPr>
            <p:cNvSpPr txBox="1"/>
            <p:nvPr/>
          </p:nvSpPr>
          <p:spPr>
            <a:xfrm>
              <a:off x="172859" y="209946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20" name="ZoneTexte 19">
              <a:extLst>
                <a:ext uri="{FF2B5EF4-FFF2-40B4-BE49-F238E27FC236}">
                  <a16:creationId xmlns:a16="http://schemas.microsoft.com/office/drawing/2014/main" id="{F3CB8B9E-92CC-455D-6A58-D010DDAAAB36}"/>
                </a:ext>
              </a:extLst>
            </p:cNvPr>
            <p:cNvSpPr txBox="1"/>
            <p:nvPr/>
          </p:nvSpPr>
          <p:spPr>
            <a:xfrm>
              <a:off x="1671599" y="209946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21" name="ZoneTexte 20">
              <a:extLst>
                <a:ext uri="{FF2B5EF4-FFF2-40B4-BE49-F238E27FC236}">
                  <a16:creationId xmlns:a16="http://schemas.microsoft.com/office/drawing/2014/main" id="{B0AC0E1E-3D9A-1159-B3B4-A1925547815C}"/>
                </a:ext>
              </a:extLst>
            </p:cNvPr>
            <p:cNvSpPr txBox="1"/>
            <p:nvPr/>
          </p:nvSpPr>
          <p:spPr>
            <a:xfrm>
              <a:off x="4296533" y="209946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22" name="ZoneTexte 21">
              <a:extLst>
                <a:ext uri="{FF2B5EF4-FFF2-40B4-BE49-F238E27FC236}">
                  <a16:creationId xmlns:a16="http://schemas.microsoft.com/office/drawing/2014/main" id="{5D5A5838-04B6-72C3-6D3C-1D1BF08475F6}"/>
                </a:ext>
              </a:extLst>
            </p:cNvPr>
            <p:cNvSpPr txBox="1"/>
            <p:nvPr/>
          </p:nvSpPr>
          <p:spPr>
            <a:xfrm>
              <a:off x="6921467" y="209946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23" name="ZoneTexte 22">
              <a:extLst>
                <a:ext uri="{FF2B5EF4-FFF2-40B4-BE49-F238E27FC236}">
                  <a16:creationId xmlns:a16="http://schemas.microsoft.com/office/drawing/2014/main" id="{566DAF37-3F5F-9218-24CA-47771C3F299F}"/>
                </a:ext>
              </a:extLst>
            </p:cNvPr>
            <p:cNvSpPr txBox="1"/>
            <p:nvPr/>
          </p:nvSpPr>
          <p:spPr>
            <a:xfrm>
              <a:off x="9088051" y="209946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ÉCOSYSTÈME OUTILLÉ</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Écosystème technologique de gouvernance recommandé</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11 / 21</a:t>
            </a:r>
            <a:endParaRPr dirty="0"/>
          </a:p>
        </p:txBody>
      </p:sp>
      <p:sp>
        <p:nvSpPr>
          <p:cNvPr id="5" name="TextBox 4"/>
          <p:cNvSpPr txBox="1"/>
          <p:nvPr/>
        </p:nvSpPr>
        <p:spPr>
          <a:xfrm>
            <a:off x="548640" y="1371600"/>
            <a:ext cx="3474720" cy="4572000"/>
          </a:xfrm>
          <a:prstGeom prst="rect">
            <a:avLst/>
          </a:prstGeom>
          <a:noFill/>
        </p:spPr>
        <p:txBody>
          <a:bodyPr wrap="square">
            <a:spAutoFit/>
          </a:bodyPr>
          <a:lstStyle/>
          <a:p>
            <a:pPr>
              <a:spcAft>
                <a:spcPts val="2000"/>
              </a:spcAft>
              <a:defRPr sz="1300">
                <a:solidFill>
                  <a:srgbClr val="B3B3B3"/>
                </a:solidFill>
                <a:latin typeface="Arial"/>
              </a:defRPr>
            </a:pPr>
            <a:r>
              <a:t>L'infrastructure technique de confiance :</a:t>
            </a:r>
            <a:br/>
            <a:br/>
            <a:r>
              <a:t>Pour piloter notre flotte à l'échelle de 500 milliards d'événements par jour, nous unifions les pratiques sur un ensemble d'outils cloud certifiés et intégrés.</a:t>
            </a:r>
          </a:p>
        </p:txBody>
      </p:sp>
      <p:sp>
        <p:nvSpPr>
          <p:cNvPr id="6" name="Rounded Rectangle 5"/>
          <p:cNvSpPr/>
          <p:nvPr/>
        </p:nvSpPr>
        <p:spPr>
          <a:xfrm>
            <a:off x="4297680" y="1371600"/>
            <a:ext cx="347472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62272" y="1536192"/>
            <a:ext cx="3145536" cy="1210588"/>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1. </a:t>
            </a:r>
            <a:r>
              <a:rPr dirty="0" err="1"/>
              <a:t>Catalogage</a:t>
            </a:r>
            <a:r>
              <a:rPr dirty="0"/>
              <a:t> &amp; </a:t>
            </a:r>
            <a:r>
              <a:rPr dirty="0" err="1"/>
              <a:t>métadonnées</a:t>
            </a:r>
            <a:endParaRPr lang="fr-FR" dirty="0"/>
          </a:p>
          <a:p>
            <a:pPr>
              <a:spcAft>
                <a:spcPts val="600"/>
              </a:spcAft>
              <a:defRPr sz="1200" b="1">
                <a:solidFill>
                  <a:srgbClr val="1DB954"/>
                </a:solidFill>
                <a:latin typeface="Arial"/>
              </a:defRPr>
            </a:pPr>
            <a:endParaRPr dirty="0"/>
          </a:p>
          <a:p>
            <a:pPr>
              <a:spcAft>
                <a:spcPts val="400"/>
              </a:spcAft>
              <a:defRPr sz="950" b="1">
                <a:solidFill>
                  <a:srgbClr val="FFFFFF"/>
                </a:solidFill>
                <a:latin typeface="Arial"/>
              </a:defRPr>
            </a:pPr>
            <a:r>
              <a:rPr dirty="0" err="1"/>
              <a:t>Outils</a:t>
            </a:r>
            <a:r>
              <a:rPr dirty="0"/>
              <a:t> :</a:t>
            </a:r>
            <a:r>
              <a:rPr sz="950" b="0" dirty="0">
                <a:solidFill>
                  <a:srgbClr val="B3B3B3"/>
                </a:solidFill>
              </a:rPr>
              <a:t> </a:t>
            </a:r>
            <a:r>
              <a:rPr sz="950" b="1" dirty="0">
                <a:solidFill>
                  <a:srgbClr val="B3B3B3"/>
                </a:solidFill>
              </a:rPr>
              <a:t>Backstage </a:t>
            </a:r>
            <a:r>
              <a:rPr sz="950" dirty="0">
                <a:solidFill>
                  <a:srgbClr val="B3B3B3"/>
                </a:solidFill>
              </a:rPr>
              <a:t>(interne) </a:t>
            </a:r>
            <a:r>
              <a:rPr sz="950" b="0" dirty="0">
                <a:solidFill>
                  <a:srgbClr val="B3B3B3"/>
                </a:solidFill>
              </a:rPr>
              <a:t>&amp; </a:t>
            </a:r>
            <a:r>
              <a:rPr sz="950" b="1" dirty="0" err="1">
                <a:solidFill>
                  <a:srgbClr val="B3B3B3"/>
                </a:solidFill>
              </a:rPr>
              <a:t>DataHub</a:t>
            </a:r>
            <a:r>
              <a:rPr sz="950" b="0" dirty="0">
                <a:solidFill>
                  <a:srgbClr val="B3B3B3"/>
                </a:solidFill>
              </a:rPr>
              <a:t>.</a:t>
            </a:r>
            <a:endParaRPr lang="fr-FR" sz="950" b="0" dirty="0">
              <a:solidFill>
                <a:srgbClr val="B3B3B3"/>
              </a:solidFill>
            </a:endParaRPr>
          </a:p>
          <a:p>
            <a:pPr>
              <a:spcAft>
                <a:spcPts val="400"/>
              </a:spcAft>
              <a:defRPr sz="950" b="1">
                <a:solidFill>
                  <a:srgbClr val="FFFFFF"/>
                </a:solidFill>
                <a:latin typeface="Arial"/>
              </a:defRPr>
            </a:pPr>
            <a:endParaRPr sz="950" b="0" dirty="0">
              <a:solidFill>
                <a:srgbClr val="B3B3B3"/>
              </a:solidFill>
            </a:endParaRPr>
          </a:p>
          <a:p>
            <a:pPr>
              <a:spcAft>
                <a:spcPts val="400"/>
              </a:spcAft>
              <a:defRPr sz="950" b="1">
                <a:solidFill>
                  <a:srgbClr val="FFFFFF"/>
                </a:solidFill>
                <a:latin typeface="Arial"/>
              </a:defRPr>
            </a:pPr>
            <a:r>
              <a:rPr dirty="0"/>
              <a:t>Usages :</a:t>
            </a:r>
            <a:r>
              <a:rPr sz="950" b="0" dirty="0">
                <a:solidFill>
                  <a:srgbClr val="B3B3B3"/>
                </a:solidFill>
              </a:rPr>
              <a:t> </a:t>
            </a:r>
            <a:r>
              <a:rPr lang="fr-FR" sz="950" b="0" dirty="0">
                <a:solidFill>
                  <a:srgbClr val="B3B3B3"/>
                </a:solidFill>
              </a:rPr>
              <a:t>d</a:t>
            </a:r>
            <a:r>
              <a:rPr sz="950" b="0" dirty="0" err="1">
                <a:solidFill>
                  <a:srgbClr val="B3B3B3"/>
                </a:solidFill>
              </a:rPr>
              <a:t>écouverte</a:t>
            </a:r>
            <a:r>
              <a:rPr sz="950" b="0" dirty="0">
                <a:solidFill>
                  <a:srgbClr val="B3B3B3"/>
                </a:solidFill>
              </a:rPr>
              <a:t> </a:t>
            </a:r>
            <a:r>
              <a:rPr sz="950" b="0" dirty="0" err="1">
                <a:solidFill>
                  <a:srgbClr val="B3B3B3"/>
                </a:solidFill>
              </a:rPr>
              <a:t>sémantique</a:t>
            </a:r>
            <a:r>
              <a:rPr sz="950" b="0" dirty="0">
                <a:solidFill>
                  <a:srgbClr val="B3B3B3"/>
                </a:solidFill>
              </a:rPr>
              <a:t> </a:t>
            </a:r>
            <a:r>
              <a:rPr sz="950" b="0" dirty="0" err="1">
                <a:solidFill>
                  <a:srgbClr val="B3B3B3"/>
                </a:solidFill>
              </a:rPr>
              <a:t>intelligente</a:t>
            </a:r>
            <a:r>
              <a:rPr sz="950" b="0" dirty="0">
                <a:solidFill>
                  <a:srgbClr val="B3B3B3"/>
                </a:solidFill>
              </a:rPr>
              <a:t>, recherche par intention, </a:t>
            </a:r>
            <a:r>
              <a:rPr sz="950" b="0" dirty="0" err="1">
                <a:solidFill>
                  <a:srgbClr val="B3B3B3"/>
                </a:solidFill>
              </a:rPr>
              <a:t>cartographie</a:t>
            </a:r>
            <a:r>
              <a:rPr sz="950" b="0" dirty="0">
                <a:solidFill>
                  <a:srgbClr val="B3B3B3"/>
                </a:solidFill>
              </a:rPr>
              <a:t> et </a:t>
            </a:r>
            <a:r>
              <a:rPr sz="950" b="0" dirty="0" err="1">
                <a:solidFill>
                  <a:srgbClr val="B3B3B3"/>
                </a:solidFill>
              </a:rPr>
              <a:t>lignage</a:t>
            </a:r>
            <a:r>
              <a:rPr sz="950" b="0" dirty="0">
                <a:solidFill>
                  <a:srgbClr val="B3B3B3"/>
                </a:solidFill>
              </a:rPr>
              <a:t> des flux.</a:t>
            </a:r>
          </a:p>
        </p:txBody>
      </p:sp>
      <p:sp>
        <p:nvSpPr>
          <p:cNvPr id="8" name="Rounded Rectangle 7"/>
          <p:cNvSpPr/>
          <p:nvPr/>
        </p:nvSpPr>
        <p:spPr>
          <a:xfrm>
            <a:off x="8046720" y="1371600"/>
            <a:ext cx="35661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536192"/>
            <a:ext cx="3236976" cy="1356782"/>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2. </a:t>
            </a:r>
            <a:r>
              <a:rPr dirty="0" err="1"/>
              <a:t>Qualité</a:t>
            </a:r>
            <a:r>
              <a:rPr dirty="0"/>
              <a:t> des données</a:t>
            </a:r>
            <a:endParaRPr lang="fr-FR" dirty="0"/>
          </a:p>
          <a:p>
            <a:pPr>
              <a:spcAft>
                <a:spcPts val="600"/>
              </a:spcAft>
              <a:defRPr sz="1200" b="1">
                <a:solidFill>
                  <a:srgbClr val="1DB954"/>
                </a:solidFill>
                <a:latin typeface="Arial"/>
              </a:defRPr>
            </a:pPr>
            <a:endParaRPr dirty="0"/>
          </a:p>
          <a:p>
            <a:pPr>
              <a:spcAft>
                <a:spcPts val="400"/>
              </a:spcAft>
              <a:defRPr sz="950" b="1">
                <a:solidFill>
                  <a:srgbClr val="FFFFFF"/>
                </a:solidFill>
                <a:latin typeface="Arial"/>
              </a:defRPr>
            </a:pPr>
            <a:r>
              <a:rPr dirty="0" err="1"/>
              <a:t>Outils</a:t>
            </a:r>
            <a:r>
              <a:rPr dirty="0"/>
              <a:t> :</a:t>
            </a:r>
            <a:r>
              <a:rPr sz="950" b="0" dirty="0">
                <a:solidFill>
                  <a:srgbClr val="B3B3B3"/>
                </a:solidFill>
              </a:rPr>
              <a:t> </a:t>
            </a:r>
            <a:r>
              <a:rPr sz="950" b="1" dirty="0">
                <a:solidFill>
                  <a:srgbClr val="B3B3B3"/>
                </a:solidFill>
              </a:rPr>
              <a:t>Talend</a:t>
            </a:r>
            <a:r>
              <a:rPr sz="950" b="0" dirty="0">
                <a:solidFill>
                  <a:srgbClr val="B3B3B3"/>
                </a:solidFill>
              </a:rPr>
              <a:t> (ingestion), </a:t>
            </a:r>
            <a:r>
              <a:rPr sz="950" b="1" dirty="0">
                <a:solidFill>
                  <a:srgbClr val="B3B3B3"/>
                </a:solidFill>
              </a:rPr>
              <a:t>Apache Beam / Scio </a:t>
            </a:r>
            <a:r>
              <a:rPr sz="950" b="0" dirty="0">
                <a:solidFill>
                  <a:srgbClr val="B3B3B3"/>
                </a:solidFill>
              </a:rPr>
              <a:t>&amp; </a:t>
            </a:r>
            <a:r>
              <a:rPr sz="950" b="1" dirty="0">
                <a:solidFill>
                  <a:srgbClr val="B3B3B3"/>
                </a:solidFill>
              </a:rPr>
              <a:t>Monte Carlo</a:t>
            </a:r>
            <a:r>
              <a:rPr sz="950" b="0" dirty="0">
                <a:solidFill>
                  <a:srgbClr val="B3B3B3"/>
                </a:solidFill>
              </a:rPr>
              <a:t>.</a:t>
            </a:r>
            <a:endParaRPr lang="fr-FR" sz="950" b="0" dirty="0">
              <a:solidFill>
                <a:srgbClr val="B3B3B3"/>
              </a:solidFill>
            </a:endParaRPr>
          </a:p>
          <a:p>
            <a:pPr>
              <a:spcAft>
                <a:spcPts val="400"/>
              </a:spcAft>
              <a:defRPr sz="950" b="1">
                <a:solidFill>
                  <a:srgbClr val="FFFFFF"/>
                </a:solidFill>
                <a:latin typeface="Arial"/>
              </a:defRPr>
            </a:pPr>
            <a:endParaRPr sz="950" b="0" dirty="0">
              <a:solidFill>
                <a:srgbClr val="B3B3B3"/>
              </a:solidFill>
            </a:endParaRPr>
          </a:p>
          <a:p>
            <a:pPr>
              <a:spcAft>
                <a:spcPts val="400"/>
              </a:spcAft>
              <a:defRPr sz="950" b="1">
                <a:solidFill>
                  <a:srgbClr val="FFFFFF"/>
                </a:solidFill>
                <a:latin typeface="Arial"/>
              </a:defRPr>
            </a:pPr>
            <a:r>
              <a:rPr dirty="0"/>
              <a:t>Usages :</a:t>
            </a:r>
            <a:r>
              <a:rPr sz="950" b="0" dirty="0">
                <a:solidFill>
                  <a:srgbClr val="B3B3B3"/>
                </a:solidFill>
              </a:rPr>
              <a:t> </a:t>
            </a:r>
            <a:r>
              <a:rPr lang="fr-FR" sz="950" b="0" dirty="0">
                <a:solidFill>
                  <a:srgbClr val="B3B3B3"/>
                </a:solidFill>
              </a:rPr>
              <a:t>p</a:t>
            </a:r>
            <a:r>
              <a:rPr sz="950" b="0" dirty="0" err="1">
                <a:solidFill>
                  <a:srgbClr val="B3B3B3"/>
                </a:solidFill>
              </a:rPr>
              <a:t>rofilage</a:t>
            </a:r>
            <a:r>
              <a:rPr sz="950" b="0" dirty="0">
                <a:solidFill>
                  <a:srgbClr val="B3B3B3"/>
                </a:solidFill>
              </a:rPr>
              <a:t>, </a:t>
            </a:r>
            <a:r>
              <a:rPr sz="950" b="0" dirty="0" err="1">
                <a:solidFill>
                  <a:srgbClr val="B3B3B3"/>
                </a:solidFill>
              </a:rPr>
              <a:t>nettoyage</a:t>
            </a:r>
            <a:r>
              <a:rPr sz="950" b="0" dirty="0">
                <a:solidFill>
                  <a:srgbClr val="B3B3B3"/>
                </a:solidFill>
              </a:rPr>
              <a:t> </a:t>
            </a:r>
            <a:r>
              <a:rPr sz="950" b="0" dirty="0" err="1">
                <a:solidFill>
                  <a:srgbClr val="B3B3B3"/>
                </a:solidFill>
              </a:rPr>
              <a:t>automatique</a:t>
            </a:r>
            <a:r>
              <a:rPr sz="950" b="0" dirty="0">
                <a:solidFill>
                  <a:srgbClr val="B3B3B3"/>
                </a:solidFill>
              </a:rPr>
              <a:t> </a:t>
            </a:r>
            <a:r>
              <a:rPr sz="950" b="0" dirty="0" err="1">
                <a:solidFill>
                  <a:srgbClr val="B3B3B3"/>
                </a:solidFill>
              </a:rPr>
              <a:t>lors</a:t>
            </a:r>
            <a:r>
              <a:rPr sz="950" b="0" dirty="0">
                <a:solidFill>
                  <a:srgbClr val="B3B3B3"/>
                </a:solidFill>
              </a:rPr>
              <a:t> de </a:t>
            </a:r>
            <a:r>
              <a:rPr sz="950" b="0" dirty="0" err="1">
                <a:solidFill>
                  <a:srgbClr val="B3B3B3"/>
                </a:solidFill>
              </a:rPr>
              <a:t>l'ingestion</a:t>
            </a:r>
            <a:r>
              <a:rPr sz="950" b="0" dirty="0">
                <a:solidFill>
                  <a:srgbClr val="B3B3B3"/>
                </a:solidFill>
              </a:rPr>
              <a:t>, et monitoring </a:t>
            </a:r>
            <a:r>
              <a:rPr sz="950" b="0" dirty="0" err="1">
                <a:solidFill>
                  <a:srgbClr val="B3B3B3"/>
                </a:solidFill>
              </a:rPr>
              <a:t>d'intégrité</a:t>
            </a:r>
            <a:r>
              <a:rPr sz="950" b="0" dirty="0">
                <a:solidFill>
                  <a:srgbClr val="B3B3B3"/>
                </a:solidFill>
              </a:rPr>
              <a:t> </a:t>
            </a:r>
            <a:r>
              <a:rPr sz="950" b="0" dirty="0" err="1">
                <a:solidFill>
                  <a:srgbClr val="B3B3B3"/>
                </a:solidFill>
              </a:rPr>
              <a:t>en</a:t>
            </a:r>
            <a:r>
              <a:rPr sz="950" b="0" dirty="0">
                <a:solidFill>
                  <a:srgbClr val="B3B3B3"/>
                </a:solidFill>
              </a:rPr>
              <a:t> temps </a:t>
            </a:r>
            <a:r>
              <a:rPr sz="950" b="0" dirty="0" err="1">
                <a:solidFill>
                  <a:srgbClr val="B3B3B3"/>
                </a:solidFill>
              </a:rPr>
              <a:t>réel</a:t>
            </a:r>
            <a:r>
              <a:rPr sz="950" b="0" dirty="0">
                <a:solidFill>
                  <a:srgbClr val="B3B3B3"/>
                </a:solidFill>
              </a:rPr>
              <a:t>.</a:t>
            </a:r>
          </a:p>
        </p:txBody>
      </p:sp>
      <p:sp>
        <p:nvSpPr>
          <p:cNvPr id="10" name="Rounded Rectangle 9"/>
          <p:cNvSpPr/>
          <p:nvPr/>
        </p:nvSpPr>
        <p:spPr>
          <a:xfrm>
            <a:off x="4297680" y="3749039"/>
            <a:ext cx="347472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62272" y="3913631"/>
            <a:ext cx="3145536" cy="1502976"/>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3. </a:t>
            </a:r>
            <a:r>
              <a:rPr dirty="0" err="1"/>
              <a:t>Conformité</a:t>
            </a:r>
            <a:r>
              <a:rPr dirty="0"/>
              <a:t> &amp; </a:t>
            </a:r>
            <a:r>
              <a:rPr dirty="0" err="1"/>
              <a:t>confidentialité</a:t>
            </a:r>
            <a:endParaRPr lang="fr-FR" dirty="0"/>
          </a:p>
          <a:p>
            <a:pPr>
              <a:spcAft>
                <a:spcPts val="600"/>
              </a:spcAft>
              <a:defRPr sz="1200" b="1">
                <a:solidFill>
                  <a:srgbClr val="1DB954"/>
                </a:solidFill>
                <a:latin typeface="Arial"/>
              </a:defRPr>
            </a:pPr>
            <a:endParaRPr dirty="0"/>
          </a:p>
          <a:p>
            <a:pPr>
              <a:spcAft>
                <a:spcPts val="400"/>
              </a:spcAft>
              <a:defRPr sz="950" b="1">
                <a:solidFill>
                  <a:srgbClr val="FFFFFF"/>
                </a:solidFill>
                <a:latin typeface="Arial"/>
              </a:defRPr>
            </a:pPr>
            <a:r>
              <a:rPr dirty="0" err="1"/>
              <a:t>Outils</a:t>
            </a:r>
            <a:r>
              <a:rPr dirty="0"/>
              <a:t> :</a:t>
            </a:r>
            <a:r>
              <a:rPr sz="950" b="0" dirty="0">
                <a:solidFill>
                  <a:srgbClr val="B3B3B3"/>
                </a:solidFill>
              </a:rPr>
              <a:t> </a:t>
            </a:r>
            <a:r>
              <a:rPr sz="950" b="1" dirty="0" err="1">
                <a:solidFill>
                  <a:srgbClr val="B3B3B3"/>
                </a:solidFill>
              </a:rPr>
              <a:t>OneTrust</a:t>
            </a:r>
            <a:r>
              <a:rPr sz="950" b="1" dirty="0">
                <a:solidFill>
                  <a:srgbClr val="B3B3B3"/>
                </a:solidFill>
              </a:rPr>
              <a:t> </a:t>
            </a:r>
            <a:r>
              <a:rPr sz="950" b="0" dirty="0">
                <a:solidFill>
                  <a:srgbClr val="B3B3B3"/>
                </a:solidFill>
              </a:rPr>
              <a:t>&amp; </a:t>
            </a:r>
            <a:r>
              <a:rPr sz="950" b="1" dirty="0">
                <a:solidFill>
                  <a:srgbClr val="B3B3B3"/>
                </a:solidFill>
              </a:rPr>
              <a:t>GCP Sensitive Data Protection </a:t>
            </a:r>
            <a:r>
              <a:rPr sz="950" b="0" dirty="0">
                <a:solidFill>
                  <a:srgbClr val="B3B3B3"/>
                </a:solidFill>
              </a:rPr>
              <a:t>(SDP).</a:t>
            </a:r>
            <a:endParaRPr lang="fr-FR" sz="950" b="0" dirty="0">
              <a:solidFill>
                <a:srgbClr val="B3B3B3"/>
              </a:solidFill>
            </a:endParaRPr>
          </a:p>
          <a:p>
            <a:pPr>
              <a:spcAft>
                <a:spcPts val="400"/>
              </a:spcAft>
              <a:defRPr sz="950" b="1">
                <a:solidFill>
                  <a:srgbClr val="FFFFFF"/>
                </a:solidFill>
                <a:latin typeface="Arial"/>
              </a:defRPr>
            </a:pPr>
            <a:endParaRPr sz="950" b="0" dirty="0">
              <a:solidFill>
                <a:srgbClr val="B3B3B3"/>
              </a:solidFill>
            </a:endParaRPr>
          </a:p>
          <a:p>
            <a:pPr>
              <a:spcAft>
                <a:spcPts val="400"/>
              </a:spcAft>
              <a:defRPr sz="950" b="1">
                <a:solidFill>
                  <a:srgbClr val="FFFFFF"/>
                </a:solidFill>
                <a:latin typeface="Arial"/>
              </a:defRPr>
            </a:pPr>
            <a:r>
              <a:rPr dirty="0"/>
              <a:t>Usages :</a:t>
            </a:r>
            <a:r>
              <a:rPr sz="950" b="0" dirty="0">
                <a:solidFill>
                  <a:srgbClr val="B3B3B3"/>
                </a:solidFill>
              </a:rPr>
              <a:t> </a:t>
            </a:r>
            <a:r>
              <a:rPr lang="fr-FR" sz="950" b="0" dirty="0">
                <a:solidFill>
                  <a:srgbClr val="B3B3B3"/>
                </a:solidFill>
              </a:rPr>
              <a:t>r</a:t>
            </a:r>
            <a:r>
              <a:rPr sz="950" b="0" dirty="0" err="1">
                <a:solidFill>
                  <a:srgbClr val="B3B3B3"/>
                </a:solidFill>
              </a:rPr>
              <a:t>egistre</a:t>
            </a:r>
            <a:r>
              <a:rPr sz="950" b="0" dirty="0">
                <a:solidFill>
                  <a:srgbClr val="B3B3B3"/>
                </a:solidFill>
              </a:rPr>
              <a:t> des </a:t>
            </a:r>
            <a:r>
              <a:rPr sz="950" b="0" dirty="0" err="1">
                <a:solidFill>
                  <a:srgbClr val="B3B3B3"/>
                </a:solidFill>
              </a:rPr>
              <a:t>traitements</a:t>
            </a:r>
            <a:r>
              <a:rPr sz="950" b="0" dirty="0">
                <a:solidFill>
                  <a:srgbClr val="B3B3B3"/>
                </a:solidFill>
              </a:rPr>
              <a:t>, gestion des </a:t>
            </a:r>
            <a:r>
              <a:rPr sz="950" b="0" dirty="0" err="1">
                <a:solidFill>
                  <a:srgbClr val="B3B3B3"/>
                </a:solidFill>
              </a:rPr>
              <a:t>consentements</a:t>
            </a:r>
            <a:r>
              <a:rPr sz="950" b="0" dirty="0">
                <a:solidFill>
                  <a:srgbClr val="B3B3B3"/>
                </a:solidFill>
              </a:rPr>
              <a:t> (CMP), et </a:t>
            </a:r>
            <a:r>
              <a:rPr sz="950" b="0" dirty="0" err="1">
                <a:solidFill>
                  <a:srgbClr val="B3B3B3"/>
                </a:solidFill>
              </a:rPr>
              <a:t>routage</a:t>
            </a:r>
            <a:r>
              <a:rPr sz="950" b="0" dirty="0">
                <a:solidFill>
                  <a:srgbClr val="B3B3B3"/>
                </a:solidFill>
              </a:rPr>
              <a:t> </a:t>
            </a:r>
            <a:r>
              <a:rPr sz="950" b="0" dirty="0" err="1">
                <a:solidFill>
                  <a:srgbClr val="B3B3B3"/>
                </a:solidFill>
              </a:rPr>
              <a:t>d'exercice</a:t>
            </a:r>
            <a:r>
              <a:rPr sz="950" b="0" dirty="0">
                <a:solidFill>
                  <a:srgbClr val="B3B3B3"/>
                </a:solidFill>
              </a:rPr>
              <a:t> des droits (DSR).</a:t>
            </a:r>
          </a:p>
        </p:txBody>
      </p:sp>
      <p:sp>
        <p:nvSpPr>
          <p:cNvPr id="12" name="Rounded Rectangle 11"/>
          <p:cNvSpPr/>
          <p:nvPr/>
        </p:nvSpPr>
        <p:spPr>
          <a:xfrm>
            <a:off x="8046720" y="3749039"/>
            <a:ext cx="35661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11312" y="3913631"/>
            <a:ext cx="3236976" cy="1356782"/>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4. Sécurité &amp; </a:t>
            </a:r>
            <a:r>
              <a:rPr dirty="0" err="1"/>
              <a:t>chiffrement</a:t>
            </a:r>
            <a:endParaRPr lang="fr-FR" dirty="0"/>
          </a:p>
          <a:p>
            <a:pPr>
              <a:spcAft>
                <a:spcPts val="600"/>
              </a:spcAft>
              <a:defRPr sz="1200" b="1">
                <a:solidFill>
                  <a:srgbClr val="1DB954"/>
                </a:solidFill>
                <a:latin typeface="Arial"/>
              </a:defRPr>
            </a:pPr>
            <a:endParaRPr dirty="0"/>
          </a:p>
          <a:p>
            <a:pPr>
              <a:spcAft>
                <a:spcPts val="400"/>
              </a:spcAft>
              <a:defRPr sz="950" b="1">
                <a:solidFill>
                  <a:srgbClr val="FFFFFF"/>
                </a:solidFill>
                <a:latin typeface="Arial"/>
              </a:defRPr>
            </a:pPr>
            <a:r>
              <a:rPr dirty="0" err="1"/>
              <a:t>Outils</a:t>
            </a:r>
            <a:r>
              <a:rPr dirty="0"/>
              <a:t> :</a:t>
            </a:r>
            <a:r>
              <a:rPr sz="950" b="0" dirty="0">
                <a:solidFill>
                  <a:srgbClr val="B3B3B3"/>
                </a:solidFill>
              </a:rPr>
              <a:t> </a:t>
            </a:r>
            <a:r>
              <a:rPr sz="950" b="1" dirty="0">
                <a:solidFill>
                  <a:srgbClr val="B3B3B3"/>
                </a:solidFill>
              </a:rPr>
              <a:t>GCP Cloud KMS</a:t>
            </a:r>
            <a:r>
              <a:rPr sz="950" b="0" dirty="0">
                <a:solidFill>
                  <a:srgbClr val="B3B3B3"/>
                </a:solidFill>
              </a:rPr>
              <a:t>, </a:t>
            </a:r>
            <a:r>
              <a:rPr sz="950" b="1" dirty="0">
                <a:solidFill>
                  <a:srgbClr val="B3B3B3"/>
                </a:solidFill>
              </a:rPr>
              <a:t>CMEK</a:t>
            </a:r>
            <a:r>
              <a:rPr sz="950" b="0" dirty="0">
                <a:solidFill>
                  <a:srgbClr val="B3B3B3"/>
                </a:solidFill>
              </a:rPr>
              <a:t> (</a:t>
            </a:r>
            <a:r>
              <a:rPr sz="950" b="0" dirty="0" err="1">
                <a:solidFill>
                  <a:srgbClr val="B3B3B3"/>
                </a:solidFill>
              </a:rPr>
              <a:t>BigQuery</a:t>
            </a:r>
            <a:r>
              <a:rPr sz="950" b="0" dirty="0">
                <a:solidFill>
                  <a:srgbClr val="B3B3B3"/>
                </a:solidFill>
              </a:rPr>
              <a:t>) &amp; </a:t>
            </a:r>
            <a:r>
              <a:rPr sz="950" b="1" dirty="0">
                <a:solidFill>
                  <a:srgbClr val="B3B3B3"/>
                </a:solidFill>
              </a:rPr>
              <a:t>Splunk SIEM.</a:t>
            </a:r>
            <a:endParaRPr lang="fr-FR" sz="950" b="1" dirty="0">
              <a:solidFill>
                <a:srgbClr val="B3B3B3"/>
              </a:solidFill>
            </a:endParaRPr>
          </a:p>
          <a:p>
            <a:pPr>
              <a:spcAft>
                <a:spcPts val="400"/>
              </a:spcAft>
              <a:defRPr sz="950" b="1">
                <a:solidFill>
                  <a:srgbClr val="FFFFFF"/>
                </a:solidFill>
                <a:latin typeface="Arial"/>
              </a:defRPr>
            </a:pPr>
            <a:endParaRPr sz="950" b="1" dirty="0">
              <a:solidFill>
                <a:srgbClr val="B3B3B3"/>
              </a:solidFill>
            </a:endParaRPr>
          </a:p>
          <a:p>
            <a:pPr>
              <a:spcAft>
                <a:spcPts val="400"/>
              </a:spcAft>
              <a:defRPr sz="950" b="1">
                <a:solidFill>
                  <a:srgbClr val="FFFFFF"/>
                </a:solidFill>
                <a:latin typeface="Arial"/>
              </a:defRPr>
            </a:pPr>
            <a:r>
              <a:rPr dirty="0"/>
              <a:t>Usages :</a:t>
            </a:r>
            <a:r>
              <a:rPr sz="950" b="0" dirty="0">
                <a:solidFill>
                  <a:srgbClr val="B3B3B3"/>
                </a:solidFill>
              </a:rPr>
              <a:t> </a:t>
            </a:r>
            <a:r>
              <a:rPr lang="fr-FR" sz="950" b="0" dirty="0">
                <a:solidFill>
                  <a:srgbClr val="B3B3B3"/>
                </a:solidFill>
              </a:rPr>
              <a:t>c</a:t>
            </a:r>
            <a:r>
              <a:rPr sz="950" b="0" dirty="0" err="1">
                <a:solidFill>
                  <a:srgbClr val="B3B3B3"/>
                </a:solidFill>
              </a:rPr>
              <a:t>hiffrement</a:t>
            </a:r>
            <a:r>
              <a:rPr sz="950" b="0" dirty="0">
                <a:solidFill>
                  <a:srgbClr val="B3B3B3"/>
                </a:solidFill>
              </a:rPr>
              <a:t> par </a:t>
            </a:r>
            <a:r>
              <a:rPr sz="950" b="0" dirty="0" err="1">
                <a:solidFill>
                  <a:srgbClr val="B3B3B3"/>
                </a:solidFill>
              </a:rPr>
              <a:t>colonne</a:t>
            </a:r>
            <a:r>
              <a:rPr sz="950" b="0" dirty="0">
                <a:solidFill>
                  <a:srgbClr val="B3B3B3"/>
                </a:solidFill>
              </a:rPr>
              <a:t>, rotation </a:t>
            </a:r>
            <a:r>
              <a:rPr sz="950" b="0" dirty="0" err="1">
                <a:solidFill>
                  <a:srgbClr val="B3B3B3"/>
                </a:solidFill>
              </a:rPr>
              <a:t>automatique</a:t>
            </a:r>
            <a:r>
              <a:rPr sz="950" b="0" dirty="0">
                <a:solidFill>
                  <a:srgbClr val="B3B3B3"/>
                </a:solidFill>
              </a:rPr>
              <a:t> des </a:t>
            </a:r>
            <a:r>
              <a:rPr sz="950" b="0" dirty="0" err="1">
                <a:solidFill>
                  <a:srgbClr val="B3B3B3"/>
                </a:solidFill>
              </a:rPr>
              <a:t>clés</a:t>
            </a:r>
            <a:r>
              <a:rPr sz="950" b="0" dirty="0">
                <a:solidFill>
                  <a:srgbClr val="B3B3B3"/>
                </a:solidFill>
              </a:rPr>
              <a:t>, VPC Service Controls, et monitoring des menaces.</a:t>
            </a:r>
          </a:p>
        </p:txBody>
      </p:sp>
      <p:grpSp>
        <p:nvGrpSpPr>
          <p:cNvPr id="14" name="Groupe 13">
            <a:extLst>
              <a:ext uri="{FF2B5EF4-FFF2-40B4-BE49-F238E27FC236}">
                <a16:creationId xmlns:a16="http://schemas.microsoft.com/office/drawing/2014/main" id="{406D9992-54CD-6A54-17BA-F97A1DA4ACAD}"/>
              </a:ext>
            </a:extLst>
          </p:cNvPr>
          <p:cNvGrpSpPr/>
          <p:nvPr/>
        </p:nvGrpSpPr>
        <p:grpSpPr>
          <a:xfrm>
            <a:off x="548640" y="158904"/>
            <a:ext cx="10866616" cy="230832"/>
            <a:chOff x="172859" y="2099469"/>
            <a:chExt cx="10866616" cy="230832"/>
          </a:xfrm>
        </p:grpSpPr>
        <p:sp>
          <p:nvSpPr>
            <p:cNvPr id="15" name="ZoneTexte 14">
              <a:extLst>
                <a:ext uri="{FF2B5EF4-FFF2-40B4-BE49-F238E27FC236}">
                  <a16:creationId xmlns:a16="http://schemas.microsoft.com/office/drawing/2014/main" id="{249186BA-8523-5356-0018-5A4E54B81FD4}"/>
                </a:ext>
              </a:extLst>
            </p:cNvPr>
            <p:cNvSpPr txBox="1"/>
            <p:nvPr/>
          </p:nvSpPr>
          <p:spPr>
            <a:xfrm>
              <a:off x="172859" y="209946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6" name="ZoneTexte 15">
              <a:extLst>
                <a:ext uri="{FF2B5EF4-FFF2-40B4-BE49-F238E27FC236}">
                  <a16:creationId xmlns:a16="http://schemas.microsoft.com/office/drawing/2014/main" id="{07E43778-8866-8AAD-475C-71F31F42AB46}"/>
                </a:ext>
              </a:extLst>
            </p:cNvPr>
            <p:cNvSpPr txBox="1"/>
            <p:nvPr/>
          </p:nvSpPr>
          <p:spPr>
            <a:xfrm>
              <a:off x="1671599" y="209946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7" name="ZoneTexte 16">
              <a:extLst>
                <a:ext uri="{FF2B5EF4-FFF2-40B4-BE49-F238E27FC236}">
                  <a16:creationId xmlns:a16="http://schemas.microsoft.com/office/drawing/2014/main" id="{8D2EB729-B2F8-011C-60DA-F75E13557080}"/>
                </a:ext>
              </a:extLst>
            </p:cNvPr>
            <p:cNvSpPr txBox="1"/>
            <p:nvPr/>
          </p:nvSpPr>
          <p:spPr>
            <a:xfrm>
              <a:off x="4296533" y="209946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8" name="ZoneTexte 17">
              <a:extLst>
                <a:ext uri="{FF2B5EF4-FFF2-40B4-BE49-F238E27FC236}">
                  <a16:creationId xmlns:a16="http://schemas.microsoft.com/office/drawing/2014/main" id="{64BC2897-01CA-45DD-8660-266A27A57DA7}"/>
                </a:ext>
              </a:extLst>
            </p:cNvPr>
            <p:cNvSpPr txBox="1"/>
            <p:nvPr/>
          </p:nvSpPr>
          <p:spPr>
            <a:xfrm>
              <a:off x="6921467" y="209946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9" name="ZoneTexte 18">
              <a:extLst>
                <a:ext uri="{FF2B5EF4-FFF2-40B4-BE49-F238E27FC236}">
                  <a16:creationId xmlns:a16="http://schemas.microsoft.com/office/drawing/2014/main" id="{43E2B795-5669-030B-2DEE-0229FA475AEA}"/>
                </a:ext>
              </a:extLst>
            </p:cNvPr>
            <p:cNvSpPr txBox="1"/>
            <p:nvPr/>
          </p:nvSpPr>
          <p:spPr>
            <a:xfrm>
              <a:off x="9088051" y="209946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ÉTHIQUE, INCLUSION &amp; VEILLE</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Socle éthique, veille et accessibilité numérique</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12 / 21</a:t>
            </a:r>
            <a:endParaRPr dirty="0"/>
          </a:p>
        </p:txBody>
      </p:sp>
      <p:sp>
        <p:nvSpPr>
          <p:cNvPr id="5" name="Rounded Rectangle 4"/>
          <p:cNvSpPr/>
          <p:nvPr/>
        </p:nvSpPr>
        <p:spPr>
          <a:xfrm>
            <a:off x="548640" y="1371600"/>
            <a:ext cx="530352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536192"/>
            <a:ext cx="4974336" cy="2439129"/>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Inclusion &amp; </a:t>
            </a:r>
            <a:r>
              <a:rPr dirty="0" err="1"/>
              <a:t>accessibilité</a:t>
            </a:r>
            <a:r>
              <a:rPr dirty="0"/>
              <a:t> </a:t>
            </a:r>
            <a:endParaRPr lang="fr-FR" dirty="0"/>
          </a:p>
          <a:p>
            <a:pPr>
              <a:spcAft>
                <a:spcPts val="600"/>
              </a:spcAft>
              <a:defRPr sz="1200" b="1">
                <a:solidFill>
                  <a:srgbClr val="1DB954"/>
                </a:solidFill>
                <a:latin typeface="Arial"/>
              </a:defRPr>
            </a:pPr>
            <a:endParaRPr lang="fr-FR" dirty="0"/>
          </a:p>
          <a:p>
            <a:pPr marL="171450" indent="-171450">
              <a:spcAft>
                <a:spcPts val="400"/>
              </a:spcAft>
              <a:buFont typeface="Arial" panose="020B0604020202020204" pitchFamily="34" charset="0"/>
              <a:buChar char="•"/>
              <a:defRPr sz="950" b="1">
                <a:solidFill>
                  <a:srgbClr val="FFFFFF"/>
                </a:solidFill>
                <a:latin typeface="Arial"/>
              </a:defRPr>
            </a:pPr>
            <a:r>
              <a:rPr lang="fr-FR" dirty="0"/>
              <a:t>Normes de Conception :</a:t>
            </a:r>
            <a:r>
              <a:rPr lang="fr-FR" sz="950" b="0" dirty="0">
                <a:solidFill>
                  <a:srgbClr val="B3B3B3"/>
                </a:solidFill>
              </a:rPr>
              <a:t> alignement complet sur les exigences d'accessibilité RGAA 4.1.2 et WCAG 2.2.</a:t>
            </a:r>
          </a:p>
          <a:p>
            <a:pPr marL="171450" indent="-171450">
              <a:spcAft>
                <a:spcPts val="400"/>
              </a:spcAft>
              <a:buFont typeface="Arial" panose="020B0604020202020204" pitchFamily="34" charset="0"/>
              <a:buChar char="•"/>
              <a:defRPr sz="950" b="1">
                <a:solidFill>
                  <a:srgbClr val="FFFFFF"/>
                </a:solidFill>
                <a:latin typeface="Arial"/>
              </a:defRPr>
            </a:pP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Outils</a:t>
            </a:r>
            <a:r>
              <a:rPr dirty="0"/>
              <a:t> BI Internes :</a:t>
            </a:r>
            <a:r>
              <a:rPr sz="950" b="0" dirty="0">
                <a:solidFill>
                  <a:srgbClr val="B3B3B3"/>
                </a:solidFill>
              </a:rPr>
              <a:t> </a:t>
            </a:r>
            <a:r>
              <a:rPr lang="fr-FR" sz="950" b="0" dirty="0">
                <a:solidFill>
                  <a:srgbClr val="B3B3B3"/>
                </a:solidFill>
              </a:rPr>
              <a:t>c</a:t>
            </a:r>
            <a:r>
              <a:rPr sz="950" b="0" dirty="0" err="1">
                <a:solidFill>
                  <a:srgbClr val="B3B3B3"/>
                </a:solidFill>
              </a:rPr>
              <a:t>onception</a:t>
            </a:r>
            <a:r>
              <a:rPr sz="950" b="0" dirty="0">
                <a:solidFill>
                  <a:srgbClr val="B3B3B3"/>
                </a:solidFill>
              </a:rPr>
              <a:t> de dashboards (Looker, Tableau) compatibles avec les </a:t>
            </a:r>
            <a:r>
              <a:rPr sz="950" b="0" dirty="0" err="1">
                <a:solidFill>
                  <a:srgbClr val="B3B3B3"/>
                </a:solidFill>
              </a:rPr>
              <a:t>lecteurs</a:t>
            </a:r>
            <a:r>
              <a:rPr sz="950" b="0" dirty="0">
                <a:solidFill>
                  <a:srgbClr val="B3B3B3"/>
                </a:solidFill>
              </a:rPr>
              <a:t> </a:t>
            </a:r>
            <a:r>
              <a:rPr sz="950" b="0" dirty="0" err="1">
                <a:solidFill>
                  <a:srgbClr val="B3B3B3"/>
                </a:solidFill>
              </a:rPr>
              <a:t>d'écran</a:t>
            </a:r>
            <a:r>
              <a:rPr sz="950" b="0" dirty="0">
                <a:solidFill>
                  <a:srgbClr val="B3B3B3"/>
                </a:solidFill>
              </a:rPr>
              <a:t> </a:t>
            </a:r>
            <a:r>
              <a:rPr sz="950" b="0" dirty="0" err="1">
                <a:solidFill>
                  <a:srgbClr val="B3B3B3"/>
                </a:solidFill>
              </a:rPr>
              <a:t>professionnels</a:t>
            </a:r>
            <a:r>
              <a:rPr sz="950" b="0" dirty="0">
                <a:solidFill>
                  <a:srgbClr val="B3B3B3"/>
                </a:solidFill>
              </a:rPr>
              <a:t> (</a:t>
            </a:r>
            <a:r>
              <a:rPr sz="950" b="0" dirty="0" err="1">
                <a:solidFill>
                  <a:srgbClr val="B3B3B3"/>
                </a:solidFill>
              </a:rPr>
              <a:t>balises</a:t>
            </a:r>
            <a:r>
              <a:rPr sz="950" b="0" dirty="0">
                <a:solidFill>
                  <a:srgbClr val="B3B3B3"/>
                </a:solidFill>
              </a:rPr>
              <a:t> ARIA).</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Navigation au Clavier :</a:t>
            </a:r>
            <a:r>
              <a:rPr sz="950" b="0" dirty="0">
                <a:solidFill>
                  <a:srgbClr val="B3B3B3"/>
                </a:solidFill>
              </a:rPr>
              <a:t> </a:t>
            </a:r>
            <a:r>
              <a:rPr lang="fr-FR" sz="950" b="0" dirty="0" err="1">
                <a:solidFill>
                  <a:srgbClr val="B3B3B3"/>
                </a:solidFill>
              </a:rPr>
              <a:t>ac</a:t>
            </a:r>
            <a:r>
              <a:rPr sz="950" b="0" dirty="0" err="1">
                <a:solidFill>
                  <a:srgbClr val="B3B3B3"/>
                </a:solidFill>
              </a:rPr>
              <a:t>cès</a:t>
            </a:r>
            <a:r>
              <a:rPr sz="950" b="0" dirty="0">
                <a:solidFill>
                  <a:srgbClr val="B3B3B3"/>
                </a:solidFill>
              </a:rPr>
              <a:t> </a:t>
            </a:r>
            <a:r>
              <a:rPr sz="950" b="0" dirty="0" err="1">
                <a:solidFill>
                  <a:srgbClr val="B3B3B3"/>
                </a:solidFill>
              </a:rPr>
              <a:t>intégral</a:t>
            </a:r>
            <a:r>
              <a:rPr sz="950" b="0" dirty="0">
                <a:solidFill>
                  <a:srgbClr val="B3B3B3"/>
                </a:solidFill>
              </a:rPr>
              <a:t> aux </a:t>
            </a:r>
            <a:r>
              <a:rPr sz="950" b="0" dirty="0" err="1">
                <a:solidFill>
                  <a:srgbClr val="B3B3B3"/>
                </a:solidFill>
              </a:rPr>
              <a:t>fonctionnalités</a:t>
            </a:r>
            <a:r>
              <a:rPr sz="950" b="0" dirty="0">
                <a:solidFill>
                  <a:srgbClr val="B3B3B3"/>
                </a:solidFill>
              </a:rPr>
              <a:t> et </a:t>
            </a:r>
            <a:r>
              <a:rPr sz="950" b="0" dirty="0" err="1">
                <a:solidFill>
                  <a:srgbClr val="B3B3B3"/>
                </a:solidFill>
              </a:rPr>
              <a:t>contrastes</a:t>
            </a:r>
            <a:r>
              <a:rPr sz="950" b="0" dirty="0">
                <a:solidFill>
                  <a:srgbClr val="B3B3B3"/>
                </a:solidFill>
              </a:rPr>
              <a:t> de couleurs </a:t>
            </a:r>
            <a:r>
              <a:rPr sz="950" b="0" dirty="0" err="1">
                <a:solidFill>
                  <a:srgbClr val="B3B3B3"/>
                </a:solidFill>
              </a:rPr>
              <a:t>adaptés</a:t>
            </a:r>
            <a:r>
              <a:rPr sz="950" b="0" dirty="0">
                <a:solidFill>
                  <a:srgbClr val="B3B3B3"/>
                </a:solidFill>
              </a:rPr>
              <a:t> aux </a:t>
            </a:r>
            <a:r>
              <a:rPr sz="950" b="0" dirty="0" err="1">
                <a:solidFill>
                  <a:srgbClr val="B3B3B3"/>
                </a:solidFill>
              </a:rPr>
              <a:t>collaborateurs</a:t>
            </a:r>
            <a:r>
              <a:rPr sz="950" b="0" dirty="0">
                <a:solidFill>
                  <a:srgbClr val="B3B3B3"/>
                </a:solidFill>
              </a:rPr>
              <a:t> </a:t>
            </a:r>
            <a:r>
              <a:rPr sz="950" b="0" dirty="0" err="1">
                <a:solidFill>
                  <a:srgbClr val="B3B3B3"/>
                </a:solidFill>
              </a:rPr>
              <a:t>daltoniens</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Service</a:t>
            </a:r>
            <a:r>
              <a:rPr lang="fr-FR" dirty="0"/>
              <a:t>s</a:t>
            </a:r>
            <a:r>
              <a:rPr dirty="0"/>
              <a:t> </a:t>
            </a:r>
            <a:r>
              <a:rPr lang="fr-FR" dirty="0"/>
              <a:t>c</a:t>
            </a:r>
            <a:r>
              <a:rPr dirty="0" err="1"/>
              <a:t>lient</a:t>
            </a:r>
            <a:r>
              <a:rPr lang="fr-FR" dirty="0"/>
              <a:t>s</a:t>
            </a:r>
            <a:r>
              <a:rPr dirty="0"/>
              <a:t> </a:t>
            </a:r>
            <a:r>
              <a:rPr dirty="0" err="1"/>
              <a:t>inclusifs</a:t>
            </a:r>
            <a:r>
              <a:rPr dirty="0"/>
              <a:t> :</a:t>
            </a:r>
            <a:r>
              <a:rPr sz="950" b="0" dirty="0">
                <a:solidFill>
                  <a:srgbClr val="B3B3B3"/>
                </a:solidFill>
              </a:rPr>
              <a:t> </a:t>
            </a:r>
            <a:r>
              <a:rPr lang="fr-FR" sz="950" b="0" dirty="0">
                <a:solidFill>
                  <a:srgbClr val="B3B3B3"/>
                </a:solidFill>
              </a:rPr>
              <a:t>i</a:t>
            </a:r>
            <a:r>
              <a:rPr sz="950" b="0" dirty="0" err="1">
                <a:solidFill>
                  <a:srgbClr val="B3B3B3"/>
                </a:solidFill>
              </a:rPr>
              <a:t>ntégration</a:t>
            </a:r>
            <a:r>
              <a:rPr sz="950" b="0" dirty="0">
                <a:solidFill>
                  <a:srgbClr val="B3B3B3"/>
                </a:solidFill>
              </a:rPr>
              <a:t> de </a:t>
            </a:r>
            <a:r>
              <a:rPr sz="950" b="0" dirty="0" err="1">
                <a:solidFill>
                  <a:srgbClr val="B3B3B3"/>
                </a:solidFill>
              </a:rPr>
              <a:t>commandes</a:t>
            </a:r>
            <a:r>
              <a:rPr sz="950" b="0" dirty="0">
                <a:solidFill>
                  <a:srgbClr val="B3B3B3"/>
                </a:solidFill>
              </a:rPr>
              <a:t> </a:t>
            </a:r>
            <a:r>
              <a:rPr sz="950" b="0" dirty="0" err="1">
                <a:solidFill>
                  <a:srgbClr val="B3B3B3"/>
                </a:solidFill>
              </a:rPr>
              <a:t>vocales</a:t>
            </a:r>
            <a:r>
              <a:rPr sz="950" b="0" dirty="0">
                <a:solidFill>
                  <a:srgbClr val="B3B3B3"/>
                </a:solidFill>
              </a:rPr>
              <a:t> </a:t>
            </a:r>
            <a:r>
              <a:rPr sz="950" b="0" dirty="0" err="1">
                <a:solidFill>
                  <a:srgbClr val="B3B3B3"/>
                </a:solidFill>
              </a:rPr>
              <a:t>avancées</a:t>
            </a:r>
            <a:r>
              <a:rPr sz="950" b="0" dirty="0">
                <a:solidFill>
                  <a:srgbClr val="B3B3B3"/>
                </a:solidFill>
              </a:rPr>
              <a:t> et sous-</a:t>
            </a:r>
            <a:r>
              <a:rPr sz="950" b="0" dirty="0" err="1">
                <a:solidFill>
                  <a:srgbClr val="B3B3B3"/>
                </a:solidFill>
              </a:rPr>
              <a:t>titrages</a:t>
            </a:r>
            <a:r>
              <a:rPr sz="950" b="0" dirty="0">
                <a:solidFill>
                  <a:srgbClr val="B3B3B3"/>
                </a:solidFill>
              </a:rPr>
              <a:t> </a:t>
            </a:r>
            <a:r>
              <a:rPr sz="950" b="0" dirty="0" err="1">
                <a:solidFill>
                  <a:srgbClr val="B3B3B3"/>
                </a:solidFill>
              </a:rPr>
              <a:t>automatiques</a:t>
            </a:r>
            <a:r>
              <a:rPr sz="950" b="0" dirty="0">
                <a:solidFill>
                  <a:srgbClr val="B3B3B3"/>
                </a:solidFill>
              </a:rPr>
              <a:t> </a:t>
            </a:r>
            <a:r>
              <a:rPr sz="950" b="0" dirty="0" err="1">
                <a:solidFill>
                  <a:srgbClr val="B3B3B3"/>
                </a:solidFill>
              </a:rPr>
              <a:t>en</a:t>
            </a:r>
            <a:r>
              <a:rPr sz="950" b="0" dirty="0">
                <a:solidFill>
                  <a:srgbClr val="B3B3B3"/>
                </a:solidFill>
              </a:rPr>
              <a:t> temps </a:t>
            </a:r>
            <a:r>
              <a:rPr sz="950" b="0" dirty="0" err="1">
                <a:solidFill>
                  <a:srgbClr val="B3B3B3"/>
                </a:solidFill>
              </a:rPr>
              <a:t>réel</a:t>
            </a:r>
            <a:r>
              <a:rPr sz="950" b="0" dirty="0">
                <a:solidFill>
                  <a:srgbClr val="B3B3B3"/>
                </a:solidFill>
              </a:rPr>
              <a:t> pour </a:t>
            </a:r>
            <a:r>
              <a:rPr sz="950" b="0" dirty="0" err="1">
                <a:solidFill>
                  <a:srgbClr val="B3B3B3"/>
                </a:solidFill>
              </a:rPr>
              <a:t>l'audio</a:t>
            </a:r>
            <a:r>
              <a:rPr sz="950" b="0" dirty="0">
                <a:solidFill>
                  <a:srgbClr val="B3B3B3"/>
                </a:solidFill>
              </a:rPr>
              <a:t>.</a:t>
            </a:r>
          </a:p>
        </p:txBody>
      </p:sp>
      <p:sp>
        <p:nvSpPr>
          <p:cNvPr id="7" name="Rounded Rectangle 6"/>
          <p:cNvSpPr/>
          <p:nvPr/>
        </p:nvSpPr>
        <p:spPr>
          <a:xfrm>
            <a:off x="6217920" y="1371600"/>
            <a:ext cx="539496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82512" y="1536192"/>
            <a:ext cx="5065776" cy="2585323"/>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Veille </a:t>
            </a:r>
            <a:r>
              <a:rPr dirty="0" err="1"/>
              <a:t>réglementaire</a:t>
            </a:r>
            <a:r>
              <a:rPr dirty="0"/>
              <a:t> continue</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Processus </a:t>
            </a:r>
            <a:r>
              <a:rPr dirty="0" err="1"/>
              <a:t>Structuré</a:t>
            </a:r>
            <a:r>
              <a:rPr dirty="0"/>
              <a:t> :</a:t>
            </a:r>
            <a:r>
              <a:rPr sz="950" b="0" dirty="0">
                <a:solidFill>
                  <a:srgbClr val="B3B3B3"/>
                </a:solidFill>
              </a:rPr>
              <a:t> </a:t>
            </a:r>
            <a:r>
              <a:rPr lang="fr-FR" sz="950" b="0" dirty="0">
                <a:solidFill>
                  <a:srgbClr val="B3B3B3"/>
                </a:solidFill>
              </a:rPr>
              <a:t>p</a:t>
            </a:r>
            <a:r>
              <a:rPr sz="950" b="0" dirty="0" err="1">
                <a:solidFill>
                  <a:srgbClr val="B3B3B3"/>
                </a:solidFill>
              </a:rPr>
              <a:t>rocessus</a:t>
            </a:r>
            <a:r>
              <a:rPr sz="950" b="0" dirty="0">
                <a:solidFill>
                  <a:srgbClr val="B3B3B3"/>
                </a:solidFill>
              </a:rPr>
              <a:t> </a:t>
            </a:r>
            <a:r>
              <a:rPr sz="950" b="0" dirty="0" err="1">
                <a:solidFill>
                  <a:srgbClr val="B3B3B3"/>
                </a:solidFill>
              </a:rPr>
              <a:t>d'évaluation</a:t>
            </a:r>
            <a:r>
              <a:rPr sz="950" b="0" dirty="0">
                <a:solidFill>
                  <a:srgbClr val="B3B3B3"/>
                </a:solidFill>
              </a:rPr>
              <a:t> </a:t>
            </a:r>
            <a:r>
              <a:rPr sz="950" b="0" dirty="0" err="1">
                <a:solidFill>
                  <a:srgbClr val="B3B3B3"/>
                </a:solidFill>
              </a:rPr>
              <a:t>bimensuelle</a:t>
            </a:r>
            <a:r>
              <a:rPr sz="950" b="0" dirty="0">
                <a:solidFill>
                  <a:srgbClr val="B3B3B3"/>
                </a:solidFill>
              </a:rPr>
              <a:t> </a:t>
            </a:r>
            <a:r>
              <a:rPr sz="950" b="0" dirty="0" err="1">
                <a:solidFill>
                  <a:srgbClr val="B3B3B3"/>
                </a:solidFill>
              </a:rPr>
              <a:t>associant</a:t>
            </a:r>
            <a:r>
              <a:rPr sz="950" b="0" dirty="0">
                <a:solidFill>
                  <a:srgbClr val="B3B3B3"/>
                </a:solidFill>
              </a:rPr>
              <a:t> le DPO, le service </a:t>
            </a:r>
            <a:r>
              <a:rPr sz="950" b="0" dirty="0" err="1">
                <a:solidFill>
                  <a:srgbClr val="B3B3B3"/>
                </a:solidFill>
              </a:rPr>
              <a:t>juridique</a:t>
            </a:r>
            <a:r>
              <a:rPr sz="950" b="0" dirty="0">
                <a:solidFill>
                  <a:srgbClr val="B3B3B3"/>
                </a:solidFill>
              </a:rPr>
              <a:t> et les </a:t>
            </a:r>
            <a:r>
              <a:rPr sz="950" b="0" dirty="0" err="1">
                <a:solidFill>
                  <a:srgbClr val="B3B3B3"/>
                </a:solidFill>
              </a:rPr>
              <a:t>architectes</a:t>
            </a:r>
            <a:r>
              <a:rPr sz="950" b="0" dirty="0">
                <a:solidFill>
                  <a:srgbClr val="B3B3B3"/>
                </a:solidFill>
              </a:rPr>
              <a:t> de données.</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Suivi</a:t>
            </a:r>
            <a:r>
              <a:rPr dirty="0"/>
              <a:t> </a:t>
            </a:r>
            <a:r>
              <a:rPr lang="fr-FR" dirty="0"/>
              <a:t>RGPD/</a:t>
            </a:r>
            <a:r>
              <a:rPr dirty="0"/>
              <a:t> AI Act :</a:t>
            </a:r>
            <a:r>
              <a:rPr sz="950" b="0" dirty="0">
                <a:solidFill>
                  <a:srgbClr val="B3B3B3"/>
                </a:solidFill>
              </a:rPr>
              <a:t> </a:t>
            </a:r>
            <a:r>
              <a:rPr lang="fr-FR" sz="950" b="0" dirty="0">
                <a:solidFill>
                  <a:srgbClr val="B3B3B3"/>
                </a:solidFill>
              </a:rPr>
              <a:t>ca</a:t>
            </a:r>
            <a:r>
              <a:rPr sz="950" b="0" dirty="0" err="1">
                <a:solidFill>
                  <a:srgbClr val="B3B3B3"/>
                </a:solidFill>
              </a:rPr>
              <a:t>rtographie</a:t>
            </a:r>
            <a:r>
              <a:rPr sz="950" b="0" dirty="0">
                <a:solidFill>
                  <a:srgbClr val="B3B3B3"/>
                </a:solidFill>
              </a:rPr>
              <a:t> des </a:t>
            </a:r>
            <a:r>
              <a:rPr sz="950" b="0" dirty="0" err="1">
                <a:solidFill>
                  <a:srgbClr val="B3B3B3"/>
                </a:solidFill>
              </a:rPr>
              <a:t>systèmes</a:t>
            </a:r>
            <a:r>
              <a:rPr sz="950" b="0" dirty="0">
                <a:solidFill>
                  <a:srgbClr val="B3B3B3"/>
                </a:solidFill>
              </a:rPr>
              <a:t> de </a:t>
            </a:r>
            <a:r>
              <a:rPr sz="950" b="0" dirty="0" err="1">
                <a:solidFill>
                  <a:srgbClr val="B3B3B3"/>
                </a:solidFill>
              </a:rPr>
              <a:t>recommandation</a:t>
            </a:r>
            <a:r>
              <a:rPr sz="950" b="0" dirty="0">
                <a:solidFill>
                  <a:srgbClr val="B3B3B3"/>
                </a:solidFill>
              </a:rPr>
              <a:t> de Spotify </a:t>
            </a:r>
            <a:br>
              <a:rPr lang="fr-FR" sz="950" b="0" dirty="0">
                <a:solidFill>
                  <a:srgbClr val="B3B3B3"/>
                </a:solidFill>
              </a:rPr>
            </a:br>
            <a:r>
              <a:rPr sz="950" b="0" dirty="0" err="1">
                <a:solidFill>
                  <a:srgbClr val="B3B3B3"/>
                </a:solidFill>
              </a:rPr>
              <a:t>selon</a:t>
            </a:r>
            <a:r>
              <a:rPr sz="950" b="0" dirty="0">
                <a:solidFill>
                  <a:srgbClr val="B3B3B3"/>
                </a:solidFill>
              </a:rPr>
              <a:t> les </a:t>
            </a:r>
            <a:r>
              <a:rPr sz="950" b="0" dirty="0" err="1">
                <a:solidFill>
                  <a:srgbClr val="B3B3B3"/>
                </a:solidFill>
              </a:rPr>
              <a:t>niveaux</a:t>
            </a:r>
            <a:r>
              <a:rPr sz="950" b="0" dirty="0">
                <a:solidFill>
                  <a:srgbClr val="B3B3B3"/>
                </a:solidFill>
              </a:rPr>
              <a:t> de </a:t>
            </a:r>
            <a:r>
              <a:rPr sz="950" b="0" dirty="0" err="1">
                <a:solidFill>
                  <a:srgbClr val="B3B3B3"/>
                </a:solidFill>
              </a:rPr>
              <a:t>risque</a:t>
            </a:r>
            <a:r>
              <a:rPr sz="950" b="0" dirty="0">
                <a:solidFill>
                  <a:srgbClr val="B3B3B3"/>
                </a:solidFill>
              </a:rPr>
              <a:t> de la </a:t>
            </a:r>
            <a:r>
              <a:rPr sz="950" b="0" dirty="0" err="1">
                <a:solidFill>
                  <a:srgbClr val="B3B3B3"/>
                </a:solidFill>
              </a:rPr>
              <a:t>réglementation</a:t>
            </a:r>
            <a:r>
              <a:rPr sz="950" b="0" dirty="0">
                <a:solidFill>
                  <a:srgbClr val="B3B3B3"/>
                </a:solidFill>
              </a:rPr>
              <a:t> </a:t>
            </a:r>
            <a:r>
              <a:rPr sz="950" b="0" dirty="0" err="1">
                <a:solidFill>
                  <a:srgbClr val="B3B3B3"/>
                </a:solidFill>
              </a:rPr>
              <a:t>européenne</a:t>
            </a:r>
            <a:r>
              <a:rPr sz="950" b="0" dirty="0">
                <a:solidFill>
                  <a:srgbClr val="B3B3B3"/>
                </a:solidFill>
              </a:rPr>
              <a:t>.</a:t>
            </a:r>
            <a:r>
              <a:rPr lang="fr-FR" sz="950" b="0" dirty="0">
                <a:solidFill>
                  <a:srgbClr val="B3B3B3"/>
                </a:solidFill>
              </a:rPr>
              <a:t> Suivi des décisions/jurisprudence EDPB</a:t>
            </a: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Procédure</a:t>
            </a:r>
            <a:r>
              <a:rPr dirty="0"/>
              <a:t> d'</a:t>
            </a:r>
            <a:r>
              <a:rPr lang="fr-FR" dirty="0"/>
              <a:t>i</a:t>
            </a:r>
            <a:r>
              <a:rPr dirty="0" err="1"/>
              <a:t>mpact</a:t>
            </a:r>
            <a:r>
              <a:rPr dirty="0"/>
              <a:t> </a:t>
            </a:r>
            <a:r>
              <a:rPr lang="fr-FR" dirty="0"/>
              <a:t>t</a:t>
            </a:r>
            <a:r>
              <a:rPr dirty="0" err="1"/>
              <a:t>echnique</a:t>
            </a:r>
            <a:r>
              <a:rPr dirty="0"/>
              <a:t> :</a:t>
            </a:r>
            <a:r>
              <a:rPr sz="950" b="0" dirty="0">
                <a:solidFill>
                  <a:srgbClr val="B3B3B3"/>
                </a:solidFill>
              </a:rPr>
              <a:t> </a:t>
            </a:r>
            <a:r>
              <a:rPr lang="fr-FR" sz="950" b="0" dirty="0" err="1">
                <a:solidFill>
                  <a:srgbClr val="B3B3B3"/>
                </a:solidFill>
              </a:rPr>
              <a:t>év</a:t>
            </a:r>
            <a:r>
              <a:rPr sz="950" b="0" dirty="0" err="1">
                <a:solidFill>
                  <a:srgbClr val="B3B3B3"/>
                </a:solidFill>
              </a:rPr>
              <a:t>aluation</a:t>
            </a:r>
            <a:r>
              <a:rPr sz="950" b="0" dirty="0">
                <a:solidFill>
                  <a:srgbClr val="B3B3B3"/>
                </a:solidFill>
              </a:rPr>
              <a:t> de </a:t>
            </a:r>
            <a:r>
              <a:rPr sz="950" b="0" dirty="0" err="1">
                <a:solidFill>
                  <a:srgbClr val="B3B3B3"/>
                </a:solidFill>
              </a:rPr>
              <a:t>l'impact</a:t>
            </a:r>
            <a:r>
              <a:rPr sz="950" b="0" dirty="0">
                <a:solidFill>
                  <a:srgbClr val="B3B3B3"/>
                </a:solidFill>
              </a:rPr>
              <a:t> technique de toute nouvelle </a:t>
            </a:r>
            <a:r>
              <a:rPr sz="950" b="0" dirty="0" err="1">
                <a:solidFill>
                  <a:srgbClr val="B3B3B3"/>
                </a:solidFill>
              </a:rPr>
              <a:t>loi</a:t>
            </a:r>
            <a:r>
              <a:rPr lang="fr-FR" sz="950" dirty="0">
                <a:solidFill>
                  <a:srgbClr val="B3B3B3"/>
                </a:solidFill>
              </a:rPr>
              <a:t> </a:t>
            </a:r>
            <a:r>
              <a:rPr sz="950" b="0" dirty="0">
                <a:solidFill>
                  <a:srgbClr val="B3B3B3"/>
                </a:solidFill>
              </a:rPr>
              <a:t>sous 15 </a:t>
            </a:r>
            <a:r>
              <a:rPr sz="950" b="0" dirty="0" err="1">
                <a:solidFill>
                  <a:srgbClr val="B3B3B3"/>
                </a:solidFill>
              </a:rPr>
              <a:t>jours</a:t>
            </a:r>
            <a:r>
              <a:rPr sz="950" b="0" dirty="0">
                <a:solidFill>
                  <a:srgbClr val="B3B3B3"/>
                </a:solidFill>
              </a:rPr>
              <a:t> par le Centre </a:t>
            </a:r>
            <a:r>
              <a:rPr sz="950" b="0" dirty="0" err="1">
                <a:solidFill>
                  <a:srgbClr val="B3B3B3"/>
                </a:solidFill>
              </a:rPr>
              <a:t>d'Excellence</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Pratiques </a:t>
            </a:r>
            <a:r>
              <a:rPr lang="fr-FR" dirty="0"/>
              <a:t>é</a:t>
            </a:r>
            <a:r>
              <a:rPr dirty="0" err="1"/>
              <a:t>thiques</a:t>
            </a:r>
            <a:r>
              <a:rPr dirty="0"/>
              <a:t> :</a:t>
            </a:r>
            <a:r>
              <a:rPr sz="950" b="0" dirty="0">
                <a:solidFill>
                  <a:srgbClr val="B3B3B3"/>
                </a:solidFill>
              </a:rPr>
              <a:t> </a:t>
            </a:r>
            <a:r>
              <a:rPr lang="fr-FR" sz="950" b="0" dirty="0">
                <a:solidFill>
                  <a:srgbClr val="B3B3B3"/>
                </a:solidFill>
              </a:rPr>
              <a:t>sui</a:t>
            </a:r>
            <a:r>
              <a:rPr sz="950" b="0" dirty="0">
                <a:solidFill>
                  <a:srgbClr val="B3B3B3"/>
                </a:solidFill>
              </a:rPr>
              <a:t>vi permanent des </a:t>
            </a:r>
            <a:r>
              <a:rPr sz="950" b="0" dirty="0" err="1">
                <a:solidFill>
                  <a:srgbClr val="B3B3B3"/>
                </a:solidFill>
              </a:rPr>
              <a:t>biais</a:t>
            </a:r>
            <a:r>
              <a:rPr sz="950" b="0" dirty="0">
                <a:solidFill>
                  <a:srgbClr val="B3B3B3"/>
                </a:solidFill>
              </a:rPr>
              <a:t> de </a:t>
            </a:r>
            <a:r>
              <a:rPr sz="950" b="0" dirty="0" err="1">
                <a:solidFill>
                  <a:srgbClr val="B3B3B3"/>
                </a:solidFill>
              </a:rPr>
              <a:t>recommandation</a:t>
            </a:r>
            <a:r>
              <a:rPr sz="950" b="0" dirty="0">
                <a:solidFill>
                  <a:srgbClr val="B3B3B3"/>
                </a:solidFill>
              </a:rPr>
              <a:t> pour </a:t>
            </a:r>
            <a:r>
              <a:rPr sz="950" b="0" dirty="0" err="1">
                <a:solidFill>
                  <a:srgbClr val="B3B3B3"/>
                </a:solidFill>
              </a:rPr>
              <a:t>éviter</a:t>
            </a:r>
            <a:r>
              <a:rPr sz="950" b="0" dirty="0">
                <a:solidFill>
                  <a:srgbClr val="B3B3B3"/>
                </a:solidFill>
              </a:rPr>
              <a:t> </a:t>
            </a:r>
            <a:r>
              <a:rPr sz="950" b="0" dirty="0" err="1">
                <a:solidFill>
                  <a:srgbClr val="B3B3B3"/>
                </a:solidFill>
              </a:rPr>
              <a:t>l'exclusion</a:t>
            </a:r>
            <a:r>
              <a:rPr sz="950" b="0" dirty="0">
                <a:solidFill>
                  <a:srgbClr val="B3B3B3"/>
                </a:solidFill>
              </a:rPr>
              <a:t> </a:t>
            </a:r>
            <a:r>
              <a:rPr sz="950" b="0" dirty="0" err="1">
                <a:solidFill>
                  <a:srgbClr val="B3B3B3"/>
                </a:solidFill>
              </a:rPr>
              <a:t>d'artistes</a:t>
            </a:r>
            <a:r>
              <a:rPr sz="950" b="0" dirty="0">
                <a:solidFill>
                  <a:srgbClr val="B3B3B3"/>
                </a:solidFill>
              </a:rPr>
              <a:t> </a:t>
            </a:r>
            <a:r>
              <a:rPr sz="950" b="0" dirty="0" err="1">
                <a:solidFill>
                  <a:srgbClr val="B3B3B3"/>
                </a:solidFill>
              </a:rPr>
              <a:t>ou</a:t>
            </a:r>
            <a:r>
              <a:rPr sz="950" b="0" dirty="0">
                <a:solidFill>
                  <a:srgbClr val="B3B3B3"/>
                </a:solidFill>
              </a:rPr>
              <a:t> </a:t>
            </a:r>
            <a:r>
              <a:rPr sz="950" b="0" dirty="0" err="1">
                <a:solidFill>
                  <a:srgbClr val="B3B3B3"/>
                </a:solidFill>
              </a:rPr>
              <a:t>stéréotypes</a:t>
            </a:r>
            <a:r>
              <a:rPr sz="950" b="0" dirty="0">
                <a:solidFill>
                  <a:srgbClr val="B3B3B3"/>
                </a:solidFill>
              </a:rPr>
              <a:t> de genres.</a:t>
            </a:r>
          </a:p>
        </p:txBody>
      </p:sp>
      <p:grpSp>
        <p:nvGrpSpPr>
          <p:cNvPr id="9" name="Groupe 8">
            <a:extLst>
              <a:ext uri="{FF2B5EF4-FFF2-40B4-BE49-F238E27FC236}">
                <a16:creationId xmlns:a16="http://schemas.microsoft.com/office/drawing/2014/main" id="{9A0CC248-CD06-E88A-53FC-77582C41E86A}"/>
              </a:ext>
            </a:extLst>
          </p:cNvPr>
          <p:cNvGrpSpPr/>
          <p:nvPr/>
        </p:nvGrpSpPr>
        <p:grpSpPr>
          <a:xfrm>
            <a:off x="548640" y="158904"/>
            <a:ext cx="10866616" cy="230832"/>
            <a:chOff x="172859" y="2099469"/>
            <a:chExt cx="10866616" cy="230832"/>
          </a:xfrm>
        </p:grpSpPr>
        <p:sp>
          <p:nvSpPr>
            <p:cNvPr id="10" name="ZoneTexte 9">
              <a:extLst>
                <a:ext uri="{FF2B5EF4-FFF2-40B4-BE49-F238E27FC236}">
                  <a16:creationId xmlns:a16="http://schemas.microsoft.com/office/drawing/2014/main" id="{15CABDBE-E69A-13F8-875C-F717CC994083}"/>
                </a:ext>
              </a:extLst>
            </p:cNvPr>
            <p:cNvSpPr txBox="1"/>
            <p:nvPr/>
          </p:nvSpPr>
          <p:spPr>
            <a:xfrm>
              <a:off x="172859" y="209946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1" name="ZoneTexte 10">
              <a:extLst>
                <a:ext uri="{FF2B5EF4-FFF2-40B4-BE49-F238E27FC236}">
                  <a16:creationId xmlns:a16="http://schemas.microsoft.com/office/drawing/2014/main" id="{2EDB259B-ACAA-7EA4-2369-F8C00C848A40}"/>
                </a:ext>
              </a:extLst>
            </p:cNvPr>
            <p:cNvSpPr txBox="1"/>
            <p:nvPr/>
          </p:nvSpPr>
          <p:spPr>
            <a:xfrm>
              <a:off x="1671599" y="209946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2" name="ZoneTexte 11">
              <a:extLst>
                <a:ext uri="{FF2B5EF4-FFF2-40B4-BE49-F238E27FC236}">
                  <a16:creationId xmlns:a16="http://schemas.microsoft.com/office/drawing/2014/main" id="{904DF36F-238C-F187-C9F9-51969C3A26BA}"/>
                </a:ext>
              </a:extLst>
            </p:cNvPr>
            <p:cNvSpPr txBox="1"/>
            <p:nvPr/>
          </p:nvSpPr>
          <p:spPr>
            <a:xfrm>
              <a:off x="4296533" y="209946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3" name="ZoneTexte 12">
              <a:extLst>
                <a:ext uri="{FF2B5EF4-FFF2-40B4-BE49-F238E27FC236}">
                  <a16:creationId xmlns:a16="http://schemas.microsoft.com/office/drawing/2014/main" id="{244317A4-7AB1-9E73-AD0F-4A0FD944E7B8}"/>
                </a:ext>
              </a:extLst>
            </p:cNvPr>
            <p:cNvSpPr txBox="1"/>
            <p:nvPr/>
          </p:nvSpPr>
          <p:spPr>
            <a:xfrm>
              <a:off x="6921467" y="209946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4" name="ZoneTexte 13">
              <a:extLst>
                <a:ext uri="{FF2B5EF4-FFF2-40B4-BE49-F238E27FC236}">
                  <a16:creationId xmlns:a16="http://schemas.microsoft.com/office/drawing/2014/main" id="{0D688F16-7B89-F17C-6081-6A5E756B506B}"/>
                </a:ext>
              </a:extLst>
            </p:cNvPr>
            <p:cNvSpPr txBox="1"/>
            <p:nvPr/>
          </p:nvSpPr>
          <p:spPr>
            <a:xfrm>
              <a:off x="9088051" y="209946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SÉCURITÉ &amp; CONFIDENTIALITÉ</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Confidentialité, chiffrement KMS et cycle de vie</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13 / 21</a:t>
            </a:r>
            <a:endParaRPr dirty="0"/>
          </a:p>
        </p:txBody>
      </p:sp>
      <p:sp>
        <p:nvSpPr>
          <p:cNvPr id="5" name="Rounded Rectangle 4"/>
          <p:cNvSpPr/>
          <p:nvPr/>
        </p:nvSpPr>
        <p:spPr>
          <a:xfrm>
            <a:off x="548640" y="1371600"/>
            <a:ext cx="530352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7744" y="1644565"/>
            <a:ext cx="4974336" cy="2439129"/>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err="1"/>
              <a:t>Chiffrement</a:t>
            </a:r>
            <a:r>
              <a:rPr dirty="0"/>
              <a:t> KMS </a:t>
            </a:r>
            <a:r>
              <a:rPr dirty="0" err="1"/>
              <a:t>sélectif</a:t>
            </a:r>
            <a:r>
              <a:rPr dirty="0"/>
              <a:t> (ISO 27001)</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err="1"/>
              <a:t>Chiffrement</a:t>
            </a:r>
            <a:r>
              <a:rPr dirty="0"/>
              <a:t> par </a:t>
            </a:r>
            <a:r>
              <a:rPr lang="fr-FR" dirty="0"/>
              <a:t>c</a:t>
            </a:r>
            <a:r>
              <a:rPr dirty="0" err="1"/>
              <a:t>olonne</a:t>
            </a:r>
            <a:r>
              <a:rPr dirty="0"/>
              <a:t> :</a:t>
            </a:r>
            <a:r>
              <a:rPr sz="950" b="0" dirty="0">
                <a:solidFill>
                  <a:srgbClr val="B3B3B3"/>
                </a:solidFill>
              </a:rPr>
              <a:t> Les </a:t>
            </a:r>
            <a:r>
              <a:rPr sz="950" b="0" dirty="0" err="1">
                <a:solidFill>
                  <a:srgbClr val="B3B3B3"/>
                </a:solidFill>
              </a:rPr>
              <a:t>informations</a:t>
            </a:r>
            <a:r>
              <a:rPr sz="950" b="0" dirty="0">
                <a:solidFill>
                  <a:srgbClr val="B3B3B3"/>
                </a:solidFill>
              </a:rPr>
              <a:t> </a:t>
            </a:r>
            <a:r>
              <a:rPr sz="950" b="0" dirty="0" err="1">
                <a:solidFill>
                  <a:srgbClr val="B3B3B3"/>
                </a:solidFill>
              </a:rPr>
              <a:t>personnellement</a:t>
            </a:r>
            <a:r>
              <a:rPr sz="950" b="0" dirty="0">
                <a:solidFill>
                  <a:srgbClr val="B3B3B3"/>
                </a:solidFill>
              </a:rPr>
              <a:t> </a:t>
            </a:r>
            <a:r>
              <a:rPr sz="950" b="0" dirty="0" err="1">
                <a:solidFill>
                  <a:srgbClr val="B3B3B3"/>
                </a:solidFill>
              </a:rPr>
              <a:t>identifiables</a:t>
            </a:r>
            <a:r>
              <a:rPr sz="950" b="0" dirty="0">
                <a:solidFill>
                  <a:srgbClr val="B3B3B3"/>
                </a:solidFill>
              </a:rPr>
              <a:t> (PII) </a:t>
            </a:r>
            <a:br>
              <a:rPr lang="fr-FR" sz="950" b="0" dirty="0">
                <a:solidFill>
                  <a:srgbClr val="B3B3B3"/>
                </a:solidFill>
              </a:rPr>
            </a:br>
            <a:r>
              <a:rPr sz="950" b="0" dirty="0" err="1">
                <a:solidFill>
                  <a:srgbClr val="B3B3B3"/>
                </a:solidFill>
              </a:rPr>
              <a:t>subissent</a:t>
            </a:r>
            <a:r>
              <a:rPr sz="950" b="0" dirty="0">
                <a:solidFill>
                  <a:srgbClr val="B3B3B3"/>
                </a:solidFill>
              </a:rPr>
              <a:t> un </a:t>
            </a:r>
            <a:r>
              <a:rPr sz="950" b="0" dirty="0" err="1">
                <a:solidFill>
                  <a:srgbClr val="B3B3B3"/>
                </a:solidFill>
              </a:rPr>
              <a:t>chiffrement</a:t>
            </a:r>
            <a:r>
              <a:rPr sz="950" b="0" dirty="0">
                <a:solidFill>
                  <a:srgbClr val="B3B3B3"/>
                </a:solidFill>
              </a:rPr>
              <a:t> de </a:t>
            </a:r>
            <a:r>
              <a:rPr sz="950" b="0" dirty="0" err="1">
                <a:solidFill>
                  <a:srgbClr val="B3B3B3"/>
                </a:solidFill>
              </a:rPr>
              <a:t>colonne</a:t>
            </a:r>
            <a:r>
              <a:rPr sz="950" b="0" dirty="0">
                <a:solidFill>
                  <a:srgbClr val="B3B3B3"/>
                </a:solidFill>
              </a:rPr>
              <a:t> </a:t>
            </a:r>
            <a:r>
              <a:rPr sz="950" b="0" dirty="0" err="1">
                <a:solidFill>
                  <a:srgbClr val="B3B3B3"/>
                </a:solidFill>
              </a:rPr>
              <a:t>sélectif</a:t>
            </a:r>
            <a:r>
              <a:rPr sz="950" b="0" dirty="0">
                <a:solidFill>
                  <a:srgbClr val="B3B3B3"/>
                </a:solidFill>
              </a:rPr>
              <a:t> au repos.</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Technologie GCP :</a:t>
            </a:r>
            <a:r>
              <a:rPr sz="950" b="0" dirty="0">
                <a:solidFill>
                  <a:srgbClr val="B3B3B3"/>
                </a:solidFill>
              </a:rPr>
              <a:t> </a:t>
            </a:r>
            <a:r>
              <a:rPr sz="950" b="0" dirty="0" err="1">
                <a:solidFill>
                  <a:srgbClr val="B3B3B3"/>
                </a:solidFill>
              </a:rPr>
              <a:t>Intégration</a:t>
            </a:r>
            <a:r>
              <a:rPr sz="950" b="0" dirty="0">
                <a:solidFill>
                  <a:srgbClr val="B3B3B3"/>
                </a:solidFill>
              </a:rPr>
              <a:t> </a:t>
            </a:r>
            <a:r>
              <a:rPr sz="950" b="0" dirty="0" err="1">
                <a:solidFill>
                  <a:srgbClr val="B3B3B3"/>
                </a:solidFill>
              </a:rPr>
              <a:t>transparente</a:t>
            </a:r>
            <a:r>
              <a:rPr sz="950" b="0" dirty="0">
                <a:solidFill>
                  <a:srgbClr val="B3B3B3"/>
                </a:solidFill>
              </a:rPr>
              <a:t> dans Cloud </a:t>
            </a:r>
            <a:r>
              <a:rPr sz="950" b="0" dirty="0" err="1">
                <a:solidFill>
                  <a:srgbClr val="B3B3B3"/>
                </a:solidFill>
              </a:rPr>
              <a:t>BigQuery</a:t>
            </a:r>
            <a:r>
              <a:rPr sz="950" b="0" dirty="0">
                <a:solidFill>
                  <a:srgbClr val="B3B3B3"/>
                </a:solidFill>
              </a:rPr>
              <a:t> avec </a:t>
            </a:r>
            <a:r>
              <a:rPr sz="950" b="0" dirty="0" err="1">
                <a:solidFill>
                  <a:srgbClr val="B3B3B3"/>
                </a:solidFill>
              </a:rPr>
              <a:t>clés</a:t>
            </a:r>
            <a:r>
              <a:rPr sz="950" b="0" dirty="0">
                <a:solidFill>
                  <a:srgbClr val="B3B3B3"/>
                </a:solidFill>
              </a:rPr>
              <a:t> </a:t>
            </a:r>
            <a:r>
              <a:rPr sz="950" b="0" dirty="0" err="1">
                <a:solidFill>
                  <a:srgbClr val="B3B3B3"/>
                </a:solidFill>
              </a:rPr>
              <a:t>cryptographiques</a:t>
            </a:r>
            <a:r>
              <a:rPr sz="950" b="0" dirty="0">
                <a:solidFill>
                  <a:srgbClr val="B3B3B3"/>
                </a:solidFill>
              </a:rPr>
              <a:t> AES-256.</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Rotation </a:t>
            </a:r>
            <a:r>
              <a:rPr dirty="0" err="1"/>
              <a:t>Automatique</a:t>
            </a:r>
            <a:r>
              <a:rPr dirty="0"/>
              <a:t> :</a:t>
            </a:r>
            <a:r>
              <a:rPr sz="950" b="0" dirty="0">
                <a:solidFill>
                  <a:srgbClr val="B3B3B3"/>
                </a:solidFill>
              </a:rPr>
              <a:t> </a:t>
            </a:r>
            <a:r>
              <a:rPr sz="950" b="0" dirty="0" err="1">
                <a:solidFill>
                  <a:srgbClr val="B3B3B3"/>
                </a:solidFill>
              </a:rPr>
              <a:t>Renouvellement</a:t>
            </a:r>
            <a:r>
              <a:rPr sz="950" b="0" dirty="0">
                <a:solidFill>
                  <a:srgbClr val="B3B3B3"/>
                </a:solidFill>
              </a:rPr>
              <a:t> </a:t>
            </a:r>
            <a:r>
              <a:rPr sz="950" b="0" dirty="0" err="1">
                <a:solidFill>
                  <a:srgbClr val="B3B3B3"/>
                </a:solidFill>
              </a:rPr>
              <a:t>mensuel</a:t>
            </a:r>
            <a:r>
              <a:rPr sz="950" b="0" dirty="0">
                <a:solidFill>
                  <a:srgbClr val="B3B3B3"/>
                </a:solidFill>
              </a:rPr>
              <a:t> des </a:t>
            </a:r>
            <a:r>
              <a:rPr sz="950" b="0" dirty="0" err="1">
                <a:solidFill>
                  <a:srgbClr val="B3B3B3"/>
                </a:solidFill>
              </a:rPr>
              <a:t>clés</a:t>
            </a:r>
            <a:r>
              <a:rPr sz="950" b="0" dirty="0">
                <a:solidFill>
                  <a:srgbClr val="B3B3B3"/>
                </a:solidFill>
              </a:rPr>
              <a:t> via Cloud KMS sans interruption des pipelines </a:t>
            </a:r>
            <a:r>
              <a:rPr sz="950" b="0" dirty="0" err="1">
                <a:solidFill>
                  <a:srgbClr val="B3B3B3"/>
                </a:solidFill>
              </a:rPr>
              <a:t>d'entraînement</a:t>
            </a:r>
            <a:r>
              <a:rPr sz="950" b="0" dirty="0">
                <a:solidFill>
                  <a:srgbClr val="B3B3B3"/>
                </a:solidFill>
              </a:rPr>
              <a:t> IA.</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Contrôle</a:t>
            </a:r>
            <a:r>
              <a:rPr dirty="0"/>
              <a:t> d'</a:t>
            </a:r>
            <a:r>
              <a:rPr lang="fr-FR" dirty="0"/>
              <a:t>a</a:t>
            </a:r>
            <a:r>
              <a:rPr dirty="0" err="1"/>
              <a:t>ccès</a:t>
            </a:r>
            <a:r>
              <a:rPr dirty="0"/>
              <a:t> IAM :</a:t>
            </a:r>
            <a:r>
              <a:rPr sz="950" b="0" dirty="0">
                <a:solidFill>
                  <a:srgbClr val="B3B3B3"/>
                </a:solidFill>
              </a:rPr>
              <a:t> Isolation </a:t>
            </a:r>
            <a:r>
              <a:rPr sz="950" b="0" dirty="0" err="1">
                <a:solidFill>
                  <a:srgbClr val="B3B3B3"/>
                </a:solidFill>
              </a:rPr>
              <a:t>stricte</a:t>
            </a:r>
            <a:r>
              <a:rPr sz="950" b="0" dirty="0">
                <a:solidFill>
                  <a:srgbClr val="B3B3B3"/>
                </a:solidFill>
              </a:rPr>
              <a:t> </a:t>
            </a:r>
            <a:r>
              <a:rPr sz="950" b="0" dirty="0" err="1">
                <a:solidFill>
                  <a:srgbClr val="B3B3B3"/>
                </a:solidFill>
              </a:rPr>
              <a:t>selon</a:t>
            </a:r>
            <a:r>
              <a:rPr sz="950" b="0" dirty="0">
                <a:solidFill>
                  <a:srgbClr val="B3B3B3"/>
                </a:solidFill>
              </a:rPr>
              <a:t> le </a:t>
            </a:r>
            <a:r>
              <a:rPr sz="950" b="0" dirty="0" err="1">
                <a:solidFill>
                  <a:srgbClr val="B3B3B3"/>
                </a:solidFill>
              </a:rPr>
              <a:t>principe</a:t>
            </a:r>
            <a:r>
              <a:rPr sz="950" b="0" dirty="0">
                <a:solidFill>
                  <a:srgbClr val="B3B3B3"/>
                </a:solidFill>
              </a:rPr>
              <a:t> du </a:t>
            </a:r>
            <a:r>
              <a:rPr sz="950" b="0" dirty="0" err="1">
                <a:solidFill>
                  <a:srgbClr val="B3B3B3"/>
                </a:solidFill>
              </a:rPr>
              <a:t>moindre</a:t>
            </a:r>
            <a:r>
              <a:rPr sz="950" b="0" dirty="0">
                <a:solidFill>
                  <a:srgbClr val="B3B3B3"/>
                </a:solidFill>
              </a:rPr>
              <a:t> </a:t>
            </a:r>
            <a:r>
              <a:rPr sz="950" b="0" dirty="0" err="1">
                <a:solidFill>
                  <a:srgbClr val="B3B3B3"/>
                </a:solidFill>
              </a:rPr>
              <a:t>privilège</a:t>
            </a:r>
            <a:r>
              <a:rPr sz="950" b="0" dirty="0">
                <a:solidFill>
                  <a:srgbClr val="B3B3B3"/>
                </a:solidFill>
              </a:rPr>
              <a:t>, </a:t>
            </a:r>
            <a:r>
              <a:rPr sz="950" b="0" dirty="0" err="1">
                <a:solidFill>
                  <a:srgbClr val="B3B3B3"/>
                </a:solidFill>
              </a:rPr>
              <a:t>barrant</a:t>
            </a:r>
            <a:r>
              <a:rPr sz="950" b="0" dirty="0">
                <a:solidFill>
                  <a:srgbClr val="B3B3B3"/>
                </a:solidFill>
              </a:rPr>
              <a:t> </a:t>
            </a:r>
            <a:r>
              <a:rPr sz="950" b="0" dirty="0" err="1">
                <a:solidFill>
                  <a:srgbClr val="B3B3B3"/>
                </a:solidFill>
              </a:rPr>
              <a:t>l'accès</a:t>
            </a:r>
            <a:r>
              <a:rPr sz="950" b="0" dirty="0">
                <a:solidFill>
                  <a:srgbClr val="B3B3B3"/>
                </a:solidFill>
              </a:rPr>
              <a:t> aux bases brutes aux </a:t>
            </a:r>
            <a:r>
              <a:rPr sz="950" b="0" dirty="0" err="1">
                <a:solidFill>
                  <a:srgbClr val="B3B3B3"/>
                </a:solidFill>
              </a:rPr>
              <a:t>administrateurs</a:t>
            </a:r>
            <a:r>
              <a:rPr sz="950" b="0" dirty="0">
                <a:solidFill>
                  <a:srgbClr val="B3B3B3"/>
                </a:solidFill>
              </a:rPr>
              <a:t>.</a:t>
            </a:r>
          </a:p>
        </p:txBody>
      </p:sp>
      <p:sp>
        <p:nvSpPr>
          <p:cNvPr id="7" name="Rounded Rectangle 6"/>
          <p:cNvSpPr/>
          <p:nvPr/>
        </p:nvSpPr>
        <p:spPr>
          <a:xfrm>
            <a:off x="6217920" y="1371600"/>
            <a:ext cx="539496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57024" y="1644565"/>
            <a:ext cx="5065776" cy="2439129"/>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Cycle de vie </a:t>
            </a:r>
            <a:r>
              <a:rPr dirty="0" err="1"/>
              <a:t>automatisé</a:t>
            </a:r>
            <a:r>
              <a:rPr dirty="0"/>
              <a:t> &amp; purges (RGPD / CCPA)</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Destruction par le </a:t>
            </a:r>
            <a:r>
              <a:rPr lang="fr-FR" dirty="0"/>
              <a:t>c</a:t>
            </a:r>
            <a:r>
              <a:rPr dirty="0"/>
              <a:t>ode :</a:t>
            </a:r>
            <a:r>
              <a:rPr sz="950" b="0" dirty="0">
                <a:solidFill>
                  <a:srgbClr val="B3B3B3"/>
                </a:solidFill>
              </a:rPr>
              <a:t> </a:t>
            </a:r>
            <a:r>
              <a:rPr lang="fr-FR" sz="950" b="0" dirty="0">
                <a:solidFill>
                  <a:srgbClr val="B3B3B3"/>
                </a:solidFill>
              </a:rPr>
              <a:t>l</a:t>
            </a:r>
            <a:r>
              <a:rPr sz="950" b="0" dirty="0">
                <a:solidFill>
                  <a:srgbClr val="B3B3B3"/>
                </a:solidFill>
              </a:rPr>
              <a:t>es </a:t>
            </a:r>
            <a:r>
              <a:rPr sz="950" b="0" dirty="0" err="1">
                <a:solidFill>
                  <a:srgbClr val="B3B3B3"/>
                </a:solidFill>
              </a:rPr>
              <a:t>règles</a:t>
            </a:r>
            <a:r>
              <a:rPr sz="950" b="0" dirty="0">
                <a:solidFill>
                  <a:srgbClr val="B3B3B3"/>
                </a:solidFill>
              </a:rPr>
              <a:t> de </a:t>
            </a:r>
            <a:r>
              <a:rPr sz="950" b="0" dirty="0" err="1">
                <a:solidFill>
                  <a:srgbClr val="B3B3B3"/>
                </a:solidFill>
              </a:rPr>
              <a:t>rétention</a:t>
            </a:r>
            <a:r>
              <a:rPr sz="950" b="0" dirty="0">
                <a:solidFill>
                  <a:srgbClr val="B3B3B3"/>
                </a:solidFill>
              </a:rPr>
              <a:t> </a:t>
            </a:r>
            <a:r>
              <a:rPr sz="950" b="0" dirty="0" err="1">
                <a:solidFill>
                  <a:srgbClr val="B3B3B3"/>
                </a:solidFill>
              </a:rPr>
              <a:t>sont</a:t>
            </a:r>
            <a:r>
              <a:rPr sz="950" b="0" dirty="0">
                <a:solidFill>
                  <a:srgbClr val="B3B3B3"/>
                </a:solidFill>
              </a:rPr>
              <a:t> </a:t>
            </a:r>
            <a:r>
              <a:rPr sz="950" b="0" dirty="0" err="1">
                <a:solidFill>
                  <a:srgbClr val="B3B3B3"/>
                </a:solidFill>
              </a:rPr>
              <a:t>codées</a:t>
            </a:r>
            <a:r>
              <a:rPr sz="950" b="0" dirty="0">
                <a:solidFill>
                  <a:srgbClr val="B3B3B3"/>
                </a:solidFill>
              </a:rPr>
              <a:t> </a:t>
            </a:r>
            <a:r>
              <a:rPr sz="950" b="0" dirty="0" err="1">
                <a:solidFill>
                  <a:srgbClr val="B3B3B3"/>
                </a:solidFill>
              </a:rPr>
              <a:t>en</a:t>
            </a:r>
            <a:r>
              <a:rPr sz="950" b="0" dirty="0">
                <a:solidFill>
                  <a:srgbClr val="B3B3B3"/>
                </a:solidFill>
              </a:rPr>
              <a:t> dur sous </a:t>
            </a:r>
            <a:r>
              <a:rPr sz="950" b="0" dirty="0" err="1">
                <a:solidFill>
                  <a:srgbClr val="B3B3B3"/>
                </a:solidFill>
              </a:rPr>
              <a:t>forme</a:t>
            </a:r>
            <a:r>
              <a:rPr sz="950" b="0" dirty="0">
                <a:solidFill>
                  <a:srgbClr val="B3B3B3"/>
                </a:solidFill>
              </a:rPr>
              <a:t> de scripts </a:t>
            </a:r>
            <a:r>
              <a:rPr sz="950" b="0" dirty="0" err="1">
                <a:solidFill>
                  <a:srgbClr val="B3B3B3"/>
                </a:solidFill>
              </a:rPr>
              <a:t>automatisés</a:t>
            </a:r>
            <a:r>
              <a:rPr sz="950" b="0" dirty="0">
                <a:solidFill>
                  <a:srgbClr val="B3B3B3"/>
                </a:solidFill>
              </a:rPr>
              <a:t> </a:t>
            </a:r>
            <a:r>
              <a:rPr sz="950" b="0" dirty="0" err="1">
                <a:solidFill>
                  <a:srgbClr val="B3B3B3"/>
                </a:solidFill>
              </a:rPr>
              <a:t>liés</a:t>
            </a:r>
            <a:r>
              <a:rPr sz="950" b="0" dirty="0">
                <a:solidFill>
                  <a:srgbClr val="B3B3B3"/>
                </a:solidFill>
              </a:rPr>
              <a:t> à </a:t>
            </a:r>
            <a:r>
              <a:rPr sz="950" b="0" dirty="0" err="1">
                <a:solidFill>
                  <a:srgbClr val="B3B3B3"/>
                </a:solidFill>
              </a:rPr>
              <a:t>l'infrastructure</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Règle</a:t>
            </a:r>
            <a:r>
              <a:rPr dirty="0"/>
              <a:t> des 24 </a:t>
            </a:r>
            <a:r>
              <a:rPr lang="fr-FR" dirty="0"/>
              <a:t>m</a:t>
            </a:r>
            <a:r>
              <a:rPr dirty="0" err="1"/>
              <a:t>ois</a:t>
            </a:r>
            <a:r>
              <a:rPr dirty="0"/>
              <a:t> :</a:t>
            </a:r>
            <a:r>
              <a:rPr sz="950" b="0" dirty="0">
                <a:solidFill>
                  <a:srgbClr val="B3B3B3"/>
                </a:solidFill>
              </a:rPr>
              <a:t> </a:t>
            </a:r>
            <a:r>
              <a:rPr lang="fr-FR" sz="950" b="0" dirty="0">
                <a:solidFill>
                  <a:srgbClr val="B3B3B3"/>
                </a:solidFill>
              </a:rPr>
              <a:t>p</a:t>
            </a:r>
            <a:r>
              <a:rPr sz="950" b="0" dirty="0">
                <a:solidFill>
                  <a:srgbClr val="B3B3B3"/>
                </a:solidFill>
              </a:rPr>
              <a:t>urge </a:t>
            </a:r>
            <a:r>
              <a:rPr sz="950" b="0" dirty="0" err="1">
                <a:solidFill>
                  <a:srgbClr val="B3B3B3"/>
                </a:solidFill>
              </a:rPr>
              <a:t>définitive</a:t>
            </a:r>
            <a:r>
              <a:rPr sz="950" b="0" dirty="0">
                <a:solidFill>
                  <a:srgbClr val="B3B3B3"/>
                </a:solidFill>
              </a:rPr>
              <a:t> </a:t>
            </a:r>
            <a:r>
              <a:rPr sz="950" b="0" dirty="0" err="1">
                <a:solidFill>
                  <a:srgbClr val="B3B3B3"/>
                </a:solidFill>
              </a:rPr>
              <a:t>ou</a:t>
            </a:r>
            <a:r>
              <a:rPr sz="950" b="0" dirty="0">
                <a:solidFill>
                  <a:srgbClr val="B3B3B3"/>
                </a:solidFill>
              </a:rPr>
              <a:t> </a:t>
            </a:r>
            <a:r>
              <a:rPr sz="950" b="0" dirty="0" err="1">
                <a:solidFill>
                  <a:srgbClr val="B3B3B3"/>
                </a:solidFill>
              </a:rPr>
              <a:t>anonymisation</a:t>
            </a:r>
            <a:r>
              <a:rPr sz="950" b="0" dirty="0">
                <a:solidFill>
                  <a:srgbClr val="B3B3B3"/>
                </a:solidFill>
              </a:rPr>
              <a:t> </a:t>
            </a:r>
            <a:r>
              <a:rPr sz="950" b="0" dirty="0" err="1">
                <a:solidFill>
                  <a:srgbClr val="B3B3B3"/>
                </a:solidFill>
              </a:rPr>
              <a:t>irréversible</a:t>
            </a:r>
            <a:r>
              <a:rPr sz="950" b="0" dirty="0">
                <a:solidFill>
                  <a:srgbClr val="B3B3B3"/>
                </a:solidFill>
              </a:rPr>
              <a:t> (</a:t>
            </a:r>
            <a:r>
              <a:rPr sz="950" b="0" dirty="0" err="1">
                <a:solidFill>
                  <a:srgbClr val="B3B3B3"/>
                </a:solidFill>
              </a:rPr>
              <a:t>hachage</a:t>
            </a:r>
            <a:r>
              <a:rPr sz="950" b="0" dirty="0">
                <a:solidFill>
                  <a:srgbClr val="B3B3B3"/>
                </a:solidFill>
              </a:rPr>
              <a:t> SHA-256) des logs </a:t>
            </a:r>
            <a:r>
              <a:rPr sz="950" b="0" dirty="0" err="1">
                <a:solidFill>
                  <a:srgbClr val="B3B3B3"/>
                </a:solidFill>
              </a:rPr>
              <a:t>d'écoute</a:t>
            </a:r>
            <a:r>
              <a:rPr sz="950" b="0" dirty="0">
                <a:solidFill>
                  <a:srgbClr val="B3B3B3"/>
                </a:solidFill>
              </a:rPr>
              <a:t> </a:t>
            </a:r>
            <a:r>
              <a:rPr sz="950" b="0" dirty="0" err="1">
                <a:solidFill>
                  <a:srgbClr val="B3B3B3"/>
                </a:solidFill>
              </a:rPr>
              <a:t>inactifs</a:t>
            </a:r>
            <a:r>
              <a:rPr sz="950" b="0" dirty="0">
                <a:solidFill>
                  <a:srgbClr val="B3B3B3"/>
                </a:solidFill>
              </a:rPr>
              <a:t> après 24 </a:t>
            </a:r>
            <a:r>
              <a:rPr sz="950" b="0" dirty="0" err="1">
                <a:solidFill>
                  <a:srgbClr val="B3B3B3"/>
                </a:solidFill>
              </a:rPr>
              <a:t>mois</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Orchestration des </a:t>
            </a:r>
            <a:r>
              <a:rPr lang="fr-FR" dirty="0"/>
              <a:t>d</a:t>
            </a:r>
            <a:r>
              <a:rPr dirty="0" err="1"/>
              <a:t>roits</a:t>
            </a:r>
            <a:r>
              <a:rPr dirty="0"/>
              <a:t> :</a:t>
            </a:r>
            <a:r>
              <a:rPr sz="950" b="0" dirty="0">
                <a:solidFill>
                  <a:srgbClr val="B3B3B3"/>
                </a:solidFill>
              </a:rPr>
              <a:t> </a:t>
            </a:r>
            <a:r>
              <a:rPr sz="950" b="0" dirty="0" err="1">
                <a:solidFill>
                  <a:srgbClr val="B3B3B3"/>
                </a:solidFill>
              </a:rPr>
              <a:t>Traitement</a:t>
            </a:r>
            <a:r>
              <a:rPr sz="950" b="0" dirty="0">
                <a:solidFill>
                  <a:srgbClr val="B3B3B3"/>
                </a:solidFill>
              </a:rPr>
              <a:t> </a:t>
            </a:r>
            <a:r>
              <a:rPr sz="950" b="0" dirty="0" err="1">
                <a:solidFill>
                  <a:srgbClr val="B3B3B3"/>
                </a:solidFill>
              </a:rPr>
              <a:t>automatisé</a:t>
            </a:r>
            <a:r>
              <a:rPr sz="950" b="0" dirty="0">
                <a:solidFill>
                  <a:srgbClr val="B3B3B3"/>
                </a:solidFill>
              </a:rPr>
              <a:t> des </a:t>
            </a:r>
            <a:r>
              <a:rPr sz="950" b="0" dirty="0" err="1">
                <a:solidFill>
                  <a:srgbClr val="B3B3B3"/>
                </a:solidFill>
              </a:rPr>
              <a:t>requêtes</a:t>
            </a:r>
            <a:r>
              <a:rPr sz="950" b="0" dirty="0">
                <a:solidFill>
                  <a:srgbClr val="B3B3B3"/>
                </a:solidFill>
              </a:rPr>
              <a:t> </a:t>
            </a:r>
            <a:r>
              <a:rPr sz="950" b="0" dirty="0" err="1">
                <a:solidFill>
                  <a:srgbClr val="B3B3B3"/>
                </a:solidFill>
              </a:rPr>
              <a:t>utilisateurs</a:t>
            </a:r>
            <a:r>
              <a:rPr sz="950" b="0" dirty="0">
                <a:solidFill>
                  <a:srgbClr val="B3B3B3"/>
                </a:solidFill>
              </a:rPr>
              <a:t> </a:t>
            </a:r>
            <a:br>
              <a:rPr lang="fr-FR" sz="950" b="0" dirty="0">
                <a:solidFill>
                  <a:srgbClr val="B3B3B3"/>
                </a:solidFill>
              </a:rPr>
            </a:br>
            <a:r>
              <a:rPr sz="950" b="0" dirty="0">
                <a:solidFill>
                  <a:srgbClr val="B3B3B3"/>
                </a:solidFill>
              </a:rPr>
              <a:t>(droit </a:t>
            </a:r>
            <a:r>
              <a:rPr sz="950" b="0" dirty="0" err="1">
                <a:solidFill>
                  <a:srgbClr val="B3B3B3"/>
                </a:solidFill>
              </a:rPr>
              <a:t>d'accès</a:t>
            </a:r>
            <a:r>
              <a:rPr sz="950" b="0" dirty="0">
                <a:solidFill>
                  <a:srgbClr val="B3B3B3"/>
                </a:solidFill>
              </a:rPr>
              <a:t> et </a:t>
            </a:r>
            <a:r>
              <a:rPr sz="950" b="0" dirty="0" err="1">
                <a:solidFill>
                  <a:srgbClr val="B3B3B3"/>
                </a:solidFill>
              </a:rPr>
              <a:t>d'effacement</a:t>
            </a:r>
            <a:r>
              <a:rPr sz="950" b="0" dirty="0">
                <a:solidFill>
                  <a:srgbClr val="B3B3B3"/>
                </a:solidFill>
              </a:rPr>
              <a:t>) via </a:t>
            </a:r>
            <a:r>
              <a:rPr sz="950" b="0" dirty="0" err="1">
                <a:solidFill>
                  <a:srgbClr val="B3B3B3"/>
                </a:solidFill>
              </a:rPr>
              <a:t>OneTrust</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Ressources</a:t>
            </a:r>
            <a:r>
              <a:rPr dirty="0"/>
              <a:t> </a:t>
            </a:r>
            <a:r>
              <a:rPr lang="fr-FR" dirty="0"/>
              <a:t>o</a:t>
            </a:r>
            <a:r>
              <a:rPr dirty="0" err="1"/>
              <a:t>rphelines</a:t>
            </a:r>
            <a:r>
              <a:rPr dirty="0"/>
              <a:t> :</a:t>
            </a:r>
            <a:r>
              <a:rPr sz="950" b="0" dirty="0">
                <a:solidFill>
                  <a:srgbClr val="B3B3B3"/>
                </a:solidFill>
              </a:rPr>
              <a:t> </a:t>
            </a:r>
            <a:r>
              <a:rPr lang="fr-FR" sz="950" dirty="0">
                <a:solidFill>
                  <a:srgbClr val="B3B3B3"/>
                </a:solidFill>
              </a:rPr>
              <a:t>a</a:t>
            </a:r>
            <a:r>
              <a:rPr sz="950" b="0" dirty="0" err="1">
                <a:solidFill>
                  <a:srgbClr val="B3B3B3"/>
                </a:solidFill>
              </a:rPr>
              <a:t>utomatisation</a:t>
            </a:r>
            <a:r>
              <a:rPr sz="950" b="0" dirty="0">
                <a:solidFill>
                  <a:srgbClr val="B3B3B3"/>
                </a:solidFill>
              </a:rPr>
              <a:t> de la purge des tables de staging </a:t>
            </a:r>
            <a:r>
              <a:rPr sz="950" b="0" dirty="0" err="1">
                <a:solidFill>
                  <a:srgbClr val="B3B3B3"/>
                </a:solidFill>
              </a:rPr>
              <a:t>inutilisées</a:t>
            </a:r>
            <a:r>
              <a:rPr sz="950" b="0" dirty="0">
                <a:solidFill>
                  <a:srgbClr val="B3B3B3"/>
                </a:solidFill>
              </a:rPr>
              <a:t>, participant à </a:t>
            </a:r>
            <a:r>
              <a:rPr sz="950" b="0" dirty="0" err="1">
                <a:solidFill>
                  <a:srgbClr val="B3B3B3"/>
                </a:solidFill>
              </a:rPr>
              <a:t>une</a:t>
            </a:r>
            <a:r>
              <a:rPr sz="950" b="0" dirty="0">
                <a:solidFill>
                  <a:srgbClr val="B3B3B3"/>
                </a:solidFill>
              </a:rPr>
              <a:t> démarche </a:t>
            </a:r>
            <a:r>
              <a:rPr sz="950" b="0" dirty="0" err="1">
                <a:solidFill>
                  <a:srgbClr val="B3B3B3"/>
                </a:solidFill>
              </a:rPr>
              <a:t>d'éco</a:t>
            </a:r>
            <a:r>
              <a:rPr sz="950" b="0" dirty="0">
                <a:solidFill>
                  <a:srgbClr val="B3B3B3"/>
                </a:solidFill>
              </a:rPr>
              <a:t>-conception.</a:t>
            </a:r>
          </a:p>
        </p:txBody>
      </p:sp>
      <p:grpSp>
        <p:nvGrpSpPr>
          <p:cNvPr id="9" name="Groupe 8">
            <a:extLst>
              <a:ext uri="{FF2B5EF4-FFF2-40B4-BE49-F238E27FC236}">
                <a16:creationId xmlns:a16="http://schemas.microsoft.com/office/drawing/2014/main" id="{AF12078F-819F-A68F-B79D-3F4445C8A289}"/>
              </a:ext>
            </a:extLst>
          </p:cNvPr>
          <p:cNvGrpSpPr/>
          <p:nvPr/>
        </p:nvGrpSpPr>
        <p:grpSpPr>
          <a:xfrm>
            <a:off x="548640" y="158904"/>
            <a:ext cx="10866616" cy="230832"/>
            <a:chOff x="172859" y="2099469"/>
            <a:chExt cx="10866616" cy="230832"/>
          </a:xfrm>
        </p:grpSpPr>
        <p:sp>
          <p:nvSpPr>
            <p:cNvPr id="10" name="ZoneTexte 9">
              <a:extLst>
                <a:ext uri="{FF2B5EF4-FFF2-40B4-BE49-F238E27FC236}">
                  <a16:creationId xmlns:a16="http://schemas.microsoft.com/office/drawing/2014/main" id="{25312A0C-BCAC-DBDE-A739-F392E3B40C27}"/>
                </a:ext>
              </a:extLst>
            </p:cNvPr>
            <p:cNvSpPr txBox="1"/>
            <p:nvPr/>
          </p:nvSpPr>
          <p:spPr>
            <a:xfrm>
              <a:off x="172859" y="209946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1" name="ZoneTexte 10">
              <a:extLst>
                <a:ext uri="{FF2B5EF4-FFF2-40B4-BE49-F238E27FC236}">
                  <a16:creationId xmlns:a16="http://schemas.microsoft.com/office/drawing/2014/main" id="{3F3DACB6-A06A-051D-3297-2283BFAB9E2A}"/>
                </a:ext>
              </a:extLst>
            </p:cNvPr>
            <p:cNvSpPr txBox="1"/>
            <p:nvPr/>
          </p:nvSpPr>
          <p:spPr>
            <a:xfrm>
              <a:off x="1671599" y="209946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2" name="ZoneTexte 11">
              <a:extLst>
                <a:ext uri="{FF2B5EF4-FFF2-40B4-BE49-F238E27FC236}">
                  <a16:creationId xmlns:a16="http://schemas.microsoft.com/office/drawing/2014/main" id="{3DF96A1B-4214-279D-BD74-02FB51610DC3}"/>
                </a:ext>
              </a:extLst>
            </p:cNvPr>
            <p:cNvSpPr txBox="1"/>
            <p:nvPr/>
          </p:nvSpPr>
          <p:spPr>
            <a:xfrm>
              <a:off x="4296533" y="209946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3" name="ZoneTexte 12">
              <a:extLst>
                <a:ext uri="{FF2B5EF4-FFF2-40B4-BE49-F238E27FC236}">
                  <a16:creationId xmlns:a16="http://schemas.microsoft.com/office/drawing/2014/main" id="{DC6FF281-5F90-981C-9C7E-3A86748E9CFB}"/>
                </a:ext>
              </a:extLst>
            </p:cNvPr>
            <p:cNvSpPr txBox="1"/>
            <p:nvPr/>
          </p:nvSpPr>
          <p:spPr>
            <a:xfrm>
              <a:off x="6921467" y="209946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4" name="ZoneTexte 13">
              <a:extLst>
                <a:ext uri="{FF2B5EF4-FFF2-40B4-BE49-F238E27FC236}">
                  <a16:creationId xmlns:a16="http://schemas.microsoft.com/office/drawing/2014/main" id="{B3DA105A-9D73-9740-F179-3765F44F29DC}"/>
                </a:ext>
              </a:extLst>
            </p:cNvPr>
            <p:cNvSpPr txBox="1"/>
            <p:nvPr/>
          </p:nvSpPr>
          <p:spPr>
            <a:xfrm>
              <a:off x="9088051" y="209946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VALIDATION EMPIRIQUE</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Projet pilote : périmètre de la division marketing</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14 / 21</a:t>
            </a:r>
            <a:endParaRPr dirty="0"/>
          </a:p>
        </p:txBody>
      </p:sp>
      <p:sp>
        <p:nvSpPr>
          <p:cNvPr id="5" name="Rounded Rectangle 4"/>
          <p:cNvSpPr/>
          <p:nvPr/>
        </p:nvSpPr>
        <p:spPr>
          <a:xfrm>
            <a:off x="548640" y="1371600"/>
            <a:ext cx="530352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5468" y="1603923"/>
            <a:ext cx="4974336" cy="2593018"/>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err="1"/>
              <a:t>Périmètre</a:t>
            </a:r>
            <a:r>
              <a:rPr dirty="0"/>
              <a:t> &amp; équipe du </a:t>
            </a:r>
            <a:r>
              <a:rPr dirty="0" err="1"/>
              <a:t>projet</a:t>
            </a:r>
            <a:r>
              <a:rPr dirty="0"/>
              <a:t> </a:t>
            </a:r>
            <a:r>
              <a:rPr dirty="0" err="1"/>
              <a:t>pilote</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Le </a:t>
            </a:r>
            <a:r>
              <a:rPr dirty="0" err="1"/>
              <a:t>Périmètre</a:t>
            </a:r>
            <a:r>
              <a:rPr dirty="0"/>
              <a:t> </a:t>
            </a:r>
            <a:r>
              <a:rPr dirty="0" err="1"/>
              <a:t>Pilote</a:t>
            </a:r>
            <a:r>
              <a:rPr dirty="0"/>
              <a:t> :</a:t>
            </a:r>
            <a:r>
              <a:rPr sz="950" b="0" dirty="0">
                <a:solidFill>
                  <a:srgbClr val="B3B3B3"/>
                </a:solidFill>
              </a:rPr>
              <a:t> Application des </a:t>
            </a:r>
            <a:r>
              <a:rPr sz="950" b="0" dirty="0" err="1">
                <a:solidFill>
                  <a:srgbClr val="B3B3B3"/>
                </a:solidFill>
              </a:rPr>
              <a:t>règles</a:t>
            </a:r>
            <a:r>
              <a:rPr sz="950" b="0" dirty="0">
                <a:solidFill>
                  <a:srgbClr val="B3B3B3"/>
                </a:solidFill>
              </a:rPr>
              <a:t> sur les flux de prospects et </a:t>
            </a:r>
            <a:r>
              <a:rPr sz="950" b="0" dirty="0" err="1">
                <a:solidFill>
                  <a:srgbClr val="B3B3B3"/>
                </a:solidFill>
              </a:rPr>
              <a:t>d'acquisition</a:t>
            </a:r>
            <a:r>
              <a:rPr sz="950" b="0" dirty="0">
                <a:solidFill>
                  <a:srgbClr val="B3B3B3"/>
                </a:solidFill>
              </a:rPr>
              <a:t> </a:t>
            </a:r>
            <a:r>
              <a:rPr sz="950" b="0" dirty="0" err="1">
                <a:solidFill>
                  <a:srgbClr val="B3B3B3"/>
                </a:solidFill>
              </a:rPr>
              <a:t>d'abonnés</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Le Volume :</a:t>
            </a:r>
            <a:r>
              <a:rPr sz="950" b="0" dirty="0">
                <a:solidFill>
                  <a:srgbClr val="B3B3B3"/>
                </a:solidFill>
              </a:rPr>
              <a:t> </a:t>
            </a:r>
            <a:r>
              <a:rPr sz="950" b="0" dirty="0" err="1">
                <a:solidFill>
                  <a:srgbClr val="B3B3B3"/>
                </a:solidFill>
              </a:rPr>
              <a:t>Traitement</a:t>
            </a:r>
            <a:r>
              <a:rPr sz="950" b="0" dirty="0">
                <a:solidFill>
                  <a:srgbClr val="B3B3B3"/>
                </a:solidFill>
              </a:rPr>
              <a:t> de 15 à 20 TB de données </a:t>
            </a:r>
            <a:r>
              <a:rPr sz="950" b="0" dirty="0" err="1">
                <a:solidFill>
                  <a:srgbClr val="B3B3B3"/>
                </a:solidFill>
              </a:rPr>
              <a:t>d'activité</a:t>
            </a:r>
            <a:r>
              <a:rPr sz="950" b="0" dirty="0">
                <a:solidFill>
                  <a:srgbClr val="B3B3B3"/>
                </a:solidFill>
              </a:rPr>
              <a:t> </a:t>
            </a:r>
            <a:r>
              <a:rPr sz="950" b="0" dirty="0" err="1">
                <a:solidFill>
                  <a:srgbClr val="B3B3B3"/>
                </a:solidFill>
              </a:rPr>
              <a:t>d'écoute</a:t>
            </a:r>
            <a:r>
              <a:rPr sz="950" b="0" dirty="0">
                <a:solidFill>
                  <a:srgbClr val="B3B3B3"/>
                </a:solidFill>
              </a:rPr>
              <a:t> et de </a:t>
            </a:r>
            <a:r>
              <a:rPr sz="950" b="0" dirty="0" err="1">
                <a:solidFill>
                  <a:srgbClr val="B3B3B3"/>
                </a:solidFill>
              </a:rPr>
              <a:t>profils</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La Durée :</a:t>
            </a:r>
            <a:r>
              <a:rPr sz="950" b="0" dirty="0">
                <a:solidFill>
                  <a:srgbClr val="B3B3B3"/>
                </a:solidFill>
              </a:rPr>
              <a:t> </a:t>
            </a:r>
            <a:r>
              <a:rPr sz="950" b="0" dirty="0" err="1">
                <a:solidFill>
                  <a:srgbClr val="B3B3B3"/>
                </a:solidFill>
              </a:rPr>
              <a:t>Déploiement</a:t>
            </a:r>
            <a:r>
              <a:rPr sz="950" b="0" dirty="0">
                <a:solidFill>
                  <a:srgbClr val="B3B3B3"/>
                </a:solidFill>
              </a:rPr>
              <a:t> </a:t>
            </a:r>
            <a:r>
              <a:rPr sz="950" b="0" dirty="0" err="1">
                <a:solidFill>
                  <a:srgbClr val="B3B3B3"/>
                </a:solidFill>
              </a:rPr>
              <a:t>rigoureux</a:t>
            </a:r>
            <a:r>
              <a:rPr sz="950" b="0" dirty="0">
                <a:solidFill>
                  <a:srgbClr val="B3B3B3"/>
                </a:solidFill>
              </a:rPr>
              <a:t> sur un cycle de 12 </a:t>
            </a:r>
            <a:r>
              <a:rPr sz="950" b="0" dirty="0" err="1">
                <a:solidFill>
                  <a:srgbClr val="B3B3B3"/>
                </a:solidFill>
              </a:rPr>
              <a:t>semaines</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L'Équipe</a:t>
            </a:r>
            <a:r>
              <a:rPr dirty="0"/>
              <a:t> </a:t>
            </a:r>
            <a:r>
              <a:rPr dirty="0" err="1"/>
              <a:t>Dédiée</a:t>
            </a:r>
            <a:r>
              <a:rPr dirty="0"/>
              <a:t> :</a:t>
            </a:r>
          </a:p>
          <a:p>
            <a:pPr marL="628650" lvl="1" indent="-171450">
              <a:spcAft>
                <a:spcPts val="400"/>
              </a:spcAft>
              <a:buFont typeface="Arial" panose="020B0604020202020204" pitchFamily="34" charset="0"/>
              <a:buChar char="•"/>
              <a:defRPr sz="950">
                <a:solidFill>
                  <a:srgbClr val="B3B3B3"/>
                </a:solidFill>
                <a:latin typeface="Arial"/>
              </a:defRPr>
            </a:pPr>
            <a:r>
              <a:rPr dirty="0"/>
              <a:t>  1 Data Steward (Marketing) pour </a:t>
            </a:r>
            <a:r>
              <a:rPr dirty="0" err="1"/>
              <a:t>superviser</a:t>
            </a:r>
            <a:r>
              <a:rPr dirty="0"/>
              <a:t> </a:t>
            </a:r>
            <a:r>
              <a:rPr dirty="0" err="1"/>
              <a:t>l'alignement</a:t>
            </a:r>
            <a:r>
              <a:rPr dirty="0"/>
              <a:t> </a:t>
            </a:r>
            <a:r>
              <a:rPr dirty="0" err="1"/>
              <a:t>sémantique</a:t>
            </a:r>
            <a:r>
              <a:rPr dirty="0"/>
              <a:t>,</a:t>
            </a:r>
          </a:p>
          <a:p>
            <a:pPr marL="628650" lvl="1" indent="-171450">
              <a:spcAft>
                <a:spcPts val="400"/>
              </a:spcAft>
              <a:buFont typeface="Arial" panose="020B0604020202020204" pitchFamily="34" charset="0"/>
              <a:buChar char="•"/>
              <a:defRPr sz="950">
                <a:solidFill>
                  <a:srgbClr val="B3B3B3"/>
                </a:solidFill>
                <a:latin typeface="Arial"/>
              </a:defRPr>
            </a:pPr>
            <a:r>
              <a:rPr dirty="0"/>
              <a:t>   2 IT Engineers (Data Custodians) pour </a:t>
            </a:r>
            <a:r>
              <a:rPr dirty="0" err="1"/>
              <a:t>configurer</a:t>
            </a:r>
            <a:r>
              <a:rPr dirty="0"/>
              <a:t> les flux,</a:t>
            </a:r>
          </a:p>
          <a:p>
            <a:pPr marL="628650" lvl="1" indent="-171450">
              <a:spcAft>
                <a:spcPts val="400"/>
              </a:spcAft>
              <a:buFont typeface="Arial" panose="020B0604020202020204" pitchFamily="34" charset="0"/>
              <a:buChar char="•"/>
              <a:defRPr sz="950">
                <a:solidFill>
                  <a:srgbClr val="B3B3B3"/>
                </a:solidFill>
                <a:latin typeface="Arial"/>
              </a:defRPr>
            </a:pPr>
            <a:r>
              <a:rPr dirty="0"/>
              <a:t>  1 Marketing Lead pour </a:t>
            </a:r>
            <a:r>
              <a:rPr dirty="0" err="1"/>
              <a:t>valider</a:t>
            </a:r>
            <a:r>
              <a:rPr dirty="0"/>
              <a:t> la </a:t>
            </a:r>
            <a:r>
              <a:rPr dirty="0" err="1"/>
              <a:t>qualité</a:t>
            </a:r>
            <a:r>
              <a:rPr dirty="0"/>
              <a:t> </a:t>
            </a:r>
            <a:r>
              <a:rPr dirty="0" err="1"/>
              <a:t>opérationnelle</a:t>
            </a:r>
            <a:r>
              <a:rPr dirty="0"/>
              <a:t> métier.</a:t>
            </a:r>
          </a:p>
        </p:txBody>
      </p:sp>
      <p:sp>
        <p:nvSpPr>
          <p:cNvPr id="7" name="Rounded Rectangle 6"/>
          <p:cNvSpPr/>
          <p:nvPr/>
        </p:nvSpPr>
        <p:spPr>
          <a:xfrm>
            <a:off x="6217920" y="1371600"/>
            <a:ext cx="5394960" cy="4572000"/>
          </a:xfrm>
          <a:prstGeom prst="roundRect">
            <a:avLst/>
          </a:prstGeom>
          <a:solidFill>
            <a:srgbClr val="142D19"/>
          </a:solidFill>
          <a:ln w="19050">
            <a:solidFill>
              <a:srgbClr val="289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24748" y="1603923"/>
            <a:ext cx="5065776" cy="2439129"/>
          </a:xfrm>
          <a:prstGeom prst="rect">
            <a:avLst/>
          </a:prstGeom>
          <a:noFill/>
        </p:spPr>
        <p:txBody>
          <a:bodyPr wrap="square" lIns="0" tIns="0" rIns="0" bIns="0">
            <a:spAutoFit/>
          </a:bodyPr>
          <a:lstStyle/>
          <a:p>
            <a:pPr>
              <a:spcAft>
                <a:spcPts val="600"/>
              </a:spcAft>
              <a:defRPr sz="1200" b="1">
                <a:solidFill>
                  <a:srgbClr val="FFFFFF"/>
                </a:solidFill>
                <a:latin typeface="Arial"/>
              </a:defRPr>
            </a:pPr>
            <a:r>
              <a:rPr dirty="0" err="1"/>
              <a:t>Critères</a:t>
            </a:r>
            <a:r>
              <a:rPr dirty="0"/>
              <a:t> de succès &amp; KPIs </a:t>
            </a:r>
            <a:r>
              <a:rPr dirty="0" err="1"/>
              <a:t>d'évaluation</a:t>
            </a:r>
            <a:endParaRPr lang="fr-FR" dirty="0"/>
          </a:p>
          <a:p>
            <a:pPr>
              <a:spcAft>
                <a:spcPts val="600"/>
              </a:spcAft>
              <a:defRPr sz="1200" b="1">
                <a:solidFill>
                  <a:srgbClr val="FFFFFF"/>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 100 % des </a:t>
            </a:r>
            <a:r>
              <a:rPr lang="fr-FR" dirty="0"/>
              <a:t>a</a:t>
            </a:r>
            <a:r>
              <a:rPr dirty="0" err="1"/>
              <a:t>ctifs</a:t>
            </a:r>
            <a:r>
              <a:rPr dirty="0"/>
              <a:t> </a:t>
            </a:r>
            <a:r>
              <a:rPr lang="fr-FR" dirty="0"/>
              <a:t>c</a:t>
            </a:r>
            <a:r>
              <a:rPr dirty="0" err="1"/>
              <a:t>atalogués</a:t>
            </a:r>
            <a:r>
              <a:rPr dirty="0"/>
              <a:t> :</a:t>
            </a:r>
            <a:r>
              <a:rPr sz="950" b="0" dirty="0">
                <a:solidFill>
                  <a:srgbClr val="B3B3B3"/>
                </a:solidFill>
              </a:rPr>
              <a:t> </a:t>
            </a:r>
            <a:r>
              <a:rPr lang="fr-FR" sz="950" b="0" dirty="0">
                <a:solidFill>
                  <a:srgbClr val="B3B3B3"/>
                </a:solidFill>
              </a:rPr>
              <a:t>t</a:t>
            </a:r>
            <a:r>
              <a:rPr sz="950" b="0" dirty="0" err="1">
                <a:solidFill>
                  <a:srgbClr val="B3B3B3"/>
                </a:solidFill>
              </a:rPr>
              <a:t>ous</a:t>
            </a:r>
            <a:r>
              <a:rPr sz="950" b="0" dirty="0">
                <a:solidFill>
                  <a:srgbClr val="B3B3B3"/>
                </a:solidFill>
              </a:rPr>
              <a:t> les jeux de données marketing </a:t>
            </a:r>
            <a:br>
              <a:rPr lang="fr-FR" sz="950" b="0" dirty="0">
                <a:solidFill>
                  <a:srgbClr val="B3B3B3"/>
                </a:solidFill>
              </a:rPr>
            </a:br>
            <a:r>
              <a:rPr sz="950" b="0" dirty="0" err="1">
                <a:solidFill>
                  <a:srgbClr val="B3B3B3"/>
                </a:solidFill>
              </a:rPr>
              <a:t>enregistrés</a:t>
            </a:r>
            <a:r>
              <a:rPr sz="950" b="0" dirty="0">
                <a:solidFill>
                  <a:srgbClr val="B3B3B3"/>
                </a:solidFill>
              </a:rPr>
              <a:t> dans Backstage avec un owner </a:t>
            </a:r>
            <a:r>
              <a:rPr sz="950" b="0" dirty="0" err="1">
                <a:solidFill>
                  <a:srgbClr val="B3B3B3"/>
                </a:solidFill>
              </a:rPr>
              <a:t>valide</a:t>
            </a:r>
            <a:r>
              <a:rPr sz="950" b="0" dirty="0">
                <a:solidFill>
                  <a:srgbClr val="B3B3B3"/>
                </a:solidFill>
              </a:rPr>
              <a:t> </a:t>
            </a:r>
            <a:r>
              <a:rPr sz="950" b="0" dirty="0" err="1">
                <a:solidFill>
                  <a:srgbClr val="B3B3B3"/>
                </a:solidFill>
              </a:rPr>
              <a:t>en</a:t>
            </a:r>
            <a:r>
              <a:rPr sz="950" b="0" dirty="0">
                <a:solidFill>
                  <a:srgbClr val="B3B3B3"/>
                </a:solidFill>
              </a:rPr>
              <a:t> 12 </a:t>
            </a:r>
            <a:r>
              <a:rPr sz="950" b="0" dirty="0" err="1">
                <a:solidFill>
                  <a:srgbClr val="B3B3B3"/>
                </a:solidFill>
              </a:rPr>
              <a:t>semaines</a:t>
            </a:r>
            <a:r>
              <a:rPr sz="950" b="0" dirty="0">
                <a:solidFill>
                  <a:srgbClr val="B3B3B3"/>
                </a:solidFill>
              </a:rPr>
              <a:t> (</a:t>
            </a:r>
            <a:r>
              <a:rPr sz="950" b="0" dirty="0" err="1">
                <a:solidFill>
                  <a:srgbClr val="B3B3B3"/>
                </a:solidFill>
              </a:rPr>
              <a:t>Cible</a:t>
            </a:r>
            <a:r>
              <a:rPr sz="950" b="0" dirty="0">
                <a:solidFill>
                  <a:srgbClr val="B3B3B3"/>
                </a:solidFill>
              </a:rPr>
              <a:t> : &gt;98 %).</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 +15 % de </a:t>
            </a:r>
            <a:r>
              <a:rPr lang="fr-FR" dirty="0"/>
              <a:t>q</a:t>
            </a:r>
            <a:r>
              <a:rPr dirty="0" err="1"/>
              <a:t>ualité</a:t>
            </a:r>
            <a:r>
              <a:rPr dirty="0"/>
              <a:t> des </a:t>
            </a:r>
            <a:r>
              <a:rPr lang="fr-FR" dirty="0"/>
              <a:t>d</a:t>
            </a:r>
            <a:r>
              <a:rPr dirty="0" err="1"/>
              <a:t>onnées</a:t>
            </a:r>
            <a:r>
              <a:rPr dirty="0"/>
              <a:t> :</a:t>
            </a:r>
            <a:r>
              <a:rPr sz="950" b="0" dirty="0">
                <a:solidFill>
                  <a:srgbClr val="B3B3B3"/>
                </a:solidFill>
              </a:rPr>
              <a:t> </a:t>
            </a:r>
            <a:r>
              <a:rPr lang="fr-FR" sz="950" dirty="0">
                <a:solidFill>
                  <a:srgbClr val="B3B3B3"/>
                </a:solidFill>
              </a:rPr>
              <a:t>a</a:t>
            </a:r>
            <a:r>
              <a:rPr sz="950" b="0" dirty="0" err="1">
                <a:solidFill>
                  <a:srgbClr val="B3B3B3"/>
                </a:solidFill>
              </a:rPr>
              <a:t>mélioration</a:t>
            </a:r>
            <a:r>
              <a:rPr sz="950" b="0" dirty="0">
                <a:solidFill>
                  <a:srgbClr val="B3B3B3"/>
                </a:solidFill>
              </a:rPr>
              <a:t> du score de </a:t>
            </a:r>
            <a:r>
              <a:rPr sz="950" b="0" dirty="0" err="1">
                <a:solidFill>
                  <a:srgbClr val="B3B3B3"/>
                </a:solidFill>
              </a:rPr>
              <a:t>qualité</a:t>
            </a:r>
            <a:r>
              <a:rPr sz="950" b="0" dirty="0">
                <a:solidFill>
                  <a:srgbClr val="B3B3B3"/>
                </a:solidFill>
              </a:rPr>
              <a:t> de 3.5 à 4.0/5 </a:t>
            </a:r>
            <a:br>
              <a:rPr lang="fr-FR" sz="950" b="0" dirty="0">
                <a:solidFill>
                  <a:srgbClr val="B3B3B3"/>
                </a:solidFill>
              </a:rPr>
            </a:br>
            <a:r>
              <a:rPr sz="950" b="0" dirty="0">
                <a:solidFill>
                  <a:srgbClr val="B3B3B3"/>
                </a:solidFill>
              </a:rPr>
              <a:t>via des routines </a:t>
            </a:r>
            <a:r>
              <a:rPr sz="950" b="0" dirty="0" err="1">
                <a:solidFill>
                  <a:srgbClr val="B3B3B3"/>
                </a:solidFill>
              </a:rPr>
              <a:t>automatisées</a:t>
            </a:r>
            <a:r>
              <a:rPr sz="950" b="0" dirty="0">
                <a:solidFill>
                  <a:srgbClr val="B3B3B3"/>
                </a:solidFill>
              </a:rPr>
              <a:t> de </a:t>
            </a:r>
            <a:r>
              <a:rPr sz="950" b="0" dirty="0" err="1">
                <a:solidFill>
                  <a:srgbClr val="B3B3B3"/>
                </a:solidFill>
              </a:rPr>
              <a:t>nettoyage</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 100 % de </a:t>
            </a:r>
            <a:r>
              <a:rPr lang="fr-FR" dirty="0"/>
              <a:t>c</a:t>
            </a:r>
            <a:r>
              <a:rPr dirty="0" err="1"/>
              <a:t>onformité</a:t>
            </a:r>
            <a:r>
              <a:rPr dirty="0"/>
              <a:t> </a:t>
            </a:r>
            <a:r>
              <a:rPr lang="fr-FR" dirty="0"/>
              <a:t>R</a:t>
            </a:r>
            <a:r>
              <a:rPr dirty="0"/>
              <a:t>GPD :</a:t>
            </a:r>
            <a:r>
              <a:rPr sz="950" b="0" dirty="0">
                <a:solidFill>
                  <a:srgbClr val="B3B3B3"/>
                </a:solidFill>
              </a:rPr>
              <a:t> </a:t>
            </a:r>
            <a:r>
              <a:rPr lang="fr-FR" sz="950" b="0" dirty="0">
                <a:solidFill>
                  <a:srgbClr val="B3B3B3"/>
                </a:solidFill>
              </a:rPr>
              <a:t>i</a:t>
            </a:r>
            <a:r>
              <a:rPr sz="950" b="0" dirty="0" err="1">
                <a:solidFill>
                  <a:srgbClr val="B3B3B3"/>
                </a:solidFill>
              </a:rPr>
              <a:t>ngestion</a:t>
            </a:r>
            <a:r>
              <a:rPr sz="950" b="0" dirty="0">
                <a:solidFill>
                  <a:srgbClr val="B3B3B3"/>
                </a:solidFill>
              </a:rPr>
              <a:t> </a:t>
            </a:r>
            <a:r>
              <a:rPr sz="950" b="0" dirty="0" err="1">
                <a:solidFill>
                  <a:srgbClr val="B3B3B3"/>
                </a:solidFill>
              </a:rPr>
              <a:t>conforme</a:t>
            </a:r>
            <a:r>
              <a:rPr sz="950" b="0" dirty="0">
                <a:solidFill>
                  <a:srgbClr val="B3B3B3"/>
                </a:solidFill>
              </a:rPr>
              <a:t> via </a:t>
            </a:r>
            <a:r>
              <a:rPr sz="950" b="0" dirty="0" err="1">
                <a:solidFill>
                  <a:srgbClr val="B3B3B3"/>
                </a:solidFill>
              </a:rPr>
              <a:t>OneTrust</a:t>
            </a:r>
            <a:r>
              <a:rPr sz="950" b="0" dirty="0">
                <a:solidFill>
                  <a:srgbClr val="B3B3B3"/>
                </a:solidFill>
              </a:rPr>
              <a:t> CMP </a:t>
            </a:r>
            <a:br>
              <a:rPr lang="fr-FR" sz="950" b="0" dirty="0">
                <a:solidFill>
                  <a:srgbClr val="B3B3B3"/>
                </a:solidFill>
              </a:rPr>
            </a:br>
            <a:r>
              <a:rPr sz="950" b="0" dirty="0">
                <a:solidFill>
                  <a:srgbClr val="B3B3B3"/>
                </a:solidFill>
              </a:rPr>
              <a:t>(</a:t>
            </a:r>
            <a:r>
              <a:rPr sz="950" b="0" dirty="0" err="1">
                <a:solidFill>
                  <a:srgbClr val="B3B3B3"/>
                </a:solidFill>
              </a:rPr>
              <a:t>Zéro</a:t>
            </a:r>
            <a:r>
              <a:rPr sz="950" b="0" dirty="0">
                <a:solidFill>
                  <a:srgbClr val="B3B3B3"/>
                </a:solidFill>
              </a:rPr>
              <a:t> </a:t>
            </a:r>
            <a:r>
              <a:rPr sz="950" b="0" dirty="0" err="1">
                <a:solidFill>
                  <a:srgbClr val="B3B3B3"/>
                </a:solidFill>
              </a:rPr>
              <a:t>anomalie</a:t>
            </a:r>
            <a:r>
              <a:rPr sz="950" b="0" dirty="0">
                <a:solidFill>
                  <a:srgbClr val="B3B3B3"/>
                </a:solidFill>
              </a:rPr>
              <a:t> de </a:t>
            </a:r>
            <a:r>
              <a:rPr sz="950" b="0" dirty="0" err="1">
                <a:solidFill>
                  <a:srgbClr val="B3B3B3"/>
                </a:solidFill>
              </a:rPr>
              <a:t>consentement</a:t>
            </a:r>
            <a:r>
              <a:rPr sz="950" b="0" dirty="0">
                <a:solidFill>
                  <a:srgbClr val="B3B3B3"/>
                </a:solidFill>
              </a:rPr>
              <a:t> </a:t>
            </a:r>
            <a:r>
              <a:rPr sz="950" b="0" dirty="0" err="1">
                <a:solidFill>
                  <a:srgbClr val="B3B3B3"/>
                </a:solidFill>
              </a:rPr>
              <a:t>en</a:t>
            </a:r>
            <a:r>
              <a:rPr sz="950" b="0" dirty="0">
                <a:solidFill>
                  <a:srgbClr val="B3B3B3"/>
                </a:solidFill>
              </a:rPr>
              <a:t> production).</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 Équipe </a:t>
            </a:r>
            <a:r>
              <a:rPr lang="fr-FR" dirty="0"/>
              <a:t>a</a:t>
            </a:r>
            <a:r>
              <a:rPr dirty="0" err="1"/>
              <a:t>cculturée</a:t>
            </a:r>
            <a:r>
              <a:rPr dirty="0"/>
              <a:t> :</a:t>
            </a:r>
            <a:r>
              <a:rPr sz="950" b="0" dirty="0">
                <a:solidFill>
                  <a:srgbClr val="B3B3B3"/>
                </a:solidFill>
              </a:rPr>
              <a:t> </a:t>
            </a:r>
            <a:r>
              <a:rPr lang="fr-FR" sz="950" b="0" dirty="0">
                <a:solidFill>
                  <a:srgbClr val="B3B3B3"/>
                </a:solidFill>
              </a:rPr>
              <a:t>f</a:t>
            </a:r>
            <a:r>
              <a:rPr sz="950" b="0" dirty="0" err="1">
                <a:solidFill>
                  <a:srgbClr val="B3B3B3"/>
                </a:solidFill>
              </a:rPr>
              <a:t>ormation</a:t>
            </a:r>
            <a:r>
              <a:rPr sz="950" b="0" dirty="0">
                <a:solidFill>
                  <a:srgbClr val="B3B3B3"/>
                </a:solidFill>
              </a:rPr>
              <a:t> et certification interne de 20 </a:t>
            </a:r>
            <a:r>
              <a:rPr sz="950" b="0" dirty="0" err="1">
                <a:solidFill>
                  <a:srgbClr val="B3B3B3"/>
                </a:solidFill>
              </a:rPr>
              <a:t>utilisateurs</a:t>
            </a:r>
            <a:r>
              <a:rPr sz="950" b="0" dirty="0">
                <a:solidFill>
                  <a:srgbClr val="B3B3B3"/>
                </a:solidFill>
              </a:rPr>
              <a:t> </a:t>
            </a:r>
            <a:r>
              <a:rPr sz="950" b="0" dirty="0" err="1">
                <a:solidFill>
                  <a:srgbClr val="B3B3B3"/>
                </a:solidFill>
              </a:rPr>
              <a:t>clés</a:t>
            </a:r>
            <a:r>
              <a:rPr sz="950" b="0" dirty="0">
                <a:solidFill>
                  <a:srgbClr val="B3B3B3"/>
                </a:solidFill>
              </a:rPr>
              <a:t> </a:t>
            </a:r>
            <a:br>
              <a:rPr lang="fr-FR" sz="950" b="0" dirty="0">
                <a:solidFill>
                  <a:srgbClr val="B3B3B3"/>
                </a:solidFill>
              </a:rPr>
            </a:br>
            <a:r>
              <a:rPr sz="950" b="0" dirty="0">
                <a:solidFill>
                  <a:srgbClr val="B3B3B3"/>
                </a:solidFill>
              </a:rPr>
              <a:t>de la division marketing à </a:t>
            </a:r>
            <a:r>
              <a:rPr sz="950" b="0" dirty="0" err="1">
                <a:solidFill>
                  <a:srgbClr val="B3B3B3"/>
                </a:solidFill>
              </a:rPr>
              <a:t>l'usage</a:t>
            </a:r>
            <a:r>
              <a:rPr sz="950" b="0" dirty="0">
                <a:solidFill>
                  <a:srgbClr val="B3B3B3"/>
                </a:solidFill>
              </a:rPr>
              <a:t> de Backstage.</a:t>
            </a:r>
          </a:p>
        </p:txBody>
      </p:sp>
      <p:grpSp>
        <p:nvGrpSpPr>
          <p:cNvPr id="9" name="Groupe 8">
            <a:extLst>
              <a:ext uri="{FF2B5EF4-FFF2-40B4-BE49-F238E27FC236}">
                <a16:creationId xmlns:a16="http://schemas.microsoft.com/office/drawing/2014/main" id="{95F59AC3-2E9D-8A11-02D1-3003E2094888}"/>
              </a:ext>
            </a:extLst>
          </p:cNvPr>
          <p:cNvGrpSpPr/>
          <p:nvPr/>
        </p:nvGrpSpPr>
        <p:grpSpPr>
          <a:xfrm>
            <a:off x="548640" y="134928"/>
            <a:ext cx="10866616" cy="230832"/>
            <a:chOff x="172859" y="2597309"/>
            <a:chExt cx="10866616" cy="230832"/>
          </a:xfrm>
        </p:grpSpPr>
        <p:sp>
          <p:nvSpPr>
            <p:cNvPr id="10" name="ZoneTexte 9">
              <a:extLst>
                <a:ext uri="{FF2B5EF4-FFF2-40B4-BE49-F238E27FC236}">
                  <a16:creationId xmlns:a16="http://schemas.microsoft.com/office/drawing/2014/main" id="{3F40CC0B-1E41-04C3-2FC5-8DE0C3D4FD71}"/>
                </a:ext>
              </a:extLst>
            </p:cNvPr>
            <p:cNvSpPr txBox="1"/>
            <p:nvPr/>
          </p:nvSpPr>
          <p:spPr>
            <a:xfrm>
              <a:off x="172859" y="259730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1" name="ZoneTexte 10">
              <a:extLst>
                <a:ext uri="{FF2B5EF4-FFF2-40B4-BE49-F238E27FC236}">
                  <a16:creationId xmlns:a16="http://schemas.microsoft.com/office/drawing/2014/main" id="{C958F420-56EA-CF22-E358-278418019A76}"/>
                </a:ext>
              </a:extLst>
            </p:cNvPr>
            <p:cNvSpPr txBox="1"/>
            <p:nvPr/>
          </p:nvSpPr>
          <p:spPr>
            <a:xfrm>
              <a:off x="1671599"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2" name="ZoneTexte 11">
              <a:extLst>
                <a:ext uri="{FF2B5EF4-FFF2-40B4-BE49-F238E27FC236}">
                  <a16:creationId xmlns:a16="http://schemas.microsoft.com/office/drawing/2014/main" id="{51AB6DF5-C2B0-30B1-49B1-38FDE19A4F0B}"/>
                </a:ext>
              </a:extLst>
            </p:cNvPr>
            <p:cNvSpPr txBox="1"/>
            <p:nvPr/>
          </p:nvSpPr>
          <p:spPr>
            <a:xfrm>
              <a:off x="4296533"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3" name="ZoneTexte 12">
              <a:extLst>
                <a:ext uri="{FF2B5EF4-FFF2-40B4-BE49-F238E27FC236}">
                  <a16:creationId xmlns:a16="http://schemas.microsoft.com/office/drawing/2014/main" id="{1F742F3F-EA98-8827-7BFD-F924EA1D47F7}"/>
                </a:ext>
              </a:extLst>
            </p:cNvPr>
            <p:cNvSpPr txBox="1"/>
            <p:nvPr/>
          </p:nvSpPr>
          <p:spPr>
            <a:xfrm>
              <a:off x="6921467" y="259730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4" name="ZoneTexte 13">
              <a:extLst>
                <a:ext uri="{FF2B5EF4-FFF2-40B4-BE49-F238E27FC236}">
                  <a16:creationId xmlns:a16="http://schemas.microsoft.com/office/drawing/2014/main" id="{31DC3E3F-FA6E-3792-B7AF-8ADFB201BA78}"/>
                </a:ext>
              </a:extLst>
            </p:cNvPr>
            <p:cNvSpPr txBox="1"/>
            <p:nvPr/>
          </p:nvSpPr>
          <p:spPr>
            <a:xfrm>
              <a:off x="9088051" y="259730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9A6FC519-D194-F2B9-F726-7F9FBB8F9B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283246-76B5-D331-9077-14355C783E90}"/>
              </a:ext>
            </a:extLst>
          </p:cNvPr>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VALIDATION EMPIRIQUE</a:t>
            </a:r>
          </a:p>
        </p:txBody>
      </p:sp>
      <p:sp>
        <p:nvSpPr>
          <p:cNvPr id="3" name="TextBox 2">
            <a:extLst>
              <a:ext uri="{FF2B5EF4-FFF2-40B4-BE49-F238E27FC236}">
                <a16:creationId xmlns:a16="http://schemas.microsoft.com/office/drawing/2014/main" id="{F2B4123F-4C49-2377-82C3-127AA3DB8127}"/>
              </a:ext>
            </a:extLst>
          </p:cNvPr>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Architecture technique du pipeline pilote sécurisé</a:t>
            </a:r>
          </a:p>
        </p:txBody>
      </p:sp>
      <p:sp>
        <p:nvSpPr>
          <p:cNvPr id="4" name="TextBox 3">
            <a:extLst>
              <a:ext uri="{FF2B5EF4-FFF2-40B4-BE49-F238E27FC236}">
                <a16:creationId xmlns:a16="http://schemas.microsoft.com/office/drawing/2014/main" id="{F166DA5B-6FCA-3DFD-071B-72B23B7025D9}"/>
              </a:ext>
            </a:extLst>
          </p:cNvPr>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15 / 21</a:t>
            </a:r>
            <a:endParaRPr dirty="0"/>
          </a:p>
        </p:txBody>
      </p:sp>
      <p:pic>
        <p:nvPicPr>
          <p:cNvPr id="23" name="Image 22">
            <a:extLst>
              <a:ext uri="{FF2B5EF4-FFF2-40B4-BE49-F238E27FC236}">
                <a16:creationId xmlns:a16="http://schemas.microsoft.com/office/drawing/2014/main" id="{D6742240-304D-F4C9-C46F-11FAE3D832E2}"/>
              </a:ext>
            </a:extLst>
          </p:cNvPr>
          <p:cNvPicPr>
            <a:picLocks noChangeAspect="1"/>
          </p:cNvPicPr>
          <p:nvPr/>
        </p:nvPicPr>
        <p:blipFill>
          <a:blip r:embed="rId3"/>
          <a:stretch>
            <a:fillRect/>
          </a:stretch>
        </p:blipFill>
        <p:spPr>
          <a:xfrm>
            <a:off x="548640" y="1493304"/>
            <a:ext cx="11277600" cy="4175976"/>
          </a:xfrm>
          <a:prstGeom prst="rect">
            <a:avLst/>
          </a:prstGeom>
        </p:spPr>
      </p:pic>
      <p:grpSp>
        <p:nvGrpSpPr>
          <p:cNvPr id="5" name="Groupe 4">
            <a:extLst>
              <a:ext uri="{FF2B5EF4-FFF2-40B4-BE49-F238E27FC236}">
                <a16:creationId xmlns:a16="http://schemas.microsoft.com/office/drawing/2014/main" id="{98D0950B-6A33-5AC7-1DF9-5CFA41DF09B6}"/>
              </a:ext>
            </a:extLst>
          </p:cNvPr>
          <p:cNvGrpSpPr/>
          <p:nvPr/>
        </p:nvGrpSpPr>
        <p:grpSpPr>
          <a:xfrm>
            <a:off x="497979" y="142656"/>
            <a:ext cx="10866616" cy="230832"/>
            <a:chOff x="172859" y="2597309"/>
            <a:chExt cx="10866616" cy="230832"/>
          </a:xfrm>
        </p:grpSpPr>
        <p:sp>
          <p:nvSpPr>
            <p:cNvPr id="6" name="ZoneTexte 5">
              <a:extLst>
                <a:ext uri="{FF2B5EF4-FFF2-40B4-BE49-F238E27FC236}">
                  <a16:creationId xmlns:a16="http://schemas.microsoft.com/office/drawing/2014/main" id="{F67335B7-74B0-407C-BAF3-00CF17234F49}"/>
                </a:ext>
              </a:extLst>
            </p:cNvPr>
            <p:cNvSpPr txBox="1"/>
            <p:nvPr/>
          </p:nvSpPr>
          <p:spPr>
            <a:xfrm>
              <a:off x="172859" y="259730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7" name="ZoneTexte 6">
              <a:extLst>
                <a:ext uri="{FF2B5EF4-FFF2-40B4-BE49-F238E27FC236}">
                  <a16:creationId xmlns:a16="http://schemas.microsoft.com/office/drawing/2014/main" id="{860F7800-1818-0738-B7A2-DDC00661EBE0}"/>
                </a:ext>
              </a:extLst>
            </p:cNvPr>
            <p:cNvSpPr txBox="1"/>
            <p:nvPr/>
          </p:nvSpPr>
          <p:spPr>
            <a:xfrm>
              <a:off x="1671599"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8" name="ZoneTexte 7">
              <a:extLst>
                <a:ext uri="{FF2B5EF4-FFF2-40B4-BE49-F238E27FC236}">
                  <a16:creationId xmlns:a16="http://schemas.microsoft.com/office/drawing/2014/main" id="{C4D38231-A193-4195-0972-479EAB9A1A64}"/>
                </a:ext>
              </a:extLst>
            </p:cNvPr>
            <p:cNvSpPr txBox="1"/>
            <p:nvPr/>
          </p:nvSpPr>
          <p:spPr>
            <a:xfrm>
              <a:off x="4296533"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9" name="ZoneTexte 8">
              <a:extLst>
                <a:ext uri="{FF2B5EF4-FFF2-40B4-BE49-F238E27FC236}">
                  <a16:creationId xmlns:a16="http://schemas.microsoft.com/office/drawing/2014/main" id="{0B2D39AF-38B5-B71D-0417-76B723B63310}"/>
                </a:ext>
              </a:extLst>
            </p:cNvPr>
            <p:cNvSpPr txBox="1"/>
            <p:nvPr/>
          </p:nvSpPr>
          <p:spPr>
            <a:xfrm>
              <a:off x="6921467" y="259730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0" name="ZoneTexte 9">
              <a:extLst>
                <a:ext uri="{FF2B5EF4-FFF2-40B4-BE49-F238E27FC236}">
                  <a16:creationId xmlns:a16="http://schemas.microsoft.com/office/drawing/2014/main" id="{B61973C3-CB07-EE75-98F9-3114B12A675D}"/>
                </a:ext>
              </a:extLst>
            </p:cNvPr>
            <p:cNvSpPr txBox="1"/>
            <p:nvPr/>
          </p:nvSpPr>
          <p:spPr>
            <a:xfrm>
              <a:off x="9088051" y="259730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extLst>
      <p:ext uri="{BB962C8B-B14F-4D97-AF65-F5344CB8AC3E}">
        <p14:creationId xmlns:p14="http://schemas.microsoft.com/office/powerpoint/2010/main" val="3734427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VALIDATION EMPIRIQUE</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Projet pilote : intégration et sémantique sociale</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16 / 21</a:t>
            </a:r>
            <a:endParaRPr dirty="0"/>
          </a:p>
        </p:txBody>
      </p:sp>
      <p:sp>
        <p:nvSpPr>
          <p:cNvPr id="5" name="Rounded Rectangle 4"/>
          <p:cNvSpPr/>
          <p:nvPr/>
        </p:nvSpPr>
        <p:spPr>
          <a:xfrm>
            <a:off x="548640" y="1371600"/>
            <a:ext cx="530352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4189" y="1685202"/>
            <a:ext cx="4974336" cy="2585323"/>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Flux technique </a:t>
            </a:r>
            <a:r>
              <a:rPr dirty="0" err="1"/>
              <a:t>d'ingestion</a:t>
            </a:r>
            <a:r>
              <a:rPr dirty="0"/>
              <a:t> </a:t>
            </a:r>
            <a:r>
              <a:rPr dirty="0" err="1"/>
              <a:t>sécurisé</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Pipeline </a:t>
            </a:r>
            <a:r>
              <a:rPr dirty="0" err="1"/>
              <a:t>d'Ingestion</a:t>
            </a:r>
            <a:r>
              <a:rPr dirty="0"/>
              <a:t> :</a:t>
            </a:r>
            <a:r>
              <a:rPr sz="950" b="0" dirty="0">
                <a:solidFill>
                  <a:srgbClr val="B3B3B3"/>
                </a:solidFill>
              </a:rPr>
              <a:t> Talend </a:t>
            </a:r>
            <a:r>
              <a:rPr sz="950" b="0" dirty="0" err="1">
                <a:solidFill>
                  <a:srgbClr val="B3B3B3"/>
                </a:solidFill>
              </a:rPr>
              <a:t>automatise</a:t>
            </a:r>
            <a:r>
              <a:rPr sz="950" b="0" dirty="0">
                <a:solidFill>
                  <a:srgbClr val="B3B3B3"/>
                </a:solidFill>
              </a:rPr>
              <a:t> </a:t>
            </a:r>
            <a:r>
              <a:rPr sz="950" b="0" dirty="0" err="1">
                <a:solidFill>
                  <a:srgbClr val="B3B3B3"/>
                </a:solidFill>
              </a:rPr>
              <a:t>l'import</a:t>
            </a:r>
            <a:r>
              <a:rPr sz="950" b="0" dirty="0">
                <a:solidFill>
                  <a:srgbClr val="B3B3B3"/>
                </a:solidFill>
              </a:rPr>
              <a:t> des prospects </a:t>
            </a:r>
            <a:r>
              <a:rPr sz="950" b="0" dirty="0" err="1">
                <a:solidFill>
                  <a:srgbClr val="B3B3B3"/>
                </a:solidFill>
              </a:rPr>
              <a:t>depuis</a:t>
            </a:r>
            <a:r>
              <a:rPr sz="950" b="0" dirty="0">
                <a:solidFill>
                  <a:srgbClr val="B3B3B3"/>
                </a:solidFill>
              </a:rPr>
              <a:t> </a:t>
            </a:r>
            <a:br>
              <a:rPr lang="fr-FR" sz="950" b="0" dirty="0">
                <a:solidFill>
                  <a:srgbClr val="B3B3B3"/>
                </a:solidFill>
              </a:rPr>
            </a:br>
            <a:r>
              <a:rPr sz="950" b="0" dirty="0">
                <a:solidFill>
                  <a:srgbClr val="B3B3B3"/>
                </a:solidFill>
              </a:rPr>
              <a:t>les </a:t>
            </a:r>
            <a:r>
              <a:rPr sz="950" b="0" dirty="0" err="1">
                <a:solidFill>
                  <a:srgbClr val="B3B3B3"/>
                </a:solidFill>
              </a:rPr>
              <a:t>régies</a:t>
            </a:r>
            <a:r>
              <a:rPr sz="950" b="0" dirty="0">
                <a:solidFill>
                  <a:srgbClr val="B3B3B3"/>
                </a:solidFill>
              </a:rPr>
              <a:t> </a:t>
            </a:r>
            <a:r>
              <a:rPr sz="950" b="0" dirty="0" err="1">
                <a:solidFill>
                  <a:srgbClr val="B3B3B3"/>
                </a:solidFill>
              </a:rPr>
              <a:t>publicitaires</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Anonymisation</a:t>
            </a:r>
            <a:r>
              <a:rPr dirty="0"/>
              <a:t> :</a:t>
            </a:r>
            <a:r>
              <a:rPr sz="950" b="0" dirty="0">
                <a:solidFill>
                  <a:srgbClr val="B3B3B3"/>
                </a:solidFill>
              </a:rPr>
              <a:t> </a:t>
            </a:r>
            <a:r>
              <a:rPr sz="950" b="0" dirty="0" err="1">
                <a:solidFill>
                  <a:srgbClr val="B3B3B3"/>
                </a:solidFill>
              </a:rPr>
              <a:t>Pseudonymisation</a:t>
            </a:r>
            <a:r>
              <a:rPr sz="950" b="0" dirty="0">
                <a:solidFill>
                  <a:srgbClr val="B3B3B3"/>
                </a:solidFill>
              </a:rPr>
              <a:t> </a:t>
            </a:r>
            <a:r>
              <a:rPr sz="950" b="0" dirty="0" err="1">
                <a:solidFill>
                  <a:srgbClr val="B3B3B3"/>
                </a:solidFill>
              </a:rPr>
              <a:t>automatique</a:t>
            </a:r>
            <a:r>
              <a:rPr sz="950" b="0" dirty="0">
                <a:solidFill>
                  <a:srgbClr val="B3B3B3"/>
                </a:solidFill>
              </a:rPr>
              <a:t> des </a:t>
            </a:r>
            <a:r>
              <a:rPr sz="950" b="0" dirty="0" err="1">
                <a:solidFill>
                  <a:srgbClr val="B3B3B3"/>
                </a:solidFill>
              </a:rPr>
              <a:t>adresses</a:t>
            </a:r>
            <a:r>
              <a:rPr sz="950" b="0" dirty="0">
                <a:solidFill>
                  <a:srgbClr val="B3B3B3"/>
                </a:solidFill>
              </a:rPr>
              <a:t> e-mail </a:t>
            </a:r>
            <a:br>
              <a:rPr lang="fr-FR" sz="950" b="0" dirty="0">
                <a:solidFill>
                  <a:srgbClr val="B3B3B3"/>
                </a:solidFill>
              </a:rPr>
            </a:br>
            <a:r>
              <a:rPr sz="950" b="0" dirty="0">
                <a:solidFill>
                  <a:srgbClr val="B3B3B3"/>
                </a:solidFill>
              </a:rPr>
              <a:t>par </a:t>
            </a:r>
            <a:r>
              <a:rPr sz="950" b="0" dirty="0" err="1">
                <a:solidFill>
                  <a:srgbClr val="B3B3B3"/>
                </a:solidFill>
              </a:rPr>
              <a:t>hachage</a:t>
            </a:r>
            <a:r>
              <a:rPr sz="950" b="0" dirty="0">
                <a:solidFill>
                  <a:srgbClr val="B3B3B3"/>
                </a:solidFill>
              </a:rPr>
              <a:t> SHA-256 </a:t>
            </a:r>
            <a:r>
              <a:rPr sz="950" b="0" dirty="0" err="1">
                <a:solidFill>
                  <a:srgbClr val="B3B3B3"/>
                </a:solidFill>
              </a:rPr>
              <a:t>dès</a:t>
            </a:r>
            <a:r>
              <a:rPr sz="950" b="0" dirty="0">
                <a:solidFill>
                  <a:srgbClr val="B3B3B3"/>
                </a:solidFill>
              </a:rPr>
              <a:t> </a:t>
            </a:r>
            <a:r>
              <a:rPr sz="950" b="0" dirty="0" err="1">
                <a:solidFill>
                  <a:srgbClr val="B3B3B3"/>
                </a:solidFill>
              </a:rPr>
              <a:t>l'ingestion</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Synchronisation</a:t>
            </a:r>
            <a:r>
              <a:rPr dirty="0"/>
              <a:t> du </a:t>
            </a:r>
            <a:r>
              <a:rPr dirty="0" err="1"/>
              <a:t>Consentement</a:t>
            </a:r>
            <a:r>
              <a:rPr dirty="0"/>
              <a:t> :</a:t>
            </a:r>
            <a:r>
              <a:rPr sz="950" b="0" dirty="0">
                <a:solidFill>
                  <a:srgbClr val="B3B3B3"/>
                </a:solidFill>
              </a:rPr>
              <a:t> </a:t>
            </a:r>
            <a:r>
              <a:rPr sz="950" b="0" dirty="0" err="1">
                <a:solidFill>
                  <a:srgbClr val="B3B3B3"/>
                </a:solidFill>
              </a:rPr>
              <a:t>OneTrust</a:t>
            </a:r>
            <a:r>
              <a:rPr sz="950" b="0" dirty="0">
                <a:solidFill>
                  <a:srgbClr val="B3B3B3"/>
                </a:solidFill>
              </a:rPr>
              <a:t> </a:t>
            </a:r>
            <a:r>
              <a:rPr sz="950" b="0" dirty="0" err="1">
                <a:solidFill>
                  <a:srgbClr val="B3B3B3"/>
                </a:solidFill>
              </a:rPr>
              <a:t>collecte</a:t>
            </a:r>
            <a:r>
              <a:rPr sz="950" b="0" dirty="0">
                <a:solidFill>
                  <a:srgbClr val="B3B3B3"/>
                </a:solidFill>
              </a:rPr>
              <a:t> le </a:t>
            </a:r>
            <a:r>
              <a:rPr sz="950" b="0" dirty="0" err="1">
                <a:solidFill>
                  <a:srgbClr val="B3B3B3"/>
                </a:solidFill>
              </a:rPr>
              <a:t>consentement</a:t>
            </a:r>
            <a:r>
              <a:rPr sz="950" b="0" dirty="0">
                <a:solidFill>
                  <a:srgbClr val="B3B3B3"/>
                </a:solidFill>
              </a:rPr>
              <a:t>. </a:t>
            </a:r>
            <a:br>
              <a:rPr lang="fr-FR" sz="950" b="0" dirty="0">
                <a:solidFill>
                  <a:srgbClr val="B3B3B3"/>
                </a:solidFill>
              </a:rPr>
            </a:br>
            <a:r>
              <a:rPr sz="950" b="0" dirty="0">
                <a:solidFill>
                  <a:srgbClr val="B3B3B3"/>
                </a:solidFill>
              </a:rPr>
              <a:t>En </a:t>
            </a:r>
            <a:r>
              <a:rPr sz="950" b="0" dirty="0" err="1">
                <a:solidFill>
                  <a:srgbClr val="B3B3B3"/>
                </a:solidFill>
              </a:rPr>
              <a:t>cas</a:t>
            </a:r>
            <a:r>
              <a:rPr sz="950" b="0" dirty="0">
                <a:solidFill>
                  <a:srgbClr val="B3B3B3"/>
                </a:solidFill>
              </a:rPr>
              <a:t> </a:t>
            </a:r>
            <a:r>
              <a:rPr sz="950" b="0" dirty="0" err="1">
                <a:solidFill>
                  <a:srgbClr val="B3B3B3"/>
                </a:solidFill>
              </a:rPr>
              <a:t>d'opt</a:t>
            </a:r>
            <a:r>
              <a:rPr sz="950" b="0" dirty="0">
                <a:solidFill>
                  <a:srgbClr val="B3B3B3"/>
                </a:solidFill>
              </a:rPr>
              <a:t>-out, un webhook </a:t>
            </a:r>
            <a:r>
              <a:rPr sz="950" b="0" dirty="0" err="1">
                <a:solidFill>
                  <a:srgbClr val="B3B3B3"/>
                </a:solidFill>
              </a:rPr>
              <a:t>désactive</a:t>
            </a:r>
            <a:r>
              <a:rPr sz="950" b="0" dirty="0">
                <a:solidFill>
                  <a:srgbClr val="B3B3B3"/>
                </a:solidFill>
              </a:rPr>
              <a:t> </a:t>
            </a:r>
            <a:r>
              <a:rPr sz="950" b="0" dirty="0" err="1">
                <a:solidFill>
                  <a:srgbClr val="B3B3B3"/>
                </a:solidFill>
              </a:rPr>
              <a:t>en</a:t>
            </a:r>
            <a:r>
              <a:rPr sz="950" b="0" dirty="0">
                <a:solidFill>
                  <a:srgbClr val="B3B3B3"/>
                </a:solidFill>
              </a:rPr>
              <a:t> temps </a:t>
            </a:r>
            <a:r>
              <a:rPr sz="950" b="0" dirty="0" err="1">
                <a:solidFill>
                  <a:srgbClr val="B3B3B3"/>
                </a:solidFill>
              </a:rPr>
              <a:t>réel</a:t>
            </a:r>
            <a:r>
              <a:rPr sz="950" b="0" dirty="0">
                <a:solidFill>
                  <a:srgbClr val="B3B3B3"/>
                </a:solidFill>
              </a:rPr>
              <a:t> le pipeline </a:t>
            </a:r>
            <a:r>
              <a:rPr sz="950" b="0" dirty="0" err="1">
                <a:solidFill>
                  <a:srgbClr val="B3B3B3"/>
                </a:solidFill>
              </a:rPr>
              <a:t>d'analyse</a:t>
            </a:r>
            <a:r>
              <a:rPr sz="950" b="0" dirty="0">
                <a:solidFill>
                  <a:srgbClr val="B3B3B3"/>
                </a:solidFill>
              </a:rPr>
              <a:t> </a:t>
            </a:r>
            <a:r>
              <a:rPr sz="950" b="0" dirty="0" err="1">
                <a:solidFill>
                  <a:srgbClr val="B3B3B3"/>
                </a:solidFill>
              </a:rPr>
              <a:t>BigQuery</a:t>
            </a:r>
            <a:r>
              <a:rPr sz="950" b="0" dirty="0">
                <a:solidFill>
                  <a:srgbClr val="B3B3B3"/>
                </a:solidFill>
              </a:rPr>
              <a:t> </a:t>
            </a:r>
            <a:r>
              <a:rPr sz="950" b="0" dirty="0" err="1">
                <a:solidFill>
                  <a:srgbClr val="B3B3B3"/>
                </a:solidFill>
              </a:rPr>
              <a:t>correspondant</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Surveillance </a:t>
            </a:r>
            <a:r>
              <a:rPr dirty="0" err="1"/>
              <a:t>Qualité</a:t>
            </a:r>
            <a:r>
              <a:rPr dirty="0"/>
              <a:t> :</a:t>
            </a:r>
            <a:r>
              <a:rPr sz="950" b="0" dirty="0">
                <a:solidFill>
                  <a:srgbClr val="B3B3B3"/>
                </a:solidFill>
              </a:rPr>
              <a:t> Monte Carlo surveille </a:t>
            </a:r>
            <a:r>
              <a:rPr sz="950" b="0" dirty="0" err="1">
                <a:solidFill>
                  <a:srgbClr val="B3B3B3"/>
                </a:solidFill>
              </a:rPr>
              <a:t>en</a:t>
            </a:r>
            <a:r>
              <a:rPr sz="950" b="0" dirty="0">
                <a:solidFill>
                  <a:srgbClr val="B3B3B3"/>
                </a:solidFill>
              </a:rPr>
              <a:t> </a:t>
            </a:r>
            <a:r>
              <a:rPr sz="950" b="0" dirty="0" err="1">
                <a:solidFill>
                  <a:srgbClr val="B3B3B3"/>
                </a:solidFill>
              </a:rPr>
              <a:t>continu</a:t>
            </a:r>
            <a:r>
              <a:rPr sz="950" b="0" dirty="0">
                <a:solidFill>
                  <a:srgbClr val="B3B3B3"/>
                </a:solidFill>
              </a:rPr>
              <a:t> la </a:t>
            </a:r>
            <a:r>
              <a:rPr sz="950" b="0" dirty="0" err="1">
                <a:solidFill>
                  <a:srgbClr val="B3B3B3"/>
                </a:solidFill>
              </a:rPr>
              <a:t>dérive</a:t>
            </a:r>
            <a:r>
              <a:rPr sz="950" b="0" dirty="0">
                <a:solidFill>
                  <a:srgbClr val="B3B3B3"/>
                </a:solidFill>
              </a:rPr>
              <a:t> de </a:t>
            </a:r>
            <a:br>
              <a:rPr lang="fr-FR" sz="950" b="0" dirty="0">
                <a:solidFill>
                  <a:srgbClr val="B3B3B3"/>
                </a:solidFill>
              </a:rPr>
            </a:br>
            <a:r>
              <a:rPr sz="950" b="0" dirty="0" err="1">
                <a:solidFill>
                  <a:srgbClr val="B3B3B3"/>
                </a:solidFill>
              </a:rPr>
              <a:t>schéma</a:t>
            </a:r>
            <a:r>
              <a:rPr sz="950" b="0" dirty="0">
                <a:solidFill>
                  <a:srgbClr val="B3B3B3"/>
                </a:solidFill>
              </a:rPr>
              <a:t> de données et </a:t>
            </a:r>
            <a:r>
              <a:rPr sz="950" b="0" dirty="0" err="1">
                <a:solidFill>
                  <a:srgbClr val="B3B3B3"/>
                </a:solidFill>
              </a:rPr>
              <a:t>l'intégrité</a:t>
            </a:r>
            <a:r>
              <a:rPr sz="950" b="0" dirty="0">
                <a:solidFill>
                  <a:srgbClr val="B3B3B3"/>
                </a:solidFill>
              </a:rPr>
              <a:t> des tables de prospects.</a:t>
            </a:r>
          </a:p>
        </p:txBody>
      </p:sp>
      <p:sp>
        <p:nvSpPr>
          <p:cNvPr id="7" name="Rounded Rectangle 6"/>
          <p:cNvSpPr/>
          <p:nvPr/>
        </p:nvSpPr>
        <p:spPr>
          <a:xfrm>
            <a:off x="6217920" y="1371600"/>
            <a:ext cx="539496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3469" y="1685202"/>
            <a:ext cx="5065776" cy="2439129"/>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La </a:t>
            </a:r>
            <a:r>
              <a:rPr dirty="0" err="1"/>
              <a:t>sémantique</a:t>
            </a:r>
            <a:r>
              <a:rPr dirty="0"/>
              <a:t> </a:t>
            </a:r>
            <a:r>
              <a:rPr dirty="0" err="1"/>
              <a:t>sociale</a:t>
            </a:r>
            <a:r>
              <a:rPr dirty="0"/>
              <a:t> &amp; recherche </a:t>
            </a:r>
            <a:r>
              <a:rPr dirty="0" err="1"/>
              <a:t>d'intention</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err="1"/>
              <a:t>Dictionnaire</a:t>
            </a:r>
            <a:r>
              <a:rPr dirty="0"/>
              <a:t> Social :</a:t>
            </a:r>
            <a:r>
              <a:rPr sz="950" b="0" dirty="0">
                <a:solidFill>
                  <a:srgbClr val="B3B3B3"/>
                </a:solidFill>
              </a:rPr>
              <a:t> </a:t>
            </a:r>
            <a:r>
              <a:rPr sz="950" b="0" dirty="0" err="1">
                <a:solidFill>
                  <a:srgbClr val="B3B3B3"/>
                </a:solidFill>
              </a:rPr>
              <a:t>Chaque</a:t>
            </a:r>
            <a:r>
              <a:rPr sz="950" b="0" dirty="0">
                <a:solidFill>
                  <a:srgbClr val="B3B3B3"/>
                </a:solidFill>
              </a:rPr>
              <a:t> fiche de table de données dans Backstage est </a:t>
            </a:r>
            <a:r>
              <a:rPr sz="950" b="0" dirty="0" err="1">
                <a:solidFill>
                  <a:srgbClr val="B3B3B3"/>
                </a:solidFill>
              </a:rPr>
              <a:t>liée</a:t>
            </a:r>
            <a:r>
              <a:rPr sz="950" b="0" dirty="0">
                <a:solidFill>
                  <a:srgbClr val="B3B3B3"/>
                </a:solidFill>
              </a:rPr>
              <a:t> </a:t>
            </a:r>
            <a:r>
              <a:rPr sz="950" b="0" dirty="0" err="1">
                <a:solidFill>
                  <a:srgbClr val="B3B3B3"/>
                </a:solidFill>
              </a:rPr>
              <a:t>dynamiquement</a:t>
            </a:r>
            <a:r>
              <a:rPr sz="950" b="0" dirty="0">
                <a:solidFill>
                  <a:srgbClr val="B3B3B3"/>
                </a:solidFill>
              </a:rPr>
              <a:t> au canal de discussion Slack de </a:t>
            </a:r>
            <a:r>
              <a:rPr sz="950" b="0" dirty="0" err="1">
                <a:solidFill>
                  <a:srgbClr val="B3B3B3"/>
                </a:solidFill>
              </a:rPr>
              <a:t>l'équipe</a:t>
            </a:r>
            <a:r>
              <a:rPr sz="950" b="0" dirty="0">
                <a:solidFill>
                  <a:srgbClr val="B3B3B3"/>
                </a:solidFill>
              </a:rPr>
              <a:t> de dev </a:t>
            </a:r>
            <a:r>
              <a:rPr sz="950" b="0" dirty="0" err="1">
                <a:solidFill>
                  <a:srgbClr val="B3B3B3"/>
                </a:solidFill>
              </a:rPr>
              <a:t>responsable</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Mise </a:t>
            </a:r>
            <a:r>
              <a:rPr dirty="0" err="1"/>
              <a:t>en</a:t>
            </a:r>
            <a:r>
              <a:rPr dirty="0"/>
              <a:t> relation :</a:t>
            </a:r>
            <a:r>
              <a:rPr sz="950" b="0" dirty="0">
                <a:solidFill>
                  <a:srgbClr val="B3B3B3"/>
                </a:solidFill>
              </a:rPr>
              <a:t> Les </a:t>
            </a:r>
            <a:r>
              <a:rPr sz="950" b="0" dirty="0" err="1">
                <a:solidFill>
                  <a:srgbClr val="B3B3B3"/>
                </a:solidFill>
              </a:rPr>
              <a:t>analystes</a:t>
            </a:r>
            <a:r>
              <a:rPr sz="950" b="0" dirty="0">
                <a:solidFill>
                  <a:srgbClr val="B3B3B3"/>
                </a:solidFill>
              </a:rPr>
              <a:t> </a:t>
            </a:r>
            <a:r>
              <a:rPr sz="950" b="0" dirty="0" err="1">
                <a:solidFill>
                  <a:srgbClr val="B3B3B3"/>
                </a:solidFill>
              </a:rPr>
              <a:t>identifient</a:t>
            </a:r>
            <a:r>
              <a:rPr sz="950" b="0" dirty="0">
                <a:solidFill>
                  <a:srgbClr val="B3B3B3"/>
                </a:solidFill>
              </a:rPr>
              <a:t> </a:t>
            </a:r>
            <a:r>
              <a:rPr sz="950" b="0" dirty="0" err="1">
                <a:solidFill>
                  <a:srgbClr val="B3B3B3"/>
                </a:solidFill>
              </a:rPr>
              <a:t>instantanément</a:t>
            </a:r>
            <a:r>
              <a:rPr sz="950" b="0" dirty="0">
                <a:solidFill>
                  <a:srgbClr val="B3B3B3"/>
                </a:solidFill>
              </a:rPr>
              <a:t> </a:t>
            </a:r>
            <a:r>
              <a:rPr sz="950" b="0" dirty="0" err="1">
                <a:solidFill>
                  <a:srgbClr val="B3B3B3"/>
                </a:solidFill>
              </a:rPr>
              <a:t>l'expert</a:t>
            </a:r>
            <a:r>
              <a:rPr sz="950" b="0" dirty="0">
                <a:solidFill>
                  <a:srgbClr val="B3B3B3"/>
                </a:solidFill>
              </a:rPr>
              <a:t> </a:t>
            </a:r>
            <a:r>
              <a:rPr sz="950" b="0" dirty="0" err="1">
                <a:solidFill>
                  <a:srgbClr val="B3B3B3"/>
                </a:solidFill>
              </a:rPr>
              <a:t>humain</a:t>
            </a:r>
            <a:r>
              <a:rPr sz="950" b="0" dirty="0">
                <a:solidFill>
                  <a:srgbClr val="B3B3B3"/>
                </a:solidFill>
              </a:rPr>
              <a:t> </a:t>
            </a:r>
            <a:r>
              <a:rPr sz="950" b="0" dirty="0" err="1">
                <a:solidFill>
                  <a:srgbClr val="B3B3B3"/>
                </a:solidFill>
              </a:rPr>
              <a:t>sémantique</a:t>
            </a:r>
            <a:r>
              <a:rPr sz="950" b="0" dirty="0">
                <a:solidFill>
                  <a:srgbClr val="B3B3B3"/>
                </a:solidFill>
              </a:rPr>
              <a:t>, </a:t>
            </a:r>
            <a:r>
              <a:rPr sz="950" b="0" dirty="0" err="1">
                <a:solidFill>
                  <a:srgbClr val="B3B3B3"/>
                </a:solidFill>
              </a:rPr>
              <a:t>éliminant</a:t>
            </a:r>
            <a:r>
              <a:rPr sz="950" b="0" dirty="0">
                <a:solidFill>
                  <a:srgbClr val="B3B3B3"/>
                </a:solidFill>
              </a:rPr>
              <a:t> les </a:t>
            </a:r>
            <a:r>
              <a:rPr sz="950" b="0" dirty="0" err="1">
                <a:solidFill>
                  <a:srgbClr val="B3B3B3"/>
                </a:solidFill>
              </a:rPr>
              <a:t>lenteurs</a:t>
            </a:r>
            <a:r>
              <a:rPr sz="950" b="0" dirty="0">
                <a:solidFill>
                  <a:srgbClr val="B3B3B3"/>
                </a:solidFill>
              </a:rPr>
              <a:t> </a:t>
            </a:r>
            <a:r>
              <a:rPr sz="950" b="0" dirty="0" err="1">
                <a:solidFill>
                  <a:srgbClr val="B3B3B3"/>
                </a:solidFill>
              </a:rPr>
              <a:t>d'e</a:t>
            </a:r>
            <a:r>
              <a:rPr sz="950" b="0" dirty="0">
                <a:solidFill>
                  <a:srgbClr val="B3B3B3"/>
                </a:solidFill>
              </a:rPr>
              <a:t>-mails.</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Recherche </a:t>
            </a:r>
            <a:r>
              <a:rPr dirty="0" err="1"/>
              <a:t>Intelligente</a:t>
            </a:r>
            <a:r>
              <a:rPr dirty="0"/>
              <a:t> :</a:t>
            </a:r>
            <a:r>
              <a:rPr sz="950" b="0" dirty="0">
                <a:solidFill>
                  <a:srgbClr val="B3B3B3"/>
                </a:solidFill>
              </a:rPr>
              <a:t> Le </a:t>
            </a:r>
            <a:r>
              <a:rPr sz="950" b="0" dirty="0" err="1">
                <a:solidFill>
                  <a:srgbClr val="B3B3B3"/>
                </a:solidFill>
              </a:rPr>
              <a:t>moteur</a:t>
            </a:r>
            <a:r>
              <a:rPr sz="950" b="0" dirty="0">
                <a:solidFill>
                  <a:srgbClr val="B3B3B3"/>
                </a:solidFill>
              </a:rPr>
              <a:t> Backstage recherche par intention </a:t>
            </a:r>
            <a:r>
              <a:rPr sz="950" b="0" dirty="0" err="1">
                <a:solidFill>
                  <a:srgbClr val="B3B3B3"/>
                </a:solidFill>
              </a:rPr>
              <a:t>d'usage</a:t>
            </a:r>
            <a:r>
              <a:rPr sz="950" b="0" dirty="0">
                <a:solidFill>
                  <a:srgbClr val="B3B3B3"/>
                </a:solidFill>
              </a:rPr>
              <a:t> (ex. '</a:t>
            </a:r>
            <a:r>
              <a:rPr sz="950" b="0" dirty="0" err="1">
                <a:solidFill>
                  <a:srgbClr val="B3B3B3"/>
                </a:solidFill>
              </a:rPr>
              <a:t>campagne</a:t>
            </a:r>
            <a:r>
              <a:rPr sz="950" b="0" dirty="0">
                <a:solidFill>
                  <a:srgbClr val="B3B3B3"/>
                </a:solidFill>
              </a:rPr>
              <a:t> </a:t>
            </a:r>
            <a:r>
              <a:rPr sz="950" b="0" dirty="0" err="1">
                <a:solidFill>
                  <a:srgbClr val="B3B3B3"/>
                </a:solidFill>
              </a:rPr>
              <a:t>été</a:t>
            </a:r>
            <a:r>
              <a:rPr sz="950" b="0" dirty="0">
                <a:solidFill>
                  <a:srgbClr val="B3B3B3"/>
                </a:solidFill>
              </a:rPr>
              <a:t>') </a:t>
            </a:r>
            <a:r>
              <a:rPr sz="950" b="0" dirty="0" err="1">
                <a:solidFill>
                  <a:srgbClr val="B3B3B3"/>
                </a:solidFill>
              </a:rPr>
              <a:t>plutôt</a:t>
            </a:r>
            <a:r>
              <a:rPr sz="950" b="0" dirty="0">
                <a:solidFill>
                  <a:srgbClr val="B3B3B3"/>
                </a:solidFill>
              </a:rPr>
              <a:t> </a:t>
            </a:r>
            <a:r>
              <a:rPr sz="950" b="0" dirty="0" err="1">
                <a:solidFill>
                  <a:srgbClr val="B3B3B3"/>
                </a:solidFill>
              </a:rPr>
              <a:t>que</a:t>
            </a:r>
            <a:r>
              <a:rPr sz="950" b="0" dirty="0">
                <a:solidFill>
                  <a:srgbClr val="B3B3B3"/>
                </a:solidFill>
              </a:rPr>
              <a:t> par </a:t>
            </a:r>
            <a:r>
              <a:rPr sz="950" b="0" dirty="0" err="1">
                <a:solidFill>
                  <a:srgbClr val="B3B3B3"/>
                </a:solidFill>
              </a:rPr>
              <a:t>requêtes</a:t>
            </a:r>
            <a:r>
              <a:rPr sz="950" b="0" dirty="0">
                <a:solidFill>
                  <a:srgbClr val="B3B3B3"/>
                </a:solidFill>
              </a:rPr>
              <a:t> de mots-</a:t>
            </a:r>
            <a:r>
              <a:rPr sz="950" b="0" dirty="0" err="1">
                <a:solidFill>
                  <a:srgbClr val="B3B3B3"/>
                </a:solidFill>
              </a:rPr>
              <a:t>clés</a:t>
            </a:r>
            <a:r>
              <a:rPr sz="950" b="0" dirty="0">
                <a:solidFill>
                  <a:srgbClr val="B3B3B3"/>
                </a:solidFill>
              </a:rPr>
              <a:t> techniques.</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Gains </a:t>
            </a:r>
            <a:r>
              <a:rPr dirty="0" err="1"/>
              <a:t>mesurés</a:t>
            </a:r>
            <a:r>
              <a:rPr dirty="0"/>
              <a:t> :</a:t>
            </a:r>
            <a:r>
              <a:rPr sz="950" b="0" dirty="0">
                <a:solidFill>
                  <a:srgbClr val="B3B3B3"/>
                </a:solidFill>
              </a:rPr>
              <a:t> </a:t>
            </a:r>
            <a:r>
              <a:rPr sz="950" b="0" dirty="0" err="1">
                <a:solidFill>
                  <a:srgbClr val="B3B3B3"/>
                </a:solidFill>
              </a:rPr>
              <a:t>Baisse</a:t>
            </a:r>
            <a:r>
              <a:rPr sz="950" b="0" dirty="0">
                <a:solidFill>
                  <a:srgbClr val="B3B3B3"/>
                </a:solidFill>
              </a:rPr>
              <a:t> de </a:t>
            </a:r>
            <a:r>
              <a:rPr sz="950" b="1" dirty="0">
                <a:solidFill>
                  <a:srgbClr val="B3B3B3"/>
                </a:solidFill>
              </a:rPr>
              <a:t>40 % </a:t>
            </a:r>
            <a:r>
              <a:rPr sz="950" b="0" dirty="0">
                <a:solidFill>
                  <a:srgbClr val="B3B3B3"/>
                </a:solidFill>
              </a:rPr>
              <a:t>du temps passé par les </a:t>
            </a:r>
            <a:r>
              <a:rPr sz="950" b="0" dirty="0" err="1">
                <a:solidFill>
                  <a:srgbClr val="B3B3B3"/>
                </a:solidFill>
              </a:rPr>
              <a:t>analystes</a:t>
            </a:r>
            <a:r>
              <a:rPr sz="950" b="0" dirty="0">
                <a:solidFill>
                  <a:srgbClr val="B3B3B3"/>
                </a:solidFill>
              </a:rPr>
              <a:t> à </a:t>
            </a:r>
            <a:r>
              <a:rPr sz="950" b="0" dirty="0" err="1">
                <a:solidFill>
                  <a:srgbClr val="B3B3B3"/>
                </a:solidFill>
              </a:rPr>
              <a:t>chercher</a:t>
            </a:r>
            <a:r>
              <a:rPr sz="950" b="0" dirty="0">
                <a:solidFill>
                  <a:srgbClr val="B3B3B3"/>
                </a:solidFill>
              </a:rPr>
              <a:t> et à explorer la </a:t>
            </a:r>
            <a:r>
              <a:rPr sz="950" b="0" dirty="0" err="1">
                <a:solidFill>
                  <a:srgbClr val="B3B3B3"/>
                </a:solidFill>
              </a:rPr>
              <a:t>sémantique</a:t>
            </a:r>
            <a:r>
              <a:rPr sz="950" b="0" dirty="0">
                <a:solidFill>
                  <a:srgbClr val="B3B3B3"/>
                </a:solidFill>
              </a:rPr>
              <a:t> de la donnée.</a:t>
            </a:r>
          </a:p>
        </p:txBody>
      </p:sp>
      <p:grpSp>
        <p:nvGrpSpPr>
          <p:cNvPr id="9" name="Groupe 8">
            <a:extLst>
              <a:ext uri="{FF2B5EF4-FFF2-40B4-BE49-F238E27FC236}">
                <a16:creationId xmlns:a16="http://schemas.microsoft.com/office/drawing/2014/main" id="{3846DF81-F482-EDA1-B76E-78AE9E675997}"/>
              </a:ext>
            </a:extLst>
          </p:cNvPr>
          <p:cNvGrpSpPr/>
          <p:nvPr/>
        </p:nvGrpSpPr>
        <p:grpSpPr>
          <a:xfrm>
            <a:off x="548640" y="158904"/>
            <a:ext cx="10866616" cy="230832"/>
            <a:chOff x="172859" y="2597309"/>
            <a:chExt cx="10866616" cy="230832"/>
          </a:xfrm>
        </p:grpSpPr>
        <p:sp>
          <p:nvSpPr>
            <p:cNvPr id="10" name="ZoneTexte 9">
              <a:extLst>
                <a:ext uri="{FF2B5EF4-FFF2-40B4-BE49-F238E27FC236}">
                  <a16:creationId xmlns:a16="http://schemas.microsoft.com/office/drawing/2014/main" id="{E11AED37-E4D9-14C4-C988-23D1AC63FA35}"/>
                </a:ext>
              </a:extLst>
            </p:cNvPr>
            <p:cNvSpPr txBox="1"/>
            <p:nvPr/>
          </p:nvSpPr>
          <p:spPr>
            <a:xfrm>
              <a:off x="172859" y="259730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1" name="ZoneTexte 10">
              <a:extLst>
                <a:ext uri="{FF2B5EF4-FFF2-40B4-BE49-F238E27FC236}">
                  <a16:creationId xmlns:a16="http://schemas.microsoft.com/office/drawing/2014/main" id="{609A9E69-84DA-A62B-9CA9-04D858148377}"/>
                </a:ext>
              </a:extLst>
            </p:cNvPr>
            <p:cNvSpPr txBox="1"/>
            <p:nvPr/>
          </p:nvSpPr>
          <p:spPr>
            <a:xfrm>
              <a:off x="1671599"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2" name="ZoneTexte 11">
              <a:extLst>
                <a:ext uri="{FF2B5EF4-FFF2-40B4-BE49-F238E27FC236}">
                  <a16:creationId xmlns:a16="http://schemas.microsoft.com/office/drawing/2014/main" id="{FBDE4C66-D7F7-06EC-3011-0DCEFDAFEB34}"/>
                </a:ext>
              </a:extLst>
            </p:cNvPr>
            <p:cNvSpPr txBox="1"/>
            <p:nvPr/>
          </p:nvSpPr>
          <p:spPr>
            <a:xfrm>
              <a:off x="4296533"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3" name="ZoneTexte 12">
              <a:extLst>
                <a:ext uri="{FF2B5EF4-FFF2-40B4-BE49-F238E27FC236}">
                  <a16:creationId xmlns:a16="http://schemas.microsoft.com/office/drawing/2014/main" id="{3DDD8220-3583-4198-CA93-041B0E2D92E1}"/>
                </a:ext>
              </a:extLst>
            </p:cNvPr>
            <p:cNvSpPr txBox="1"/>
            <p:nvPr/>
          </p:nvSpPr>
          <p:spPr>
            <a:xfrm>
              <a:off x="6921467" y="259730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4" name="ZoneTexte 13">
              <a:extLst>
                <a:ext uri="{FF2B5EF4-FFF2-40B4-BE49-F238E27FC236}">
                  <a16:creationId xmlns:a16="http://schemas.microsoft.com/office/drawing/2014/main" id="{FF6E0FD6-6402-F001-36DD-7B7CAE0E0A15}"/>
                </a:ext>
              </a:extLst>
            </p:cNvPr>
            <p:cNvSpPr txBox="1"/>
            <p:nvPr/>
          </p:nvSpPr>
          <p:spPr>
            <a:xfrm>
              <a:off x="9088051" y="259730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151AF5CD-0FF0-7F19-09EF-928F657DF8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515811-9E6B-7EB9-99AE-16EC1FFE46B7}"/>
              </a:ext>
            </a:extLst>
          </p:cNvPr>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CYBER-RÉSILIENCE</a:t>
            </a:r>
          </a:p>
        </p:txBody>
      </p:sp>
      <p:sp>
        <p:nvSpPr>
          <p:cNvPr id="3" name="TextBox 2">
            <a:extLst>
              <a:ext uri="{FF2B5EF4-FFF2-40B4-BE49-F238E27FC236}">
                <a16:creationId xmlns:a16="http://schemas.microsoft.com/office/drawing/2014/main" id="{D3F56024-5E77-5B22-B22C-6C5DBFB6F90B}"/>
              </a:ext>
            </a:extLst>
          </p:cNvPr>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rPr dirty="0" err="1"/>
              <a:t>Gouvernance</a:t>
            </a:r>
            <a:r>
              <a:rPr dirty="0"/>
              <a:t> de </a:t>
            </a:r>
            <a:r>
              <a:rPr dirty="0" err="1"/>
              <a:t>flotte</a:t>
            </a:r>
            <a:r>
              <a:rPr dirty="0"/>
              <a:t> &amp; plans de secours </a:t>
            </a:r>
            <a:r>
              <a:rPr dirty="0" err="1"/>
              <a:t>d'urgence</a:t>
            </a:r>
            <a:endParaRPr dirty="0"/>
          </a:p>
        </p:txBody>
      </p:sp>
      <p:sp>
        <p:nvSpPr>
          <p:cNvPr id="4" name="TextBox 3">
            <a:extLst>
              <a:ext uri="{FF2B5EF4-FFF2-40B4-BE49-F238E27FC236}">
                <a16:creationId xmlns:a16="http://schemas.microsoft.com/office/drawing/2014/main" id="{8D2D1091-75E9-9ADB-B311-AA6B08535268}"/>
              </a:ext>
            </a:extLst>
          </p:cNvPr>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17 / 21</a:t>
            </a:r>
            <a:endParaRPr dirty="0"/>
          </a:p>
        </p:txBody>
      </p:sp>
      <p:pic>
        <p:nvPicPr>
          <p:cNvPr id="12" name="Image 11">
            <a:extLst>
              <a:ext uri="{FF2B5EF4-FFF2-40B4-BE49-F238E27FC236}">
                <a16:creationId xmlns:a16="http://schemas.microsoft.com/office/drawing/2014/main" id="{D67335A3-6D93-3AB5-83D9-F685446FC006}"/>
              </a:ext>
            </a:extLst>
          </p:cNvPr>
          <p:cNvPicPr>
            <a:picLocks noChangeAspect="1"/>
          </p:cNvPicPr>
          <p:nvPr/>
        </p:nvPicPr>
        <p:blipFill>
          <a:blip r:embed="rId3"/>
          <a:stretch>
            <a:fillRect/>
          </a:stretch>
        </p:blipFill>
        <p:spPr>
          <a:xfrm>
            <a:off x="223520" y="1063512"/>
            <a:ext cx="11744960" cy="4730975"/>
          </a:xfrm>
          <a:prstGeom prst="rect">
            <a:avLst/>
          </a:prstGeom>
        </p:spPr>
      </p:pic>
      <p:grpSp>
        <p:nvGrpSpPr>
          <p:cNvPr id="11" name="Groupe 10">
            <a:extLst>
              <a:ext uri="{FF2B5EF4-FFF2-40B4-BE49-F238E27FC236}">
                <a16:creationId xmlns:a16="http://schemas.microsoft.com/office/drawing/2014/main" id="{60B83C96-3CD9-9CB1-6319-2E6E98ADEF64}"/>
              </a:ext>
            </a:extLst>
          </p:cNvPr>
          <p:cNvGrpSpPr/>
          <p:nvPr/>
        </p:nvGrpSpPr>
        <p:grpSpPr>
          <a:xfrm>
            <a:off x="484433" y="134928"/>
            <a:ext cx="10866616" cy="230832"/>
            <a:chOff x="172859" y="2597309"/>
            <a:chExt cx="10866616" cy="230832"/>
          </a:xfrm>
        </p:grpSpPr>
        <p:sp>
          <p:nvSpPr>
            <p:cNvPr id="13" name="ZoneTexte 12">
              <a:extLst>
                <a:ext uri="{FF2B5EF4-FFF2-40B4-BE49-F238E27FC236}">
                  <a16:creationId xmlns:a16="http://schemas.microsoft.com/office/drawing/2014/main" id="{A28E2749-4073-FA56-4139-BE36D5903499}"/>
                </a:ext>
              </a:extLst>
            </p:cNvPr>
            <p:cNvSpPr txBox="1"/>
            <p:nvPr/>
          </p:nvSpPr>
          <p:spPr>
            <a:xfrm>
              <a:off x="172859" y="259730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4" name="ZoneTexte 13">
              <a:extLst>
                <a:ext uri="{FF2B5EF4-FFF2-40B4-BE49-F238E27FC236}">
                  <a16:creationId xmlns:a16="http://schemas.microsoft.com/office/drawing/2014/main" id="{45D23C17-2F12-6749-A230-66E9EA340A49}"/>
                </a:ext>
              </a:extLst>
            </p:cNvPr>
            <p:cNvSpPr txBox="1"/>
            <p:nvPr/>
          </p:nvSpPr>
          <p:spPr>
            <a:xfrm>
              <a:off x="1671599"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5" name="ZoneTexte 14">
              <a:extLst>
                <a:ext uri="{FF2B5EF4-FFF2-40B4-BE49-F238E27FC236}">
                  <a16:creationId xmlns:a16="http://schemas.microsoft.com/office/drawing/2014/main" id="{79634F72-3440-A3B4-8F39-D0693FB88219}"/>
                </a:ext>
              </a:extLst>
            </p:cNvPr>
            <p:cNvSpPr txBox="1"/>
            <p:nvPr/>
          </p:nvSpPr>
          <p:spPr>
            <a:xfrm>
              <a:off x="4296533"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6" name="ZoneTexte 15">
              <a:extLst>
                <a:ext uri="{FF2B5EF4-FFF2-40B4-BE49-F238E27FC236}">
                  <a16:creationId xmlns:a16="http://schemas.microsoft.com/office/drawing/2014/main" id="{6C40582E-D3E6-CF5A-5877-DCADAE9B9457}"/>
                </a:ext>
              </a:extLst>
            </p:cNvPr>
            <p:cNvSpPr txBox="1"/>
            <p:nvPr/>
          </p:nvSpPr>
          <p:spPr>
            <a:xfrm>
              <a:off x="6921467" y="259730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7" name="ZoneTexte 16">
              <a:extLst>
                <a:ext uri="{FF2B5EF4-FFF2-40B4-BE49-F238E27FC236}">
                  <a16:creationId xmlns:a16="http://schemas.microsoft.com/office/drawing/2014/main" id="{855A1AA6-E200-63CD-2386-FEE5CB3FDC35}"/>
                </a:ext>
              </a:extLst>
            </p:cNvPr>
            <p:cNvSpPr txBox="1"/>
            <p:nvPr/>
          </p:nvSpPr>
          <p:spPr>
            <a:xfrm>
              <a:off x="9088051" y="259730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extLst>
      <p:ext uri="{BB962C8B-B14F-4D97-AF65-F5344CB8AC3E}">
        <p14:creationId xmlns:p14="http://schemas.microsoft.com/office/powerpoint/2010/main" val="1604208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CYBER-RÉSILIENCE</a:t>
            </a:r>
          </a:p>
        </p:txBody>
      </p:sp>
      <p:sp>
        <p:nvSpPr>
          <p:cNvPr id="3" name="TextBox 2"/>
          <p:cNvSpPr txBox="1"/>
          <p:nvPr/>
        </p:nvSpPr>
        <p:spPr>
          <a:xfrm>
            <a:off x="548640" y="502920"/>
            <a:ext cx="10058400" cy="400110"/>
          </a:xfrm>
          <a:prstGeom prst="rect">
            <a:avLst/>
          </a:prstGeom>
          <a:noFill/>
        </p:spPr>
        <p:txBody>
          <a:bodyPr wrap="square" lIns="0" tIns="0" rIns="0" bIns="0">
            <a:spAutoFit/>
          </a:bodyPr>
          <a:lstStyle/>
          <a:p>
            <a:pPr>
              <a:defRPr sz="2600" b="1">
                <a:solidFill>
                  <a:srgbClr val="FFFFFF"/>
                </a:solidFill>
                <a:latin typeface="Arial"/>
              </a:defRPr>
            </a:pPr>
            <a:r>
              <a:rPr dirty="0" err="1"/>
              <a:t>Chronologie</a:t>
            </a:r>
            <a:r>
              <a:rPr dirty="0"/>
              <a:t> </a:t>
            </a:r>
            <a:r>
              <a:rPr dirty="0" err="1"/>
              <a:t>d'urgence</a:t>
            </a:r>
            <a:r>
              <a:rPr dirty="0"/>
              <a:t> : </a:t>
            </a:r>
            <a:r>
              <a:rPr dirty="0" err="1"/>
              <a:t>protocole</a:t>
            </a:r>
            <a:r>
              <a:rPr dirty="0"/>
              <a:t> Alpha</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18 / 21</a:t>
            </a:r>
            <a:endParaRPr dirty="0"/>
          </a:p>
        </p:txBody>
      </p:sp>
      <p:pic>
        <p:nvPicPr>
          <p:cNvPr id="27" name="Image 26">
            <a:extLst>
              <a:ext uri="{FF2B5EF4-FFF2-40B4-BE49-F238E27FC236}">
                <a16:creationId xmlns:a16="http://schemas.microsoft.com/office/drawing/2014/main" id="{8258ADE0-DFA6-420C-8D0C-28476BB060EE}"/>
              </a:ext>
            </a:extLst>
          </p:cNvPr>
          <p:cNvPicPr>
            <a:picLocks noChangeAspect="1"/>
          </p:cNvPicPr>
          <p:nvPr/>
        </p:nvPicPr>
        <p:blipFill>
          <a:blip r:embed="rId3"/>
          <a:stretch>
            <a:fillRect/>
          </a:stretch>
        </p:blipFill>
        <p:spPr>
          <a:xfrm>
            <a:off x="437532" y="1508760"/>
            <a:ext cx="11532100" cy="4793886"/>
          </a:xfrm>
          <a:prstGeom prst="rect">
            <a:avLst/>
          </a:prstGeom>
        </p:spPr>
      </p:pic>
      <p:grpSp>
        <p:nvGrpSpPr>
          <p:cNvPr id="5" name="Groupe 4">
            <a:extLst>
              <a:ext uri="{FF2B5EF4-FFF2-40B4-BE49-F238E27FC236}">
                <a16:creationId xmlns:a16="http://schemas.microsoft.com/office/drawing/2014/main" id="{31E324AB-178E-B7AF-54DA-F39D9975172A}"/>
              </a:ext>
            </a:extLst>
          </p:cNvPr>
          <p:cNvGrpSpPr/>
          <p:nvPr/>
        </p:nvGrpSpPr>
        <p:grpSpPr>
          <a:xfrm>
            <a:off x="497979" y="130446"/>
            <a:ext cx="10866616" cy="230832"/>
            <a:chOff x="172859" y="2597309"/>
            <a:chExt cx="10866616" cy="230832"/>
          </a:xfrm>
        </p:grpSpPr>
        <p:sp>
          <p:nvSpPr>
            <p:cNvPr id="6" name="ZoneTexte 5">
              <a:extLst>
                <a:ext uri="{FF2B5EF4-FFF2-40B4-BE49-F238E27FC236}">
                  <a16:creationId xmlns:a16="http://schemas.microsoft.com/office/drawing/2014/main" id="{46DA6665-1C39-3D19-1262-901CEF0B3066}"/>
                </a:ext>
              </a:extLst>
            </p:cNvPr>
            <p:cNvSpPr txBox="1"/>
            <p:nvPr/>
          </p:nvSpPr>
          <p:spPr>
            <a:xfrm>
              <a:off x="172859" y="259730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7" name="ZoneTexte 6">
              <a:extLst>
                <a:ext uri="{FF2B5EF4-FFF2-40B4-BE49-F238E27FC236}">
                  <a16:creationId xmlns:a16="http://schemas.microsoft.com/office/drawing/2014/main" id="{8F6B0950-0101-F19E-9A38-CE8A550A0027}"/>
                </a:ext>
              </a:extLst>
            </p:cNvPr>
            <p:cNvSpPr txBox="1"/>
            <p:nvPr/>
          </p:nvSpPr>
          <p:spPr>
            <a:xfrm>
              <a:off x="1671599"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8" name="ZoneTexte 7">
              <a:extLst>
                <a:ext uri="{FF2B5EF4-FFF2-40B4-BE49-F238E27FC236}">
                  <a16:creationId xmlns:a16="http://schemas.microsoft.com/office/drawing/2014/main" id="{5F77BBF8-A4FB-19FC-E804-8262B798E74E}"/>
                </a:ext>
              </a:extLst>
            </p:cNvPr>
            <p:cNvSpPr txBox="1"/>
            <p:nvPr/>
          </p:nvSpPr>
          <p:spPr>
            <a:xfrm>
              <a:off x="4296533" y="259730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9" name="ZoneTexte 8">
              <a:extLst>
                <a:ext uri="{FF2B5EF4-FFF2-40B4-BE49-F238E27FC236}">
                  <a16:creationId xmlns:a16="http://schemas.microsoft.com/office/drawing/2014/main" id="{0A89445A-7CD0-0159-0D40-CC079527FEBB}"/>
                </a:ext>
              </a:extLst>
            </p:cNvPr>
            <p:cNvSpPr txBox="1"/>
            <p:nvPr/>
          </p:nvSpPr>
          <p:spPr>
            <a:xfrm>
              <a:off x="6921467" y="2597309"/>
              <a:ext cx="2931090"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0" name="ZoneTexte 9">
              <a:extLst>
                <a:ext uri="{FF2B5EF4-FFF2-40B4-BE49-F238E27FC236}">
                  <a16:creationId xmlns:a16="http://schemas.microsoft.com/office/drawing/2014/main" id="{F9FB3B5A-BB01-DE5D-E2D9-A9BC11B77A13}"/>
                </a:ext>
              </a:extLst>
            </p:cNvPr>
            <p:cNvSpPr txBox="1"/>
            <p:nvPr/>
          </p:nvSpPr>
          <p:spPr>
            <a:xfrm>
              <a:off x="9088051" y="2597309"/>
              <a:ext cx="1951424"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363EAA80-7788-1428-FE8A-34768F8B85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04A895-71FB-547E-079C-216F56BA89CA}"/>
              </a:ext>
            </a:extLst>
          </p:cNvPr>
          <p:cNvSpPr txBox="1"/>
          <p:nvPr/>
        </p:nvSpPr>
        <p:spPr>
          <a:xfrm>
            <a:off x="548640" y="502920"/>
            <a:ext cx="10058400" cy="400110"/>
          </a:xfrm>
          <a:prstGeom prst="rect">
            <a:avLst/>
          </a:prstGeom>
          <a:noFill/>
        </p:spPr>
        <p:txBody>
          <a:bodyPr wrap="square" lIns="0" tIns="0" rIns="0" bIns="0">
            <a:spAutoFit/>
          </a:bodyPr>
          <a:lstStyle/>
          <a:p>
            <a:pPr>
              <a:defRPr sz="2600" b="1">
                <a:solidFill>
                  <a:srgbClr val="FFFFFF"/>
                </a:solidFill>
                <a:latin typeface="Arial"/>
              </a:defRPr>
            </a:pPr>
            <a:r>
              <a:rPr lang="fr-FR" dirty="0"/>
              <a:t>Roadmap implémentation de la gouvernance</a:t>
            </a:r>
            <a:endParaRPr dirty="0"/>
          </a:p>
        </p:txBody>
      </p:sp>
      <p:sp>
        <p:nvSpPr>
          <p:cNvPr id="4" name="TextBox 3">
            <a:extLst>
              <a:ext uri="{FF2B5EF4-FFF2-40B4-BE49-F238E27FC236}">
                <a16:creationId xmlns:a16="http://schemas.microsoft.com/office/drawing/2014/main" id="{CCB962BC-AE79-224A-148B-72CEE87653AE}"/>
              </a:ext>
            </a:extLst>
          </p:cNvPr>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19 / 21</a:t>
            </a:r>
            <a:endParaRPr dirty="0"/>
          </a:p>
        </p:txBody>
      </p:sp>
      <p:pic>
        <p:nvPicPr>
          <p:cNvPr id="14" name="Image 13">
            <a:extLst>
              <a:ext uri="{FF2B5EF4-FFF2-40B4-BE49-F238E27FC236}">
                <a16:creationId xmlns:a16="http://schemas.microsoft.com/office/drawing/2014/main" id="{37C2D1A1-D9CD-E53C-D38A-763AEBDD083A}"/>
              </a:ext>
            </a:extLst>
          </p:cNvPr>
          <p:cNvPicPr>
            <a:picLocks noChangeAspect="1"/>
          </p:cNvPicPr>
          <p:nvPr/>
        </p:nvPicPr>
        <p:blipFill>
          <a:blip r:embed="rId3"/>
          <a:stretch>
            <a:fillRect/>
          </a:stretch>
        </p:blipFill>
        <p:spPr>
          <a:xfrm>
            <a:off x="548640" y="985838"/>
            <a:ext cx="10508752" cy="5414962"/>
          </a:xfrm>
          <a:prstGeom prst="rect">
            <a:avLst/>
          </a:prstGeom>
        </p:spPr>
      </p:pic>
      <p:sp>
        <p:nvSpPr>
          <p:cNvPr id="15" name="TextBox 1">
            <a:extLst>
              <a:ext uri="{FF2B5EF4-FFF2-40B4-BE49-F238E27FC236}">
                <a16:creationId xmlns:a16="http://schemas.microsoft.com/office/drawing/2014/main" id="{A0A21F3E-6C70-F15B-0E6B-2622F5162B88}"/>
              </a:ext>
            </a:extLst>
          </p:cNvPr>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rPr dirty="0"/>
              <a:t>MODÈLE ORGANISATIONNEL</a:t>
            </a:r>
          </a:p>
        </p:txBody>
      </p:sp>
      <p:grpSp>
        <p:nvGrpSpPr>
          <p:cNvPr id="5" name="Groupe 4">
            <a:extLst>
              <a:ext uri="{FF2B5EF4-FFF2-40B4-BE49-F238E27FC236}">
                <a16:creationId xmlns:a16="http://schemas.microsoft.com/office/drawing/2014/main" id="{32EFFF03-A651-DEF2-6699-D271A69AEB85}"/>
              </a:ext>
            </a:extLst>
          </p:cNvPr>
          <p:cNvGrpSpPr/>
          <p:nvPr/>
        </p:nvGrpSpPr>
        <p:grpSpPr>
          <a:xfrm>
            <a:off x="548640" y="189280"/>
            <a:ext cx="10866616" cy="230832"/>
            <a:chOff x="172859" y="3095149"/>
            <a:chExt cx="10866616" cy="230832"/>
          </a:xfrm>
        </p:grpSpPr>
        <p:sp>
          <p:nvSpPr>
            <p:cNvPr id="6" name="ZoneTexte 5">
              <a:extLst>
                <a:ext uri="{FF2B5EF4-FFF2-40B4-BE49-F238E27FC236}">
                  <a16:creationId xmlns:a16="http://schemas.microsoft.com/office/drawing/2014/main" id="{8B8C1326-A009-49C9-FBB7-1B1233A49E0C}"/>
                </a:ext>
              </a:extLst>
            </p:cNvPr>
            <p:cNvSpPr txBox="1"/>
            <p:nvPr/>
          </p:nvSpPr>
          <p:spPr>
            <a:xfrm>
              <a:off x="172859" y="309514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7" name="ZoneTexte 6">
              <a:extLst>
                <a:ext uri="{FF2B5EF4-FFF2-40B4-BE49-F238E27FC236}">
                  <a16:creationId xmlns:a16="http://schemas.microsoft.com/office/drawing/2014/main" id="{F44AA6F4-0BB9-FC4E-98BC-55732C2C6D68}"/>
                </a:ext>
              </a:extLst>
            </p:cNvPr>
            <p:cNvSpPr txBox="1"/>
            <p:nvPr/>
          </p:nvSpPr>
          <p:spPr>
            <a:xfrm>
              <a:off x="1671599" y="309514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8" name="ZoneTexte 7">
              <a:extLst>
                <a:ext uri="{FF2B5EF4-FFF2-40B4-BE49-F238E27FC236}">
                  <a16:creationId xmlns:a16="http://schemas.microsoft.com/office/drawing/2014/main" id="{F07F0EE7-6707-07EA-5296-80094FE65D85}"/>
                </a:ext>
              </a:extLst>
            </p:cNvPr>
            <p:cNvSpPr txBox="1"/>
            <p:nvPr/>
          </p:nvSpPr>
          <p:spPr>
            <a:xfrm>
              <a:off x="4296533" y="309514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9" name="ZoneTexte 8">
              <a:extLst>
                <a:ext uri="{FF2B5EF4-FFF2-40B4-BE49-F238E27FC236}">
                  <a16:creationId xmlns:a16="http://schemas.microsoft.com/office/drawing/2014/main" id="{6A6C9B45-B7BD-34A9-FD83-A6191651CAC6}"/>
                </a:ext>
              </a:extLst>
            </p:cNvPr>
            <p:cNvSpPr txBox="1"/>
            <p:nvPr/>
          </p:nvSpPr>
          <p:spPr>
            <a:xfrm>
              <a:off x="6921467" y="309514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0" name="ZoneTexte 9">
              <a:extLst>
                <a:ext uri="{FF2B5EF4-FFF2-40B4-BE49-F238E27FC236}">
                  <a16:creationId xmlns:a16="http://schemas.microsoft.com/office/drawing/2014/main" id="{2A5AD438-DCD5-0266-B4EB-8B1F0985FB6F}"/>
                </a:ext>
              </a:extLst>
            </p:cNvPr>
            <p:cNvSpPr txBox="1"/>
            <p:nvPr/>
          </p:nvSpPr>
          <p:spPr>
            <a:xfrm>
              <a:off x="9088051" y="3095149"/>
              <a:ext cx="1951424"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extLst>
      <p:ext uri="{BB962C8B-B14F-4D97-AF65-F5344CB8AC3E}">
        <p14:creationId xmlns:p14="http://schemas.microsoft.com/office/powerpoint/2010/main" val="163385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GESTION DES RISQUES</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Évaluation &amp; mitigation des risques majeurs</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20 / 21</a:t>
            </a:r>
            <a:endParaRPr dirty="0"/>
          </a:p>
        </p:txBody>
      </p:sp>
      <p:sp>
        <p:nvSpPr>
          <p:cNvPr id="5" name="Rounded Rectangle 4"/>
          <p:cNvSpPr/>
          <p:nvPr/>
        </p:nvSpPr>
        <p:spPr>
          <a:xfrm>
            <a:off x="548640" y="1371600"/>
            <a:ext cx="5303520" cy="2194560"/>
          </a:xfrm>
          <a:prstGeom prst="roundRect">
            <a:avLst/>
          </a:prstGeom>
          <a:solidFill>
            <a:srgbClr val="2D1414"/>
          </a:solid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536192"/>
            <a:ext cx="4974336" cy="1751762"/>
          </a:xfrm>
          <a:prstGeom prst="rect">
            <a:avLst/>
          </a:prstGeom>
          <a:noFill/>
        </p:spPr>
        <p:txBody>
          <a:bodyPr wrap="square" lIns="0" tIns="0" rIns="0" bIns="0">
            <a:spAutoFit/>
          </a:bodyPr>
          <a:lstStyle/>
          <a:p>
            <a:pPr>
              <a:spcAft>
                <a:spcPts val="600"/>
              </a:spcAft>
              <a:defRPr sz="1200" b="1">
                <a:solidFill>
                  <a:srgbClr val="FFFFFF"/>
                </a:solidFill>
                <a:latin typeface="Arial"/>
              </a:defRPr>
            </a:pPr>
            <a:r>
              <a:rPr dirty="0"/>
              <a:t>1. </a:t>
            </a:r>
            <a:r>
              <a:rPr dirty="0" err="1"/>
              <a:t>Résistance</a:t>
            </a:r>
            <a:r>
              <a:rPr dirty="0"/>
              <a:t> </a:t>
            </a:r>
            <a:r>
              <a:rPr dirty="0" err="1"/>
              <a:t>culturelle</a:t>
            </a:r>
            <a:r>
              <a:rPr dirty="0"/>
              <a:t> (adoption)</a:t>
            </a:r>
            <a:endParaRPr lang="fr-FR" dirty="0"/>
          </a:p>
          <a:p>
            <a:pPr>
              <a:spcAft>
                <a:spcPts val="600"/>
              </a:spcAft>
              <a:defRPr sz="1200" b="1">
                <a:solidFill>
                  <a:srgbClr val="FFFFFF"/>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Description :</a:t>
            </a:r>
            <a:r>
              <a:rPr sz="950" b="0" dirty="0">
                <a:solidFill>
                  <a:srgbClr val="B3B3B3"/>
                </a:solidFill>
              </a:rPr>
              <a:t> Les Squads </a:t>
            </a:r>
            <a:r>
              <a:rPr sz="950" b="0" dirty="0" err="1">
                <a:solidFill>
                  <a:srgbClr val="B3B3B3"/>
                </a:solidFill>
              </a:rPr>
              <a:t>agiles</a:t>
            </a:r>
            <a:r>
              <a:rPr sz="950" b="0" dirty="0">
                <a:solidFill>
                  <a:srgbClr val="B3B3B3"/>
                </a:solidFill>
              </a:rPr>
              <a:t> </a:t>
            </a:r>
            <a:r>
              <a:rPr sz="950" b="0" dirty="0" err="1">
                <a:solidFill>
                  <a:srgbClr val="B3B3B3"/>
                </a:solidFill>
              </a:rPr>
              <a:t>perçoivent</a:t>
            </a:r>
            <a:r>
              <a:rPr sz="950" b="0" dirty="0">
                <a:solidFill>
                  <a:srgbClr val="B3B3B3"/>
                </a:solidFill>
              </a:rPr>
              <a:t> la </a:t>
            </a:r>
            <a:r>
              <a:rPr sz="950" b="0" dirty="0" err="1">
                <a:solidFill>
                  <a:srgbClr val="B3B3B3"/>
                </a:solidFill>
              </a:rPr>
              <a:t>gouvernance</a:t>
            </a:r>
            <a:r>
              <a:rPr sz="950" b="0" dirty="0">
                <a:solidFill>
                  <a:srgbClr val="B3B3B3"/>
                </a:solidFill>
              </a:rPr>
              <a:t> </a:t>
            </a:r>
            <a:r>
              <a:rPr sz="950" b="0" dirty="0" err="1">
                <a:solidFill>
                  <a:srgbClr val="B3B3B3"/>
                </a:solidFill>
              </a:rPr>
              <a:t>comme</a:t>
            </a:r>
            <a:r>
              <a:rPr sz="950" b="0" dirty="0">
                <a:solidFill>
                  <a:srgbClr val="B3B3B3"/>
                </a:solidFill>
              </a:rPr>
              <a:t> </a:t>
            </a:r>
            <a:r>
              <a:rPr sz="950" b="0" dirty="0" err="1">
                <a:solidFill>
                  <a:srgbClr val="B3B3B3"/>
                </a:solidFill>
              </a:rPr>
              <a:t>une</a:t>
            </a:r>
            <a:r>
              <a:rPr sz="950" b="0" dirty="0">
                <a:solidFill>
                  <a:srgbClr val="B3B3B3"/>
                </a:solidFill>
              </a:rPr>
              <a:t> </a:t>
            </a:r>
            <a:r>
              <a:rPr sz="950" b="0" dirty="0" err="1">
                <a:solidFill>
                  <a:srgbClr val="B3B3B3"/>
                </a:solidFill>
              </a:rPr>
              <a:t>lenteur</a:t>
            </a:r>
            <a:r>
              <a:rPr sz="950" b="0" dirty="0">
                <a:solidFill>
                  <a:srgbClr val="B3B3B3"/>
                </a:solidFill>
              </a:rPr>
              <a:t> </a:t>
            </a:r>
            <a:r>
              <a:rPr sz="950" b="0" dirty="0" err="1">
                <a:solidFill>
                  <a:srgbClr val="B3B3B3"/>
                </a:solidFill>
              </a:rPr>
              <a:t>bureaucratique</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Probabilité</a:t>
            </a:r>
            <a:r>
              <a:rPr dirty="0"/>
              <a:t> :</a:t>
            </a:r>
            <a:r>
              <a:rPr sz="950" b="0" dirty="0">
                <a:solidFill>
                  <a:srgbClr val="B3B3B3"/>
                </a:solidFill>
              </a:rPr>
              <a:t> </a:t>
            </a:r>
            <a:r>
              <a:rPr sz="950" b="0" dirty="0" err="1">
                <a:solidFill>
                  <a:srgbClr val="B3B3B3"/>
                </a:solidFill>
              </a:rPr>
              <a:t>Élevée</a:t>
            </a:r>
            <a:r>
              <a:rPr sz="950" b="0" dirty="0">
                <a:solidFill>
                  <a:srgbClr val="B3B3B3"/>
                </a:solidFill>
              </a:rPr>
              <a:t> | Impact : Moyen | </a:t>
            </a:r>
            <a:r>
              <a:rPr sz="950" b="0" dirty="0" err="1">
                <a:solidFill>
                  <a:srgbClr val="B3B3B3"/>
                </a:solidFill>
              </a:rPr>
              <a:t>Criticité</a:t>
            </a:r>
            <a:r>
              <a:rPr sz="950" b="0" dirty="0">
                <a:solidFill>
                  <a:srgbClr val="B3B3B3"/>
                </a:solidFill>
              </a:rPr>
              <a:t> : </a:t>
            </a:r>
            <a:r>
              <a:rPr sz="950" b="0" dirty="0" err="1">
                <a:solidFill>
                  <a:srgbClr val="B3B3B3"/>
                </a:solidFill>
              </a:rPr>
              <a:t>Élevée</a:t>
            </a:r>
            <a:r>
              <a:rPr sz="950" b="0" dirty="0">
                <a:solidFill>
                  <a:srgbClr val="B3B3B3"/>
                </a:solidFill>
              </a:rPr>
              <a:t> (12/25)</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Mitigation :</a:t>
            </a:r>
            <a:r>
              <a:rPr sz="950" b="0" dirty="0">
                <a:solidFill>
                  <a:srgbClr val="B3B3B3"/>
                </a:solidFill>
              </a:rPr>
              <a:t> Change Management, formation, mise </a:t>
            </a:r>
            <a:r>
              <a:rPr sz="950" b="0" dirty="0" err="1">
                <a:solidFill>
                  <a:srgbClr val="B3B3B3"/>
                </a:solidFill>
              </a:rPr>
              <a:t>en</a:t>
            </a:r>
            <a:r>
              <a:rPr sz="950" b="0" dirty="0">
                <a:solidFill>
                  <a:srgbClr val="B3B3B3"/>
                </a:solidFill>
              </a:rPr>
              <a:t> place de 'Quick Wins', promotion de la </a:t>
            </a:r>
            <a:r>
              <a:rPr sz="950" b="0" dirty="0" err="1">
                <a:solidFill>
                  <a:srgbClr val="B3B3B3"/>
                </a:solidFill>
              </a:rPr>
              <a:t>gouvernance</a:t>
            </a:r>
            <a:r>
              <a:rPr sz="950" b="0" dirty="0">
                <a:solidFill>
                  <a:srgbClr val="B3B3B3"/>
                </a:solidFill>
              </a:rPr>
              <a:t> invisible </a:t>
            </a:r>
            <a:r>
              <a:rPr sz="950" b="0" dirty="0" err="1">
                <a:solidFill>
                  <a:srgbClr val="B3B3B3"/>
                </a:solidFill>
              </a:rPr>
              <a:t>comme</a:t>
            </a:r>
            <a:r>
              <a:rPr sz="950" b="0" dirty="0">
                <a:solidFill>
                  <a:srgbClr val="B3B3B3"/>
                </a:solidFill>
              </a:rPr>
              <a:t> </a:t>
            </a:r>
            <a:r>
              <a:rPr sz="950" b="0" dirty="0" err="1">
                <a:solidFill>
                  <a:srgbClr val="B3B3B3"/>
                </a:solidFill>
              </a:rPr>
              <a:t>accélérateur</a:t>
            </a:r>
            <a:r>
              <a:rPr sz="950" b="0" dirty="0">
                <a:solidFill>
                  <a:srgbClr val="B3B3B3"/>
                </a:solidFill>
              </a:rPr>
              <a:t> de dev (Golden Paths).</a:t>
            </a:r>
          </a:p>
        </p:txBody>
      </p:sp>
      <p:sp>
        <p:nvSpPr>
          <p:cNvPr id="7" name="Rounded Rectangle 6"/>
          <p:cNvSpPr/>
          <p:nvPr/>
        </p:nvSpPr>
        <p:spPr>
          <a:xfrm>
            <a:off x="6217920" y="1371600"/>
            <a:ext cx="53949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82512" y="1536192"/>
            <a:ext cx="5065776" cy="1751762"/>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2. </a:t>
            </a:r>
            <a:r>
              <a:rPr dirty="0" err="1"/>
              <a:t>Complexité</a:t>
            </a:r>
            <a:r>
              <a:rPr dirty="0"/>
              <a:t> </a:t>
            </a:r>
            <a:r>
              <a:rPr dirty="0" err="1"/>
              <a:t>d'intégration</a:t>
            </a:r>
            <a:r>
              <a:rPr dirty="0"/>
              <a:t> (technique)</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Description :</a:t>
            </a:r>
            <a:r>
              <a:rPr sz="950" b="0" dirty="0">
                <a:solidFill>
                  <a:srgbClr val="B3B3B3"/>
                </a:solidFill>
              </a:rPr>
              <a:t> </a:t>
            </a:r>
            <a:r>
              <a:rPr sz="950" b="0" dirty="0" err="1">
                <a:solidFill>
                  <a:srgbClr val="B3B3B3"/>
                </a:solidFill>
              </a:rPr>
              <a:t>Difficultés</a:t>
            </a:r>
            <a:r>
              <a:rPr sz="950" b="0" dirty="0">
                <a:solidFill>
                  <a:srgbClr val="B3B3B3"/>
                </a:solidFill>
              </a:rPr>
              <a:t> de connecter les </a:t>
            </a:r>
            <a:r>
              <a:rPr sz="950" b="0" dirty="0" err="1">
                <a:solidFill>
                  <a:srgbClr val="B3B3B3"/>
                </a:solidFill>
              </a:rPr>
              <a:t>outils</a:t>
            </a:r>
            <a:r>
              <a:rPr sz="950" b="0" dirty="0">
                <a:solidFill>
                  <a:srgbClr val="B3B3B3"/>
                </a:solidFill>
              </a:rPr>
              <a:t> (Backstage, </a:t>
            </a:r>
            <a:r>
              <a:rPr sz="950" b="0" dirty="0" err="1">
                <a:solidFill>
                  <a:srgbClr val="B3B3B3"/>
                </a:solidFill>
              </a:rPr>
              <a:t>OneTrust</a:t>
            </a:r>
            <a:r>
              <a:rPr sz="950" b="0" dirty="0">
                <a:solidFill>
                  <a:srgbClr val="B3B3B3"/>
                </a:solidFill>
              </a:rPr>
              <a:t>, Cloud KMS) à </a:t>
            </a:r>
            <a:r>
              <a:rPr sz="950" b="0" dirty="0" err="1">
                <a:solidFill>
                  <a:srgbClr val="B3B3B3"/>
                </a:solidFill>
              </a:rPr>
              <a:t>l'existant</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Probabilité</a:t>
            </a:r>
            <a:r>
              <a:rPr dirty="0"/>
              <a:t> :</a:t>
            </a:r>
            <a:r>
              <a:rPr sz="950" b="0" dirty="0">
                <a:solidFill>
                  <a:srgbClr val="B3B3B3"/>
                </a:solidFill>
              </a:rPr>
              <a:t> Moyenne | Impact : Moyen | </a:t>
            </a:r>
            <a:r>
              <a:rPr sz="950" b="0" dirty="0" err="1">
                <a:solidFill>
                  <a:srgbClr val="B3B3B3"/>
                </a:solidFill>
              </a:rPr>
              <a:t>Criticité</a:t>
            </a:r>
            <a:r>
              <a:rPr sz="950" b="0" dirty="0">
                <a:solidFill>
                  <a:srgbClr val="B3B3B3"/>
                </a:solidFill>
              </a:rPr>
              <a:t> : Moyenne (9/25)</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Mitigation :</a:t>
            </a:r>
            <a:r>
              <a:rPr sz="950" b="0" dirty="0">
                <a:solidFill>
                  <a:srgbClr val="B3B3B3"/>
                </a:solidFill>
              </a:rPr>
              <a:t> </a:t>
            </a:r>
            <a:r>
              <a:rPr sz="950" b="0" dirty="0" err="1">
                <a:solidFill>
                  <a:srgbClr val="B3B3B3"/>
                </a:solidFill>
              </a:rPr>
              <a:t>Réalisation</a:t>
            </a:r>
            <a:r>
              <a:rPr sz="950" b="0" dirty="0">
                <a:solidFill>
                  <a:srgbClr val="B3B3B3"/>
                </a:solidFill>
              </a:rPr>
              <a:t> de POC (Proof of Concept) techniques </a:t>
            </a:r>
            <a:r>
              <a:rPr sz="950" b="0" dirty="0" err="1">
                <a:solidFill>
                  <a:srgbClr val="B3B3B3"/>
                </a:solidFill>
              </a:rPr>
              <a:t>préalables</a:t>
            </a:r>
            <a:r>
              <a:rPr sz="950" b="0" dirty="0">
                <a:solidFill>
                  <a:srgbClr val="B3B3B3"/>
                </a:solidFill>
              </a:rPr>
              <a:t>, support </a:t>
            </a:r>
            <a:r>
              <a:rPr sz="950" b="0" dirty="0" err="1">
                <a:solidFill>
                  <a:srgbClr val="B3B3B3"/>
                </a:solidFill>
              </a:rPr>
              <a:t>dédié</a:t>
            </a:r>
            <a:r>
              <a:rPr sz="950" b="0" dirty="0">
                <a:solidFill>
                  <a:srgbClr val="B3B3B3"/>
                </a:solidFill>
              </a:rPr>
              <a:t> des </a:t>
            </a:r>
            <a:r>
              <a:rPr sz="950" b="0" dirty="0" err="1">
                <a:solidFill>
                  <a:srgbClr val="B3B3B3"/>
                </a:solidFill>
              </a:rPr>
              <a:t>éditeurs</a:t>
            </a:r>
            <a:r>
              <a:rPr sz="950" b="0" dirty="0">
                <a:solidFill>
                  <a:srgbClr val="B3B3B3"/>
                </a:solidFill>
              </a:rPr>
              <a:t> et équipe IT </a:t>
            </a:r>
            <a:r>
              <a:rPr sz="950" b="0" dirty="0" err="1">
                <a:solidFill>
                  <a:srgbClr val="B3B3B3"/>
                </a:solidFill>
              </a:rPr>
              <a:t>dédiée</a:t>
            </a:r>
            <a:r>
              <a:rPr sz="950" b="0" dirty="0">
                <a:solidFill>
                  <a:srgbClr val="B3B3B3"/>
                </a:solidFill>
              </a:rPr>
              <a:t> au </a:t>
            </a:r>
            <a:r>
              <a:rPr sz="950" b="0" dirty="0" err="1">
                <a:solidFill>
                  <a:srgbClr val="B3B3B3"/>
                </a:solidFill>
              </a:rPr>
              <a:t>CoE</a:t>
            </a:r>
            <a:r>
              <a:rPr sz="950" b="0" dirty="0">
                <a:solidFill>
                  <a:srgbClr val="B3B3B3"/>
                </a:solidFill>
              </a:rPr>
              <a:t>.</a:t>
            </a:r>
          </a:p>
        </p:txBody>
      </p:sp>
      <p:sp>
        <p:nvSpPr>
          <p:cNvPr id="9" name="Rounded Rectangle 8"/>
          <p:cNvSpPr/>
          <p:nvPr/>
        </p:nvSpPr>
        <p:spPr>
          <a:xfrm>
            <a:off x="548640" y="3749039"/>
            <a:ext cx="5303520" cy="2286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3913631"/>
            <a:ext cx="4974336" cy="1605568"/>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3. Manque de </a:t>
            </a:r>
            <a:r>
              <a:rPr dirty="0" err="1"/>
              <a:t>ressources</a:t>
            </a:r>
            <a:r>
              <a:rPr dirty="0"/>
              <a:t> (</a:t>
            </a:r>
            <a:r>
              <a:rPr dirty="0" err="1"/>
              <a:t>humain</a:t>
            </a:r>
            <a:r>
              <a:rPr dirty="0"/>
              <a:t>)</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Description :</a:t>
            </a:r>
            <a:r>
              <a:rPr sz="950" b="0" dirty="0">
                <a:solidFill>
                  <a:srgbClr val="B3B3B3"/>
                </a:solidFill>
              </a:rPr>
              <a:t> </a:t>
            </a:r>
            <a:r>
              <a:rPr sz="950" b="0" dirty="0" err="1">
                <a:solidFill>
                  <a:srgbClr val="B3B3B3"/>
                </a:solidFill>
              </a:rPr>
              <a:t>Pénurie</a:t>
            </a:r>
            <a:r>
              <a:rPr sz="950" b="0" dirty="0">
                <a:solidFill>
                  <a:srgbClr val="B3B3B3"/>
                </a:solidFill>
              </a:rPr>
              <a:t> </a:t>
            </a:r>
            <a:r>
              <a:rPr sz="950" b="0" dirty="0" err="1">
                <a:solidFill>
                  <a:srgbClr val="B3B3B3"/>
                </a:solidFill>
              </a:rPr>
              <a:t>d'ingénieurs</a:t>
            </a:r>
            <a:r>
              <a:rPr sz="950" b="0" dirty="0">
                <a:solidFill>
                  <a:srgbClr val="B3B3B3"/>
                </a:solidFill>
              </a:rPr>
              <a:t> </a:t>
            </a:r>
            <a:r>
              <a:rPr sz="950" b="0" dirty="0" err="1">
                <a:solidFill>
                  <a:srgbClr val="B3B3B3"/>
                </a:solidFill>
              </a:rPr>
              <a:t>qualifiés</a:t>
            </a:r>
            <a:r>
              <a:rPr sz="950" b="0" dirty="0">
                <a:solidFill>
                  <a:srgbClr val="B3B3B3"/>
                </a:solidFill>
              </a:rPr>
              <a:t> </a:t>
            </a:r>
            <a:r>
              <a:rPr sz="950" b="0" dirty="0" err="1">
                <a:solidFill>
                  <a:srgbClr val="B3B3B3"/>
                </a:solidFill>
              </a:rPr>
              <a:t>en</a:t>
            </a:r>
            <a:r>
              <a:rPr sz="950" b="0" dirty="0">
                <a:solidFill>
                  <a:srgbClr val="B3B3B3"/>
                </a:solidFill>
              </a:rPr>
              <a:t> gestion et sécurité des données.</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Probabilité</a:t>
            </a:r>
            <a:r>
              <a:rPr dirty="0"/>
              <a:t> :</a:t>
            </a:r>
            <a:r>
              <a:rPr sz="950" b="0" dirty="0">
                <a:solidFill>
                  <a:srgbClr val="B3B3B3"/>
                </a:solidFill>
              </a:rPr>
              <a:t> Moyenne | Impact : Moyen | </a:t>
            </a:r>
            <a:r>
              <a:rPr sz="950" b="0" dirty="0" err="1">
                <a:solidFill>
                  <a:srgbClr val="B3B3B3"/>
                </a:solidFill>
              </a:rPr>
              <a:t>Criticité</a:t>
            </a:r>
            <a:r>
              <a:rPr sz="950" b="0" dirty="0">
                <a:solidFill>
                  <a:srgbClr val="B3B3B3"/>
                </a:solidFill>
              </a:rPr>
              <a:t> : Moyenne (9/25)</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Mitigation :</a:t>
            </a:r>
            <a:r>
              <a:rPr sz="950" b="0" dirty="0">
                <a:solidFill>
                  <a:srgbClr val="B3B3B3"/>
                </a:solidFill>
              </a:rPr>
              <a:t> </a:t>
            </a:r>
            <a:r>
              <a:rPr sz="950" b="0" dirty="0" err="1">
                <a:solidFill>
                  <a:srgbClr val="B3B3B3"/>
                </a:solidFill>
              </a:rPr>
              <a:t>Lancement</a:t>
            </a:r>
            <a:r>
              <a:rPr sz="950" b="0" dirty="0">
                <a:solidFill>
                  <a:srgbClr val="B3B3B3"/>
                </a:solidFill>
              </a:rPr>
              <a:t> d'un </a:t>
            </a:r>
            <a:r>
              <a:rPr sz="950" b="0" dirty="0" err="1">
                <a:solidFill>
                  <a:srgbClr val="B3B3B3"/>
                </a:solidFill>
              </a:rPr>
              <a:t>programme</a:t>
            </a:r>
            <a:r>
              <a:rPr sz="950" b="0" dirty="0">
                <a:solidFill>
                  <a:srgbClr val="B3B3B3"/>
                </a:solidFill>
              </a:rPr>
              <a:t> de formation </a:t>
            </a:r>
            <a:r>
              <a:rPr sz="950" b="0" dirty="0" err="1">
                <a:solidFill>
                  <a:srgbClr val="B3B3B3"/>
                </a:solidFill>
              </a:rPr>
              <a:t>certifiante</a:t>
            </a:r>
            <a:r>
              <a:rPr sz="950" b="0" dirty="0">
                <a:solidFill>
                  <a:srgbClr val="B3B3B3"/>
                </a:solidFill>
              </a:rPr>
              <a:t> interne et </a:t>
            </a:r>
            <a:r>
              <a:rPr sz="950" b="0" dirty="0" err="1">
                <a:solidFill>
                  <a:srgbClr val="B3B3B3"/>
                </a:solidFill>
              </a:rPr>
              <a:t>appui</a:t>
            </a:r>
            <a:r>
              <a:rPr sz="950" b="0" dirty="0">
                <a:solidFill>
                  <a:srgbClr val="B3B3B3"/>
                </a:solidFill>
              </a:rPr>
              <a:t> </a:t>
            </a:r>
            <a:r>
              <a:rPr sz="950" b="0" dirty="0" err="1">
                <a:solidFill>
                  <a:srgbClr val="B3B3B3"/>
                </a:solidFill>
              </a:rPr>
              <a:t>temporaire</a:t>
            </a:r>
            <a:r>
              <a:rPr sz="950" b="0" dirty="0">
                <a:solidFill>
                  <a:srgbClr val="B3B3B3"/>
                </a:solidFill>
              </a:rPr>
              <a:t> de consultants externes pour la structuration </a:t>
            </a:r>
            <a:r>
              <a:rPr sz="950" b="0" dirty="0" err="1">
                <a:solidFill>
                  <a:srgbClr val="B3B3B3"/>
                </a:solidFill>
              </a:rPr>
              <a:t>initiale</a:t>
            </a:r>
            <a:r>
              <a:rPr sz="950" b="0" dirty="0">
                <a:solidFill>
                  <a:srgbClr val="B3B3B3"/>
                </a:solidFill>
              </a:rPr>
              <a:t>.</a:t>
            </a:r>
          </a:p>
        </p:txBody>
      </p:sp>
      <p:sp>
        <p:nvSpPr>
          <p:cNvPr id="11" name="Rounded Rectangle 10"/>
          <p:cNvSpPr/>
          <p:nvPr/>
        </p:nvSpPr>
        <p:spPr>
          <a:xfrm>
            <a:off x="6217920" y="3749039"/>
            <a:ext cx="5394960" cy="2286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3913631"/>
            <a:ext cx="5065776" cy="1751762"/>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4. </a:t>
            </a:r>
            <a:r>
              <a:rPr dirty="0" err="1"/>
              <a:t>Évolutions</a:t>
            </a:r>
            <a:r>
              <a:rPr dirty="0"/>
              <a:t> </a:t>
            </a:r>
            <a:r>
              <a:rPr dirty="0" err="1"/>
              <a:t>réglementaires</a:t>
            </a:r>
            <a:r>
              <a:rPr dirty="0"/>
              <a:t> (</a:t>
            </a:r>
            <a:r>
              <a:rPr dirty="0" err="1"/>
              <a:t>légal</a:t>
            </a:r>
            <a:r>
              <a:rPr dirty="0"/>
              <a:t>)</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Description :</a:t>
            </a:r>
            <a:r>
              <a:rPr sz="950" b="0" dirty="0">
                <a:solidFill>
                  <a:srgbClr val="B3B3B3"/>
                </a:solidFill>
              </a:rPr>
              <a:t> Nouvelles </a:t>
            </a:r>
            <a:r>
              <a:rPr sz="950" b="0" dirty="0" err="1">
                <a:solidFill>
                  <a:srgbClr val="B3B3B3"/>
                </a:solidFill>
              </a:rPr>
              <a:t>lois</a:t>
            </a:r>
            <a:r>
              <a:rPr sz="950" b="0" dirty="0">
                <a:solidFill>
                  <a:srgbClr val="B3B3B3"/>
                </a:solidFill>
              </a:rPr>
              <a:t> de protection des données </a:t>
            </a:r>
            <a:r>
              <a:rPr sz="950" b="0" dirty="0" err="1">
                <a:solidFill>
                  <a:srgbClr val="B3B3B3"/>
                </a:solidFill>
              </a:rPr>
              <a:t>nécessitant</a:t>
            </a:r>
            <a:r>
              <a:rPr sz="950" b="0" dirty="0">
                <a:solidFill>
                  <a:srgbClr val="B3B3B3"/>
                </a:solidFill>
              </a:rPr>
              <a:t> de </a:t>
            </a:r>
            <a:r>
              <a:rPr sz="950" b="0" dirty="0" err="1">
                <a:solidFill>
                  <a:srgbClr val="B3B3B3"/>
                </a:solidFill>
              </a:rPr>
              <a:t>réécrire</a:t>
            </a:r>
            <a:r>
              <a:rPr sz="950" b="0" dirty="0">
                <a:solidFill>
                  <a:srgbClr val="B3B3B3"/>
                </a:solidFill>
              </a:rPr>
              <a:t> les processus.</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Probabilité</a:t>
            </a:r>
            <a:r>
              <a:rPr dirty="0"/>
              <a:t> :</a:t>
            </a:r>
            <a:r>
              <a:rPr sz="950" b="0" dirty="0">
                <a:solidFill>
                  <a:srgbClr val="B3B3B3"/>
                </a:solidFill>
              </a:rPr>
              <a:t> </a:t>
            </a:r>
            <a:r>
              <a:rPr sz="950" b="0" dirty="0" err="1">
                <a:solidFill>
                  <a:srgbClr val="B3B3B3"/>
                </a:solidFill>
              </a:rPr>
              <a:t>Faible</a:t>
            </a:r>
            <a:r>
              <a:rPr sz="950" b="0" dirty="0">
                <a:solidFill>
                  <a:srgbClr val="B3B3B3"/>
                </a:solidFill>
              </a:rPr>
              <a:t> | Impact : </a:t>
            </a:r>
            <a:r>
              <a:rPr sz="950" b="0" dirty="0" err="1">
                <a:solidFill>
                  <a:srgbClr val="B3B3B3"/>
                </a:solidFill>
              </a:rPr>
              <a:t>Élevé</a:t>
            </a:r>
            <a:r>
              <a:rPr sz="950" b="0" dirty="0">
                <a:solidFill>
                  <a:srgbClr val="B3B3B3"/>
                </a:solidFill>
              </a:rPr>
              <a:t> | </a:t>
            </a:r>
            <a:r>
              <a:rPr sz="950" b="0" dirty="0" err="1">
                <a:solidFill>
                  <a:srgbClr val="B3B3B3"/>
                </a:solidFill>
              </a:rPr>
              <a:t>Criticité</a:t>
            </a:r>
            <a:r>
              <a:rPr sz="950" b="0" dirty="0">
                <a:solidFill>
                  <a:srgbClr val="B3B3B3"/>
                </a:solidFill>
              </a:rPr>
              <a:t> : Moyenne (10/25)</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Mitigation :</a:t>
            </a:r>
            <a:r>
              <a:rPr sz="950" b="0" dirty="0">
                <a:solidFill>
                  <a:srgbClr val="B3B3B3"/>
                </a:solidFill>
              </a:rPr>
              <a:t> Veille continue </a:t>
            </a:r>
            <a:r>
              <a:rPr sz="950" b="0" dirty="0" err="1">
                <a:solidFill>
                  <a:srgbClr val="B3B3B3"/>
                </a:solidFill>
              </a:rPr>
              <a:t>assurée</a:t>
            </a:r>
            <a:r>
              <a:rPr sz="950" b="0" dirty="0">
                <a:solidFill>
                  <a:srgbClr val="B3B3B3"/>
                </a:solidFill>
              </a:rPr>
              <a:t> </a:t>
            </a:r>
            <a:r>
              <a:rPr sz="950" b="0" dirty="0" err="1">
                <a:solidFill>
                  <a:srgbClr val="B3B3B3"/>
                </a:solidFill>
              </a:rPr>
              <a:t>bimensuellement</a:t>
            </a:r>
            <a:r>
              <a:rPr sz="950" b="0" dirty="0">
                <a:solidFill>
                  <a:srgbClr val="B3B3B3"/>
                </a:solidFill>
              </a:rPr>
              <a:t> par le DPO, et </a:t>
            </a:r>
            <a:r>
              <a:rPr sz="950" b="0" dirty="0" err="1">
                <a:solidFill>
                  <a:srgbClr val="B3B3B3"/>
                </a:solidFill>
              </a:rPr>
              <a:t>utilisation</a:t>
            </a:r>
            <a:r>
              <a:rPr sz="950" b="0" dirty="0">
                <a:solidFill>
                  <a:srgbClr val="B3B3B3"/>
                </a:solidFill>
              </a:rPr>
              <a:t> </a:t>
            </a:r>
            <a:r>
              <a:rPr sz="950" b="0" dirty="0" err="1">
                <a:solidFill>
                  <a:srgbClr val="B3B3B3"/>
                </a:solidFill>
              </a:rPr>
              <a:t>d'une</a:t>
            </a:r>
            <a:r>
              <a:rPr sz="950" b="0" dirty="0">
                <a:solidFill>
                  <a:srgbClr val="B3B3B3"/>
                </a:solidFill>
              </a:rPr>
              <a:t> architecture Cloud (GCP) flexible et </a:t>
            </a:r>
            <a:r>
              <a:rPr sz="950" b="0" dirty="0" err="1">
                <a:solidFill>
                  <a:srgbClr val="B3B3B3"/>
                </a:solidFill>
              </a:rPr>
              <a:t>modulaire</a:t>
            </a:r>
            <a:r>
              <a:rPr sz="950" b="0" dirty="0">
                <a:solidFill>
                  <a:srgbClr val="B3B3B3"/>
                </a:solidFill>
              </a:rPr>
              <a:t>.</a:t>
            </a:r>
          </a:p>
        </p:txBody>
      </p:sp>
      <p:grpSp>
        <p:nvGrpSpPr>
          <p:cNvPr id="13" name="Groupe 12">
            <a:extLst>
              <a:ext uri="{FF2B5EF4-FFF2-40B4-BE49-F238E27FC236}">
                <a16:creationId xmlns:a16="http://schemas.microsoft.com/office/drawing/2014/main" id="{7E2FE750-2726-E4BF-6454-3019DC1727D2}"/>
              </a:ext>
            </a:extLst>
          </p:cNvPr>
          <p:cNvGrpSpPr/>
          <p:nvPr/>
        </p:nvGrpSpPr>
        <p:grpSpPr>
          <a:xfrm>
            <a:off x="548640" y="134928"/>
            <a:ext cx="10866616" cy="230832"/>
            <a:chOff x="172859" y="3095149"/>
            <a:chExt cx="10866616" cy="230832"/>
          </a:xfrm>
        </p:grpSpPr>
        <p:sp>
          <p:nvSpPr>
            <p:cNvPr id="14" name="ZoneTexte 13">
              <a:extLst>
                <a:ext uri="{FF2B5EF4-FFF2-40B4-BE49-F238E27FC236}">
                  <a16:creationId xmlns:a16="http://schemas.microsoft.com/office/drawing/2014/main" id="{D5A8FCE9-095E-460D-7FF5-F4DF6E1FCBDC}"/>
                </a:ext>
              </a:extLst>
            </p:cNvPr>
            <p:cNvSpPr txBox="1"/>
            <p:nvPr/>
          </p:nvSpPr>
          <p:spPr>
            <a:xfrm>
              <a:off x="172859" y="309514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15" name="ZoneTexte 14">
              <a:extLst>
                <a:ext uri="{FF2B5EF4-FFF2-40B4-BE49-F238E27FC236}">
                  <a16:creationId xmlns:a16="http://schemas.microsoft.com/office/drawing/2014/main" id="{44AB923F-0138-3EA9-0F37-9D823FD9920F}"/>
                </a:ext>
              </a:extLst>
            </p:cNvPr>
            <p:cNvSpPr txBox="1"/>
            <p:nvPr/>
          </p:nvSpPr>
          <p:spPr>
            <a:xfrm>
              <a:off x="1671599" y="309514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16" name="ZoneTexte 15">
              <a:extLst>
                <a:ext uri="{FF2B5EF4-FFF2-40B4-BE49-F238E27FC236}">
                  <a16:creationId xmlns:a16="http://schemas.microsoft.com/office/drawing/2014/main" id="{A1A2BBB9-3DD1-D028-6536-1CCA7682DFE4}"/>
                </a:ext>
              </a:extLst>
            </p:cNvPr>
            <p:cNvSpPr txBox="1"/>
            <p:nvPr/>
          </p:nvSpPr>
          <p:spPr>
            <a:xfrm>
              <a:off x="4296533" y="309514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17" name="ZoneTexte 16">
              <a:extLst>
                <a:ext uri="{FF2B5EF4-FFF2-40B4-BE49-F238E27FC236}">
                  <a16:creationId xmlns:a16="http://schemas.microsoft.com/office/drawing/2014/main" id="{80933212-6A2F-058C-B96E-48E0A79A173D}"/>
                </a:ext>
              </a:extLst>
            </p:cNvPr>
            <p:cNvSpPr txBox="1"/>
            <p:nvPr/>
          </p:nvSpPr>
          <p:spPr>
            <a:xfrm>
              <a:off x="6921467" y="309514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8" name="ZoneTexte 17">
              <a:extLst>
                <a:ext uri="{FF2B5EF4-FFF2-40B4-BE49-F238E27FC236}">
                  <a16:creationId xmlns:a16="http://schemas.microsoft.com/office/drawing/2014/main" id="{E3369850-3D1E-E996-CDCA-3A31B4A52D0B}"/>
                </a:ext>
              </a:extLst>
            </p:cNvPr>
            <p:cNvSpPr txBox="1"/>
            <p:nvPr/>
          </p:nvSpPr>
          <p:spPr>
            <a:xfrm>
              <a:off x="9088051" y="3095149"/>
              <a:ext cx="1951424"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259D1CCB-D1CC-D4C6-B812-DA2B03C836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C60E36-11A7-10C5-4824-2363CFF6E4F8}"/>
              </a:ext>
            </a:extLst>
          </p:cNvPr>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CONCLUSION &amp; OUVERTURE</a:t>
            </a:r>
          </a:p>
        </p:txBody>
      </p:sp>
      <p:sp>
        <p:nvSpPr>
          <p:cNvPr id="3" name="TextBox 2">
            <a:extLst>
              <a:ext uri="{FF2B5EF4-FFF2-40B4-BE49-F238E27FC236}">
                <a16:creationId xmlns:a16="http://schemas.microsoft.com/office/drawing/2014/main" id="{74C6A4C8-0819-E1C0-5AC5-179ABF5607B2}"/>
              </a:ext>
            </a:extLst>
          </p:cNvPr>
          <p:cNvSpPr txBox="1"/>
          <p:nvPr/>
        </p:nvSpPr>
        <p:spPr>
          <a:xfrm>
            <a:off x="548640" y="502920"/>
            <a:ext cx="10058400" cy="800219"/>
          </a:xfrm>
          <a:prstGeom prst="rect">
            <a:avLst/>
          </a:prstGeom>
          <a:noFill/>
        </p:spPr>
        <p:txBody>
          <a:bodyPr wrap="square" lIns="0" tIns="0" rIns="0" bIns="0">
            <a:spAutoFit/>
          </a:bodyPr>
          <a:lstStyle/>
          <a:p>
            <a:pPr>
              <a:defRPr sz="2600" b="1">
                <a:solidFill>
                  <a:srgbClr val="FFFFFF"/>
                </a:solidFill>
                <a:latin typeface="Arial"/>
              </a:defRPr>
            </a:pPr>
            <a:r>
              <a:rPr lang="fr-FR" dirty="0"/>
              <a:t>Valorisation économique et facteurs clés de succès</a:t>
            </a:r>
          </a:p>
          <a:p>
            <a:pPr>
              <a:defRPr sz="2600" b="1">
                <a:solidFill>
                  <a:srgbClr val="FFFFFF"/>
                </a:solidFill>
                <a:latin typeface="Arial"/>
              </a:defRPr>
            </a:pPr>
            <a:endParaRPr dirty="0"/>
          </a:p>
        </p:txBody>
      </p:sp>
      <p:sp>
        <p:nvSpPr>
          <p:cNvPr id="4" name="TextBox 3">
            <a:extLst>
              <a:ext uri="{FF2B5EF4-FFF2-40B4-BE49-F238E27FC236}">
                <a16:creationId xmlns:a16="http://schemas.microsoft.com/office/drawing/2014/main" id="{05631C18-BD92-AD6F-6EC0-D8D43F413C52}"/>
              </a:ext>
            </a:extLst>
          </p:cNvPr>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Gouvernance des données &amp; alignement réglementaire                                                                                                        Slide 21 / 21</a:t>
            </a:r>
            <a:endParaRPr dirty="0"/>
          </a:p>
        </p:txBody>
      </p:sp>
      <p:pic>
        <p:nvPicPr>
          <p:cNvPr id="10" name="Image 9">
            <a:extLst>
              <a:ext uri="{FF2B5EF4-FFF2-40B4-BE49-F238E27FC236}">
                <a16:creationId xmlns:a16="http://schemas.microsoft.com/office/drawing/2014/main" id="{C6659E57-DC92-58DF-BCB9-DBC2499D2CC8}"/>
              </a:ext>
            </a:extLst>
          </p:cNvPr>
          <p:cNvPicPr>
            <a:picLocks noChangeAspect="1"/>
          </p:cNvPicPr>
          <p:nvPr/>
        </p:nvPicPr>
        <p:blipFill>
          <a:blip r:embed="rId3"/>
          <a:stretch>
            <a:fillRect/>
          </a:stretch>
        </p:blipFill>
        <p:spPr>
          <a:xfrm>
            <a:off x="400372" y="1399509"/>
            <a:ext cx="10354936" cy="4201072"/>
          </a:xfrm>
          <a:prstGeom prst="rect">
            <a:avLst/>
          </a:prstGeom>
        </p:spPr>
      </p:pic>
      <p:grpSp>
        <p:nvGrpSpPr>
          <p:cNvPr id="5" name="Groupe 4">
            <a:extLst>
              <a:ext uri="{FF2B5EF4-FFF2-40B4-BE49-F238E27FC236}">
                <a16:creationId xmlns:a16="http://schemas.microsoft.com/office/drawing/2014/main" id="{91070C31-E022-6C49-0EED-58C319608111}"/>
              </a:ext>
            </a:extLst>
          </p:cNvPr>
          <p:cNvGrpSpPr/>
          <p:nvPr/>
        </p:nvGrpSpPr>
        <p:grpSpPr>
          <a:xfrm>
            <a:off x="491205" y="175718"/>
            <a:ext cx="10866616" cy="230832"/>
            <a:chOff x="172859" y="3095149"/>
            <a:chExt cx="10866616" cy="230832"/>
          </a:xfrm>
        </p:grpSpPr>
        <p:sp>
          <p:nvSpPr>
            <p:cNvPr id="6" name="ZoneTexte 5">
              <a:extLst>
                <a:ext uri="{FF2B5EF4-FFF2-40B4-BE49-F238E27FC236}">
                  <a16:creationId xmlns:a16="http://schemas.microsoft.com/office/drawing/2014/main" id="{8F4E1285-7138-E75D-F9F9-F1FD5F2B14E7}"/>
                </a:ext>
              </a:extLst>
            </p:cNvPr>
            <p:cNvSpPr txBox="1"/>
            <p:nvPr/>
          </p:nvSpPr>
          <p:spPr>
            <a:xfrm>
              <a:off x="172859" y="3095149"/>
              <a:ext cx="1568259"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1. Diagnostic de maturité</a:t>
              </a:r>
            </a:p>
          </p:txBody>
        </p:sp>
        <p:sp>
          <p:nvSpPr>
            <p:cNvPr id="7" name="ZoneTexte 6">
              <a:extLst>
                <a:ext uri="{FF2B5EF4-FFF2-40B4-BE49-F238E27FC236}">
                  <a16:creationId xmlns:a16="http://schemas.microsoft.com/office/drawing/2014/main" id="{9C518FA0-3A01-757F-D48B-678F7E19E1B3}"/>
                </a:ext>
              </a:extLst>
            </p:cNvPr>
            <p:cNvSpPr txBox="1"/>
            <p:nvPr/>
          </p:nvSpPr>
          <p:spPr>
            <a:xfrm>
              <a:off x="1671599" y="309514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2. Modèle opératoire cible &amp; organisation </a:t>
              </a:r>
            </a:p>
          </p:txBody>
        </p:sp>
        <p:sp>
          <p:nvSpPr>
            <p:cNvPr id="8" name="ZoneTexte 7">
              <a:extLst>
                <a:ext uri="{FF2B5EF4-FFF2-40B4-BE49-F238E27FC236}">
                  <a16:creationId xmlns:a16="http://schemas.microsoft.com/office/drawing/2014/main" id="{16EC5881-263E-320B-C35F-571849FB4DE3}"/>
                </a:ext>
              </a:extLst>
            </p:cNvPr>
            <p:cNvSpPr txBox="1"/>
            <p:nvPr/>
          </p:nvSpPr>
          <p:spPr>
            <a:xfrm>
              <a:off x="4296533" y="309514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3. Architecture de données  &amp; conformité </a:t>
              </a:r>
            </a:p>
          </p:txBody>
        </p:sp>
        <p:sp>
          <p:nvSpPr>
            <p:cNvPr id="9" name="ZoneTexte 8">
              <a:extLst>
                <a:ext uri="{FF2B5EF4-FFF2-40B4-BE49-F238E27FC236}">
                  <a16:creationId xmlns:a16="http://schemas.microsoft.com/office/drawing/2014/main" id="{556B7EF5-65F8-1E9B-FDBE-06AC54058AA0}"/>
                </a:ext>
              </a:extLst>
            </p:cNvPr>
            <p:cNvSpPr txBox="1"/>
            <p:nvPr/>
          </p:nvSpPr>
          <p:spPr>
            <a:xfrm>
              <a:off x="6921467" y="3095149"/>
              <a:ext cx="2931090" cy="230832"/>
            </a:xfrm>
            <a:prstGeom prst="rect">
              <a:avLst/>
            </a:prstGeom>
            <a:solidFill>
              <a:schemeClr val="bg1">
                <a:lumMod val="65000"/>
              </a:schemeClr>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4. POC  et protocoles d’urgence </a:t>
              </a:r>
            </a:p>
          </p:txBody>
        </p:sp>
        <p:sp>
          <p:nvSpPr>
            <p:cNvPr id="11" name="ZoneTexte 10">
              <a:extLst>
                <a:ext uri="{FF2B5EF4-FFF2-40B4-BE49-F238E27FC236}">
                  <a16:creationId xmlns:a16="http://schemas.microsoft.com/office/drawing/2014/main" id="{A7B9976E-73C4-849A-1121-D1643025EE8E}"/>
                </a:ext>
              </a:extLst>
            </p:cNvPr>
            <p:cNvSpPr txBox="1"/>
            <p:nvPr/>
          </p:nvSpPr>
          <p:spPr>
            <a:xfrm>
              <a:off x="9088051" y="3095149"/>
              <a:ext cx="1951424" cy="230832"/>
            </a:xfrm>
            <a:prstGeom prst="rect">
              <a:avLst/>
            </a:prstGeom>
            <a:solidFill>
              <a:srgbClr val="1DB954"/>
            </a:solidFill>
          </p:spPr>
          <p:txBody>
            <a:bodyPr wrap="square" rtlCol="0">
              <a:spAutoFit/>
            </a:bodyPr>
            <a:lstStyle/>
            <a:p>
              <a:r>
                <a:rPr lang="fr-FR" sz="900" b="1" dirty="0">
                  <a:solidFill>
                    <a:schemeClr val="bg1"/>
                  </a:solidFill>
                  <a:latin typeface="Arial" panose="020B0604020202020204" pitchFamily="34" charset="0"/>
                  <a:cs typeface="Arial" panose="020B0604020202020204" pitchFamily="34" charset="0"/>
                </a:rPr>
                <a:t>&gt;&gt;   5. Roadmap &amp; Valorisation</a:t>
              </a:r>
            </a:p>
          </p:txBody>
        </p:sp>
      </p:grpSp>
    </p:spTree>
    <p:extLst>
      <p:ext uri="{BB962C8B-B14F-4D97-AF65-F5344CB8AC3E}">
        <p14:creationId xmlns:p14="http://schemas.microsoft.com/office/powerpoint/2010/main" val="4015763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07F4793D-B83B-1929-A709-D4C0DCECE7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E558AA-B2F5-F657-FE37-B5E0C693B11D}"/>
              </a:ext>
            </a:extLst>
          </p:cNvPr>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CONCLUSION &amp; OUVERTURE</a:t>
            </a:r>
          </a:p>
        </p:txBody>
      </p:sp>
      <p:sp>
        <p:nvSpPr>
          <p:cNvPr id="3" name="TextBox 2">
            <a:extLst>
              <a:ext uri="{FF2B5EF4-FFF2-40B4-BE49-F238E27FC236}">
                <a16:creationId xmlns:a16="http://schemas.microsoft.com/office/drawing/2014/main" id="{1E667BAA-A684-5148-90C0-3A6ED0C77678}"/>
              </a:ext>
            </a:extLst>
          </p:cNvPr>
          <p:cNvSpPr txBox="1"/>
          <p:nvPr/>
        </p:nvSpPr>
        <p:spPr>
          <a:xfrm>
            <a:off x="548640" y="2690707"/>
            <a:ext cx="10058400" cy="400110"/>
          </a:xfrm>
          <a:prstGeom prst="rect">
            <a:avLst/>
          </a:prstGeom>
          <a:noFill/>
        </p:spPr>
        <p:txBody>
          <a:bodyPr wrap="square" lIns="0" tIns="0" rIns="0" bIns="0">
            <a:spAutoFit/>
          </a:bodyPr>
          <a:lstStyle/>
          <a:p>
            <a:pPr>
              <a:defRPr sz="2600" b="1">
                <a:solidFill>
                  <a:srgbClr val="FFFFFF"/>
                </a:solidFill>
                <a:latin typeface="Arial"/>
              </a:defRPr>
            </a:pPr>
            <a:r>
              <a:rPr lang="fr-FR" dirty="0"/>
              <a:t>Annexes</a:t>
            </a:r>
            <a:endParaRPr dirty="0"/>
          </a:p>
        </p:txBody>
      </p:sp>
    </p:spTree>
    <p:extLst>
      <p:ext uri="{BB962C8B-B14F-4D97-AF65-F5344CB8AC3E}">
        <p14:creationId xmlns:p14="http://schemas.microsoft.com/office/powerpoint/2010/main" val="539924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ANNEXE : ORGANISATION DES POUVOIRS</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rPr dirty="0"/>
              <a:t>Organigramme des </a:t>
            </a:r>
            <a:r>
              <a:rPr dirty="0" err="1"/>
              <a:t>rôles</a:t>
            </a:r>
            <a:r>
              <a:rPr dirty="0"/>
              <a:t> et </a:t>
            </a:r>
            <a:r>
              <a:rPr dirty="0" err="1"/>
              <a:t>responsabilités</a:t>
            </a:r>
            <a:endParaRPr dirty="0"/>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Annexes - Données de cadrage &amp; détails techniques                                                                                                        Annexe 1 / 7</a:t>
            </a:r>
            <a:endParaRPr dirty="0"/>
          </a:p>
        </p:txBody>
      </p:sp>
      <p:sp>
        <p:nvSpPr>
          <p:cNvPr id="5" name="Rounded Rectangle 4"/>
          <p:cNvSpPr/>
          <p:nvPr/>
        </p:nvSpPr>
        <p:spPr>
          <a:xfrm>
            <a:off x="548640" y="1371600"/>
            <a:ext cx="5303520" cy="2194560"/>
          </a:xfrm>
          <a:prstGeom prst="roundRect">
            <a:avLst/>
          </a:prstGeom>
          <a:solidFill>
            <a:srgbClr val="142D19"/>
          </a:solidFill>
          <a:ln w="19050">
            <a:solidFill>
              <a:srgbClr val="289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536192"/>
            <a:ext cx="4974336" cy="1490152"/>
          </a:xfrm>
          <a:prstGeom prst="rect">
            <a:avLst/>
          </a:prstGeom>
          <a:noFill/>
        </p:spPr>
        <p:txBody>
          <a:bodyPr wrap="square" lIns="0" tIns="0" rIns="0" bIns="0">
            <a:spAutoFit/>
          </a:bodyPr>
          <a:lstStyle/>
          <a:p>
            <a:pPr>
              <a:spcAft>
                <a:spcPts val="600"/>
              </a:spcAft>
              <a:defRPr sz="1200" b="1">
                <a:solidFill>
                  <a:srgbClr val="FFFFFF"/>
                </a:solidFill>
                <a:latin typeface="Arial"/>
              </a:defRPr>
            </a:pPr>
            <a:r>
              <a:rPr dirty="0" err="1"/>
              <a:t>Niveau</a:t>
            </a:r>
            <a:r>
              <a:rPr dirty="0"/>
              <a:t> direction (</a:t>
            </a:r>
            <a:r>
              <a:rPr dirty="0" err="1"/>
              <a:t>comité</a:t>
            </a:r>
            <a:r>
              <a:rPr dirty="0"/>
              <a:t> de </a:t>
            </a:r>
            <a:r>
              <a:rPr dirty="0" err="1"/>
              <a:t>gouvernance</a:t>
            </a:r>
            <a:r>
              <a:rPr dirty="0"/>
              <a:t>)</a:t>
            </a:r>
          </a:p>
          <a:p>
            <a:pPr marL="171450" indent="-171450">
              <a:spcAft>
                <a:spcPts val="400"/>
              </a:spcAft>
              <a:buFont typeface="Arial" panose="020B0604020202020204" pitchFamily="34" charset="0"/>
              <a:buChar char="•"/>
              <a:defRPr sz="950" b="1">
                <a:solidFill>
                  <a:srgbClr val="FFFFFF"/>
                </a:solidFill>
                <a:latin typeface="Arial"/>
              </a:defRPr>
            </a:pPr>
            <a:r>
              <a:rPr dirty="0"/>
              <a:t>Chief Data Officer (CDO) :</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err="1">
                <a:solidFill>
                  <a:srgbClr val="B3B3B3"/>
                </a:solidFill>
              </a:rPr>
              <a:t>Pilote</a:t>
            </a:r>
            <a:r>
              <a:rPr sz="950" b="0" dirty="0">
                <a:solidFill>
                  <a:srgbClr val="B3B3B3"/>
                </a:solidFill>
              </a:rPr>
              <a:t> </a:t>
            </a:r>
            <a:r>
              <a:rPr sz="950" b="0" dirty="0" err="1">
                <a:solidFill>
                  <a:srgbClr val="B3B3B3"/>
                </a:solidFill>
              </a:rPr>
              <a:t>stratégique</a:t>
            </a:r>
            <a:r>
              <a:rPr sz="950" b="0" dirty="0">
                <a:solidFill>
                  <a:srgbClr val="B3B3B3"/>
                </a:solidFill>
              </a:rPr>
              <a:t> </a:t>
            </a:r>
            <a:r>
              <a:rPr sz="950" b="0" dirty="0" err="1">
                <a:solidFill>
                  <a:srgbClr val="B3B3B3"/>
                </a:solidFill>
              </a:rPr>
              <a:t>globale</a:t>
            </a:r>
            <a:r>
              <a:rPr sz="950" b="0" dirty="0">
                <a:solidFill>
                  <a:srgbClr val="B3B3B3"/>
                </a:solidFill>
              </a:rPr>
              <a:t>, </a:t>
            </a:r>
            <a:r>
              <a:rPr sz="950" b="0" dirty="0" err="1">
                <a:solidFill>
                  <a:srgbClr val="B3B3B3"/>
                </a:solidFill>
              </a:rPr>
              <a:t>valorisation</a:t>
            </a:r>
            <a:r>
              <a:rPr sz="950" b="0" dirty="0">
                <a:solidFill>
                  <a:srgbClr val="B3B3B3"/>
                </a:solidFill>
              </a:rPr>
              <a:t> économique des </a:t>
            </a:r>
            <a:r>
              <a:rPr sz="950" b="0" dirty="0" err="1">
                <a:solidFill>
                  <a:srgbClr val="B3B3B3"/>
                </a:solidFill>
              </a:rPr>
              <a:t>actifs</a:t>
            </a:r>
            <a:r>
              <a:rPr sz="950" b="0" dirty="0">
                <a:solidFill>
                  <a:srgbClr val="B3B3B3"/>
                </a:solidFill>
              </a:rPr>
              <a:t> (</a:t>
            </a:r>
            <a:r>
              <a:rPr sz="950" b="0" dirty="0" err="1">
                <a:solidFill>
                  <a:srgbClr val="B3B3B3"/>
                </a:solidFill>
              </a:rPr>
              <a:t>Infonomics</a:t>
            </a:r>
            <a:r>
              <a:rPr sz="950" b="0" dirty="0">
                <a:solidFill>
                  <a:srgbClr val="B3B3B3"/>
                </a:solidFill>
              </a:rPr>
              <a:t>), arbitrage.</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Data Protection Officer (DPO) :</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err="1">
                <a:solidFill>
                  <a:srgbClr val="B3B3B3"/>
                </a:solidFill>
              </a:rPr>
              <a:t>Indépendant</a:t>
            </a:r>
            <a:r>
              <a:rPr sz="950" b="0" dirty="0">
                <a:solidFill>
                  <a:srgbClr val="B3B3B3"/>
                </a:solidFill>
              </a:rPr>
              <a:t>, </a:t>
            </a:r>
            <a:r>
              <a:rPr sz="950" b="0" dirty="0" err="1">
                <a:solidFill>
                  <a:srgbClr val="B3B3B3"/>
                </a:solidFill>
              </a:rPr>
              <a:t>garant</a:t>
            </a:r>
            <a:r>
              <a:rPr sz="950" b="0" dirty="0">
                <a:solidFill>
                  <a:srgbClr val="B3B3B3"/>
                </a:solidFill>
              </a:rPr>
              <a:t> de la </a:t>
            </a:r>
            <a:r>
              <a:rPr sz="950" b="0" dirty="0" err="1">
                <a:solidFill>
                  <a:srgbClr val="B3B3B3"/>
                </a:solidFill>
              </a:rPr>
              <a:t>conformité</a:t>
            </a:r>
            <a:r>
              <a:rPr sz="950" b="0" dirty="0">
                <a:solidFill>
                  <a:srgbClr val="B3B3B3"/>
                </a:solidFill>
              </a:rPr>
              <a:t> CNIL/RGPD, AIPD, gestion du </a:t>
            </a:r>
            <a:r>
              <a:rPr sz="950" b="0" dirty="0" err="1">
                <a:solidFill>
                  <a:srgbClr val="B3B3B3"/>
                </a:solidFill>
              </a:rPr>
              <a:t>protocole</a:t>
            </a:r>
            <a:r>
              <a:rPr sz="950" b="0" dirty="0">
                <a:solidFill>
                  <a:srgbClr val="B3B3B3"/>
                </a:solidFill>
              </a:rPr>
              <a:t> de crise Alpha.</a:t>
            </a:r>
          </a:p>
        </p:txBody>
      </p:sp>
      <p:sp>
        <p:nvSpPr>
          <p:cNvPr id="7" name="Rounded Rectangle 6"/>
          <p:cNvSpPr/>
          <p:nvPr/>
        </p:nvSpPr>
        <p:spPr>
          <a:xfrm>
            <a:off x="6217920" y="1371600"/>
            <a:ext cx="5394960" cy="2194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82512" y="1536192"/>
            <a:ext cx="5065776" cy="1790234"/>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err="1"/>
              <a:t>Niveau</a:t>
            </a:r>
            <a:r>
              <a:rPr dirty="0"/>
              <a:t> management (bureau de coordination)</a:t>
            </a:r>
          </a:p>
          <a:p>
            <a:pPr marL="171450" indent="-171450">
              <a:spcAft>
                <a:spcPts val="400"/>
              </a:spcAft>
              <a:buFont typeface="Arial" panose="020B0604020202020204" pitchFamily="34" charset="0"/>
              <a:buChar char="•"/>
              <a:defRPr sz="950" b="1">
                <a:solidFill>
                  <a:srgbClr val="FFFFFF"/>
                </a:solidFill>
                <a:latin typeface="Arial"/>
              </a:defRPr>
            </a:pPr>
            <a:r>
              <a:rPr dirty="0"/>
              <a:t>Data Governance Manager :</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a:solidFill>
                  <a:srgbClr val="B3B3B3"/>
                </a:solidFill>
              </a:rPr>
              <a:t>Chef </a:t>
            </a:r>
            <a:r>
              <a:rPr sz="950" b="0" dirty="0" err="1">
                <a:solidFill>
                  <a:srgbClr val="B3B3B3"/>
                </a:solidFill>
              </a:rPr>
              <a:t>d'orchestre</a:t>
            </a:r>
            <a:r>
              <a:rPr sz="950" b="0" dirty="0">
                <a:solidFill>
                  <a:srgbClr val="B3B3B3"/>
                </a:solidFill>
              </a:rPr>
              <a:t> </a:t>
            </a:r>
            <a:r>
              <a:rPr sz="950" b="0" dirty="0" err="1">
                <a:solidFill>
                  <a:srgbClr val="B3B3B3"/>
                </a:solidFill>
              </a:rPr>
              <a:t>opérationnel</a:t>
            </a:r>
            <a:r>
              <a:rPr sz="950" b="0" dirty="0">
                <a:solidFill>
                  <a:srgbClr val="B3B3B3"/>
                </a:solidFill>
              </a:rPr>
              <a:t> du Center of Excellence (</a:t>
            </a:r>
            <a:r>
              <a:rPr sz="950" b="0" dirty="0" err="1">
                <a:solidFill>
                  <a:srgbClr val="B3B3B3"/>
                </a:solidFill>
              </a:rPr>
              <a:t>CoE</a:t>
            </a:r>
            <a:r>
              <a:rPr sz="950" b="0" dirty="0">
                <a:solidFill>
                  <a:srgbClr val="B3B3B3"/>
                </a:solidFill>
              </a:rPr>
              <a:t>).</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Responsabilités</a:t>
            </a:r>
            <a:r>
              <a:rPr dirty="0"/>
              <a:t> :</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err="1">
                <a:solidFill>
                  <a:srgbClr val="B3B3B3"/>
                </a:solidFill>
              </a:rPr>
              <a:t>Définition</a:t>
            </a:r>
            <a:r>
              <a:rPr sz="950" b="0" dirty="0">
                <a:solidFill>
                  <a:srgbClr val="B3B3B3"/>
                </a:solidFill>
              </a:rPr>
              <a:t> des standards,</a:t>
            </a:r>
            <a:r>
              <a:rPr lang="fr-FR" sz="950" b="0" dirty="0">
                <a:solidFill>
                  <a:srgbClr val="B3B3B3"/>
                </a:solidFill>
              </a:rPr>
              <a:t> </a:t>
            </a:r>
          </a:p>
          <a:p>
            <a:pPr marL="628650" lvl="1" indent="-171450">
              <a:spcAft>
                <a:spcPts val="400"/>
              </a:spcAft>
              <a:buFont typeface="Arial" panose="020B0604020202020204" pitchFamily="34" charset="0"/>
              <a:buChar char="•"/>
              <a:defRPr sz="950" b="1">
                <a:solidFill>
                  <a:srgbClr val="FFFFFF"/>
                </a:solidFill>
                <a:latin typeface="Arial"/>
              </a:defRPr>
            </a:pPr>
            <a:r>
              <a:rPr lang="fr-FR" sz="950" b="0" dirty="0">
                <a:solidFill>
                  <a:srgbClr val="B3B3B3"/>
                </a:solidFill>
              </a:rPr>
              <a:t>M</a:t>
            </a:r>
            <a:r>
              <a:rPr sz="950" b="0" dirty="0" err="1">
                <a:solidFill>
                  <a:srgbClr val="B3B3B3"/>
                </a:solidFill>
              </a:rPr>
              <a:t>ise</a:t>
            </a:r>
            <a:r>
              <a:rPr sz="950" b="0" dirty="0">
                <a:solidFill>
                  <a:srgbClr val="B3B3B3"/>
                </a:solidFill>
              </a:rPr>
              <a:t> à disposition des </a:t>
            </a:r>
            <a:r>
              <a:rPr sz="950" b="0" dirty="0" err="1">
                <a:solidFill>
                  <a:srgbClr val="B3B3B3"/>
                </a:solidFill>
              </a:rPr>
              <a:t>outils</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lang="fr-FR" sz="950" b="0" dirty="0">
                <a:solidFill>
                  <a:srgbClr val="B3B3B3"/>
                </a:solidFill>
              </a:rPr>
              <a:t>C</a:t>
            </a:r>
            <a:r>
              <a:rPr sz="950" b="0" dirty="0" err="1">
                <a:solidFill>
                  <a:srgbClr val="B3B3B3"/>
                </a:solidFill>
              </a:rPr>
              <a:t>onsolidation</a:t>
            </a:r>
            <a:r>
              <a:rPr sz="950" b="0" dirty="0">
                <a:solidFill>
                  <a:srgbClr val="B3B3B3"/>
                </a:solidFill>
              </a:rPr>
              <a:t> des </a:t>
            </a:r>
            <a:r>
              <a:rPr sz="950" b="0" dirty="0" err="1">
                <a:solidFill>
                  <a:srgbClr val="B3B3B3"/>
                </a:solidFill>
              </a:rPr>
              <a:t>indicateurs</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lang="fr-FR" sz="950" b="0" dirty="0">
                <a:solidFill>
                  <a:srgbClr val="B3B3B3"/>
                </a:solidFill>
              </a:rPr>
              <a:t>L</a:t>
            </a:r>
            <a:r>
              <a:rPr sz="950" b="0" dirty="0" err="1">
                <a:solidFill>
                  <a:srgbClr val="B3B3B3"/>
                </a:solidFill>
              </a:rPr>
              <a:t>ien</a:t>
            </a:r>
            <a:r>
              <a:rPr sz="950" b="0" dirty="0">
                <a:solidFill>
                  <a:srgbClr val="B3B3B3"/>
                </a:solidFill>
              </a:rPr>
              <a:t> </a:t>
            </a:r>
            <a:r>
              <a:rPr sz="950" b="0" dirty="0" err="1">
                <a:solidFill>
                  <a:srgbClr val="B3B3B3"/>
                </a:solidFill>
              </a:rPr>
              <a:t>CoE</a:t>
            </a:r>
            <a:r>
              <a:rPr sz="950" b="0" dirty="0">
                <a:solidFill>
                  <a:srgbClr val="B3B3B3"/>
                </a:solidFill>
              </a:rPr>
              <a:t>-métiers.</a:t>
            </a:r>
          </a:p>
        </p:txBody>
      </p:sp>
      <p:sp>
        <p:nvSpPr>
          <p:cNvPr id="9" name="Rounded Rectangle 8"/>
          <p:cNvSpPr/>
          <p:nvPr/>
        </p:nvSpPr>
        <p:spPr>
          <a:xfrm>
            <a:off x="548640" y="3749039"/>
            <a:ext cx="5303520" cy="2286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3913631"/>
            <a:ext cx="4974336" cy="1592744"/>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err="1"/>
              <a:t>Niveau</a:t>
            </a:r>
            <a:r>
              <a:rPr dirty="0"/>
              <a:t> data stewards (experts métiers)</a:t>
            </a:r>
          </a:p>
          <a:p>
            <a:pPr marL="171450" indent="-171450">
              <a:spcAft>
                <a:spcPts val="400"/>
              </a:spcAft>
              <a:buFont typeface="Arial" panose="020B0604020202020204" pitchFamily="34" charset="0"/>
              <a:buChar char="•"/>
              <a:defRPr sz="950" b="1">
                <a:solidFill>
                  <a:srgbClr val="FFFFFF"/>
                </a:solidFill>
                <a:latin typeface="Arial"/>
              </a:defRPr>
            </a:pPr>
            <a:r>
              <a:rPr dirty="0"/>
              <a:t>Data Stewards </a:t>
            </a:r>
            <a:r>
              <a:rPr dirty="0" err="1"/>
              <a:t>Embarqués</a:t>
            </a:r>
            <a:r>
              <a:rPr dirty="0"/>
              <a:t> :</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a:solidFill>
                  <a:srgbClr val="B3B3B3"/>
                </a:solidFill>
              </a:rPr>
              <a:t>Un steward par division (Marketing, Finance, R&amp;D IA, RH).</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Responsabilités</a:t>
            </a:r>
            <a:r>
              <a:rPr dirty="0"/>
              <a:t> :</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err="1">
                <a:solidFill>
                  <a:srgbClr val="B3B3B3"/>
                </a:solidFill>
              </a:rPr>
              <a:t>Garantir</a:t>
            </a:r>
            <a:r>
              <a:rPr sz="950" b="0" dirty="0">
                <a:solidFill>
                  <a:srgbClr val="B3B3B3"/>
                </a:solidFill>
              </a:rPr>
              <a:t> la </a:t>
            </a:r>
            <a:r>
              <a:rPr sz="950" b="0" dirty="0" err="1">
                <a:solidFill>
                  <a:srgbClr val="B3B3B3"/>
                </a:solidFill>
              </a:rPr>
              <a:t>définition</a:t>
            </a:r>
            <a:r>
              <a:rPr sz="950" b="0" dirty="0">
                <a:solidFill>
                  <a:srgbClr val="B3B3B3"/>
                </a:solidFill>
              </a:rPr>
              <a:t> </a:t>
            </a:r>
            <a:r>
              <a:rPr sz="950" b="0" dirty="0" err="1">
                <a:solidFill>
                  <a:srgbClr val="B3B3B3"/>
                </a:solidFill>
              </a:rPr>
              <a:t>sémantique</a:t>
            </a:r>
            <a:r>
              <a:rPr sz="950" b="0" dirty="0">
                <a:solidFill>
                  <a:srgbClr val="B3B3B3"/>
                </a:solidFill>
              </a:rPr>
              <a:t> des </a:t>
            </a:r>
            <a:r>
              <a:rPr sz="950" b="0" dirty="0" err="1">
                <a:solidFill>
                  <a:srgbClr val="B3B3B3"/>
                </a:solidFill>
              </a:rPr>
              <a:t>dictionnaires</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lang="fr-FR" sz="950" dirty="0">
                <a:solidFill>
                  <a:srgbClr val="B3B3B3"/>
                </a:solidFill>
              </a:rPr>
              <a:t>V</a:t>
            </a:r>
            <a:r>
              <a:rPr sz="950" b="0" dirty="0" err="1">
                <a:solidFill>
                  <a:srgbClr val="B3B3B3"/>
                </a:solidFill>
              </a:rPr>
              <a:t>alider</a:t>
            </a:r>
            <a:r>
              <a:rPr sz="950" b="0" dirty="0">
                <a:solidFill>
                  <a:srgbClr val="B3B3B3"/>
                </a:solidFill>
              </a:rPr>
              <a:t> les </a:t>
            </a:r>
            <a:r>
              <a:rPr sz="950" b="0" dirty="0" err="1">
                <a:solidFill>
                  <a:srgbClr val="B3B3B3"/>
                </a:solidFill>
              </a:rPr>
              <a:t>contrôles</a:t>
            </a:r>
            <a:r>
              <a:rPr sz="950" b="0" dirty="0">
                <a:solidFill>
                  <a:srgbClr val="B3B3B3"/>
                </a:solidFill>
              </a:rPr>
              <a:t> de </a:t>
            </a:r>
            <a:r>
              <a:rPr sz="950" b="0" dirty="0" err="1">
                <a:solidFill>
                  <a:srgbClr val="B3B3B3"/>
                </a:solidFill>
              </a:rPr>
              <a:t>qualité</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lang="fr-FR" sz="950" dirty="0">
                <a:solidFill>
                  <a:srgbClr val="B3B3B3"/>
                </a:solidFill>
              </a:rPr>
              <a:t>F</a:t>
            </a:r>
            <a:r>
              <a:rPr sz="950" b="0" dirty="0" err="1">
                <a:solidFill>
                  <a:srgbClr val="B3B3B3"/>
                </a:solidFill>
              </a:rPr>
              <a:t>ormer</a:t>
            </a:r>
            <a:r>
              <a:rPr sz="950" b="0" dirty="0">
                <a:solidFill>
                  <a:srgbClr val="B3B3B3"/>
                </a:solidFill>
              </a:rPr>
              <a:t> les Squads </a:t>
            </a:r>
            <a:r>
              <a:rPr sz="950" b="0" dirty="0" err="1">
                <a:solidFill>
                  <a:srgbClr val="B3B3B3"/>
                </a:solidFill>
              </a:rPr>
              <a:t>agiles</a:t>
            </a:r>
            <a:r>
              <a:rPr sz="950" b="0" dirty="0">
                <a:solidFill>
                  <a:srgbClr val="B3B3B3"/>
                </a:solidFill>
              </a:rPr>
              <a:t>.</a:t>
            </a:r>
          </a:p>
        </p:txBody>
      </p:sp>
      <p:sp>
        <p:nvSpPr>
          <p:cNvPr id="11" name="Rounded Rectangle 10"/>
          <p:cNvSpPr/>
          <p:nvPr/>
        </p:nvSpPr>
        <p:spPr>
          <a:xfrm>
            <a:off x="6217920" y="3749039"/>
            <a:ext cx="5394960" cy="2286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3913631"/>
            <a:ext cx="5065776" cy="1541448"/>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err="1"/>
              <a:t>Niveau</a:t>
            </a:r>
            <a:r>
              <a:rPr dirty="0"/>
              <a:t> </a:t>
            </a:r>
            <a:r>
              <a:rPr dirty="0" err="1"/>
              <a:t>opérationnel</a:t>
            </a:r>
            <a:r>
              <a:rPr dirty="0"/>
              <a:t> (</a:t>
            </a:r>
            <a:r>
              <a:rPr dirty="0" err="1"/>
              <a:t>exécution</a:t>
            </a:r>
            <a:r>
              <a:rPr dirty="0"/>
              <a:t> technique)</a:t>
            </a:r>
          </a:p>
          <a:p>
            <a:pPr marL="171450" indent="-171450">
              <a:spcAft>
                <a:spcPts val="400"/>
              </a:spcAft>
              <a:buFont typeface="Arial" panose="020B0604020202020204" pitchFamily="34" charset="0"/>
              <a:buChar char="•"/>
              <a:defRPr sz="950" b="1">
                <a:solidFill>
                  <a:srgbClr val="FFFFFF"/>
                </a:solidFill>
                <a:latin typeface="Arial"/>
              </a:defRPr>
            </a:pPr>
            <a:r>
              <a:rPr dirty="0"/>
              <a:t>Data Custodians (DBAs / Engineers) :</a:t>
            </a:r>
            <a:r>
              <a:rPr sz="950" b="0" dirty="0">
                <a:solidFill>
                  <a:srgbClr val="B3B3B3"/>
                </a:solidFill>
              </a:rPr>
              <a:t> </a:t>
            </a:r>
            <a:endParaRPr lang="fr-FR" sz="95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err="1">
                <a:solidFill>
                  <a:srgbClr val="B3B3B3"/>
                </a:solidFill>
              </a:rPr>
              <a:t>Implémentation</a:t>
            </a:r>
            <a:r>
              <a:rPr sz="950" b="0" dirty="0">
                <a:solidFill>
                  <a:srgbClr val="B3B3B3"/>
                </a:solidFill>
              </a:rPr>
              <a:t> technique de </a:t>
            </a:r>
            <a:r>
              <a:rPr sz="950" b="0" dirty="0" err="1">
                <a:solidFill>
                  <a:srgbClr val="B3B3B3"/>
                </a:solidFill>
              </a:rPr>
              <a:t>l'infrastructure</a:t>
            </a:r>
            <a:r>
              <a:rPr sz="950" b="0" dirty="0">
                <a:solidFill>
                  <a:srgbClr val="B3B3B3"/>
                </a:solidFill>
              </a:rPr>
              <a:t> (</a:t>
            </a:r>
            <a:r>
              <a:rPr sz="950" b="0" dirty="0" err="1">
                <a:solidFill>
                  <a:srgbClr val="B3B3B3"/>
                </a:solidFill>
              </a:rPr>
              <a:t>chiffrement</a:t>
            </a:r>
            <a:r>
              <a:rPr sz="950" b="0" dirty="0">
                <a:solidFill>
                  <a:srgbClr val="B3B3B3"/>
                </a:solidFill>
              </a:rPr>
              <a:t> KMS, purges </a:t>
            </a:r>
            <a:r>
              <a:rPr sz="950" b="0" dirty="0" err="1">
                <a:solidFill>
                  <a:srgbClr val="B3B3B3"/>
                </a:solidFill>
              </a:rPr>
              <a:t>automatisées</a:t>
            </a:r>
            <a:r>
              <a:rPr sz="950" b="0" dirty="0">
                <a:solidFill>
                  <a:srgbClr val="B3B3B3"/>
                </a:solidFill>
              </a:rPr>
              <a:t>).</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Department Heads / Data Product Owners :</a:t>
            </a:r>
            <a:r>
              <a:rPr sz="950" b="0" dirty="0">
                <a:solidFill>
                  <a:srgbClr val="B3B3B3"/>
                </a:solidFill>
              </a:rPr>
              <a:t>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err="1">
                <a:solidFill>
                  <a:srgbClr val="B3B3B3"/>
                </a:solidFill>
              </a:rPr>
              <a:t>Alignement</a:t>
            </a:r>
            <a:r>
              <a:rPr sz="950" b="0" dirty="0">
                <a:solidFill>
                  <a:srgbClr val="B3B3B3"/>
                </a:solidFill>
              </a:rPr>
              <a:t> métier,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lang="fr-FR" sz="950" dirty="0">
                <a:solidFill>
                  <a:srgbClr val="B3B3B3"/>
                </a:solidFill>
              </a:rPr>
              <a:t>V</a:t>
            </a:r>
            <a:r>
              <a:rPr sz="950" b="0" dirty="0" err="1">
                <a:solidFill>
                  <a:srgbClr val="B3B3B3"/>
                </a:solidFill>
              </a:rPr>
              <a:t>alidation</a:t>
            </a:r>
            <a:r>
              <a:rPr sz="950" b="0" dirty="0">
                <a:solidFill>
                  <a:srgbClr val="B3B3B3"/>
                </a:solidFill>
              </a:rPr>
              <a:t> de </a:t>
            </a:r>
            <a:r>
              <a:rPr sz="950" b="0" dirty="0" err="1">
                <a:solidFill>
                  <a:srgbClr val="B3B3B3"/>
                </a:solidFill>
              </a:rPr>
              <a:t>l'exactitude</a:t>
            </a:r>
            <a:r>
              <a:rPr sz="950" b="0" dirty="0">
                <a:solidFill>
                  <a:srgbClr val="B3B3B3"/>
                </a:solidFill>
              </a:rPr>
              <a:t> des </a:t>
            </a:r>
            <a:r>
              <a:rPr sz="950" b="0" dirty="0" err="1">
                <a:solidFill>
                  <a:srgbClr val="B3B3B3"/>
                </a:solidFill>
              </a:rPr>
              <a:t>schémas</a:t>
            </a:r>
            <a:r>
              <a:rPr sz="950" b="0" dirty="0">
                <a:solidFill>
                  <a:srgbClr val="B3B3B3"/>
                </a:solidFill>
              </a:rPr>
              <a:t> de données.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ANNEXE : VALIDATION EMPIRIQUE</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Architecture technique du pipeline pilote sécurisé</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Annexes - Données de cadrage &amp; détails techniques                                                                                                        Annexe 2 / 7</a:t>
            </a:r>
            <a:endParaRPr dirty="0"/>
          </a:p>
        </p:txBody>
      </p:sp>
      <p:sp>
        <p:nvSpPr>
          <p:cNvPr id="5" name="Rounded Rectangle 4"/>
          <p:cNvSpPr/>
          <p:nvPr/>
        </p:nvSpPr>
        <p:spPr>
          <a:xfrm>
            <a:off x="548640" y="1463040"/>
            <a:ext cx="2103120" cy="292608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627632"/>
            <a:ext cx="1773936" cy="1738938"/>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1. Sources de données</a:t>
            </a:r>
          </a:p>
          <a:p>
            <a:pPr>
              <a:spcAft>
                <a:spcPts val="400"/>
              </a:spcAft>
              <a:defRPr sz="950" b="1">
                <a:solidFill>
                  <a:srgbClr val="FFFFFF"/>
                </a:solidFill>
                <a:latin typeface="Arial"/>
              </a:defRPr>
            </a:pPr>
            <a:r>
              <a:rPr dirty="0"/>
              <a:t>Ingestion brute :</a:t>
            </a:r>
            <a:endParaRPr sz="950" b="0" dirty="0">
              <a:solidFill>
                <a:srgbClr val="B3B3B3"/>
              </a:solidFill>
            </a:endParaRPr>
          </a:p>
          <a:p>
            <a:pPr>
              <a:spcAft>
                <a:spcPts val="400"/>
              </a:spcAft>
              <a:defRPr sz="950">
                <a:solidFill>
                  <a:srgbClr val="B3B3B3"/>
                </a:solidFill>
                <a:latin typeface="Arial"/>
              </a:defRPr>
            </a:pPr>
            <a:r>
              <a:rPr dirty="0"/>
              <a:t>Flux </a:t>
            </a:r>
            <a:r>
              <a:rPr dirty="0" err="1"/>
              <a:t>publicitaires</a:t>
            </a:r>
            <a:r>
              <a:rPr dirty="0"/>
              <a:t> &amp; </a:t>
            </a:r>
            <a:r>
              <a:rPr dirty="0" err="1"/>
              <a:t>d'acquisitions</a:t>
            </a:r>
            <a:r>
              <a:rPr dirty="0"/>
              <a:t>.</a:t>
            </a:r>
          </a:p>
          <a:p>
            <a:pPr>
              <a:spcAft>
                <a:spcPts val="400"/>
              </a:spcAft>
              <a:defRPr sz="950">
                <a:solidFill>
                  <a:srgbClr val="B3B3B3"/>
                </a:solidFill>
                <a:latin typeface="Arial"/>
              </a:defRPr>
            </a:pPr>
            <a:endParaRPr dirty="0"/>
          </a:p>
          <a:p>
            <a:pPr>
              <a:spcAft>
                <a:spcPts val="400"/>
              </a:spcAft>
              <a:defRPr sz="950" b="1">
                <a:solidFill>
                  <a:srgbClr val="FFFFFF"/>
                </a:solidFill>
                <a:latin typeface="Arial"/>
              </a:defRPr>
            </a:pPr>
            <a:r>
              <a:rPr dirty="0" err="1"/>
              <a:t>Canaux</a:t>
            </a:r>
            <a:r>
              <a:rPr dirty="0"/>
              <a:t> :</a:t>
            </a:r>
            <a:endParaRPr sz="950" b="0" dirty="0">
              <a:solidFill>
                <a:srgbClr val="B3B3B3"/>
              </a:solidFill>
            </a:endParaRPr>
          </a:p>
          <a:p>
            <a:pPr>
              <a:spcAft>
                <a:spcPts val="400"/>
              </a:spcAft>
              <a:defRPr sz="950">
                <a:solidFill>
                  <a:srgbClr val="B3B3B3"/>
                </a:solidFill>
                <a:latin typeface="Arial"/>
              </a:defRPr>
            </a:pPr>
            <a:r>
              <a:rPr dirty="0"/>
              <a:t>- Facebook Ads API</a:t>
            </a:r>
          </a:p>
          <a:p>
            <a:pPr>
              <a:spcAft>
                <a:spcPts val="400"/>
              </a:spcAft>
              <a:defRPr sz="950">
                <a:solidFill>
                  <a:srgbClr val="B3B3B3"/>
                </a:solidFill>
                <a:latin typeface="Arial"/>
              </a:defRPr>
            </a:pPr>
            <a:r>
              <a:rPr dirty="0"/>
              <a:t>- Google Ads API</a:t>
            </a:r>
          </a:p>
          <a:p>
            <a:pPr>
              <a:spcAft>
                <a:spcPts val="400"/>
              </a:spcAft>
              <a:defRPr sz="950">
                <a:solidFill>
                  <a:srgbClr val="B3B3B3"/>
                </a:solidFill>
                <a:latin typeface="Arial"/>
              </a:defRPr>
            </a:pPr>
            <a:r>
              <a:rPr dirty="0"/>
              <a:t>- Registrations </a:t>
            </a:r>
            <a:r>
              <a:rPr dirty="0" err="1"/>
              <a:t>abonnés</a:t>
            </a:r>
            <a:endParaRPr dirty="0"/>
          </a:p>
        </p:txBody>
      </p:sp>
      <p:sp>
        <p:nvSpPr>
          <p:cNvPr id="7" name="Right Arrow 6"/>
          <p:cNvSpPr/>
          <p:nvPr/>
        </p:nvSpPr>
        <p:spPr>
          <a:xfrm>
            <a:off x="2697480" y="2560320"/>
            <a:ext cx="182880" cy="109728"/>
          </a:xfrm>
          <a:prstGeom prst="rightArrow">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926080" y="1463040"/>
            <a:ext cx="2651760" cy="2926080"/>
          </a:xfrm>
          <a:prstGeom prst="roundRect">
            <a:avLst/>
          </a:prstGeom>
          <a:solidFill>
            <a:srgbClr val="2D1414"/>
          </a:solid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90672" y="1627632"/>
            <a:ext cx="2322576" cy="1541448"/>
          </a:xfrm>
          <a:prstGeom prst="rect">
            <a:avLst/>
          </a:prstGeom>
          <a:noFill/>
        </p:spPr>
        <p:txBody>
          <a:bodyPr wrap="square" lIns="0" tIns="0" rIns="0" bIns="0">
            <a:spAutoFit/>
          </a:bodyPr>
          <a:lstStyle/>
          <a:p>
            <a:pPr>
              <a:spcAft>
                <a:spcPts val="600"/>
              </a:spcAft>
              <a:defRPr sz="1200" b="1">
                <a:solidFill>
                  <a:srgbClr val="FFFFFF"/>
                </a:solidFill>
                <a:latin typeface="Arial"/>
              </a:defRPr>
            </a:pPr>
            <a:r>
              <a:rPr dirty="0"/>
              <a:t>2. Ingestion &amp; </a:t>
            </a:r>
            <a:r>
              <a:rPr dirty="0" err="1"/>
              <a:t>sécurisation</a:t>
            </a:r>
            <a:endParaRPr dirty="0"/>
          </a:p>
          <a:p>
            <a:pPr>
              <a:spcAft>
                <a:spcPts val="400"/>
              </a:spcAft>
              <a:defRPr sz="950" b="1">
                <a:solidFill>
                  <a:srgbClr val="FFFFFF"/>
                </a:solidFill>
                <a:latin typeface="Arial"/>
              </a:defRPr>
            </a:pPr>
            <a:r>
              <a:rPr dirty="0"/>
              <a:t>Talend / Spark / Beam :</a:t>
            </a:r>
            <a:endParaRPr sz="950" b="0" dirty="0">
              <a:solidFill>
                <a:srgbClr val="B3B3B3"/>
              </a:solidFill>
            </a:endParaRPr>
          </a:p>
          <a:p>
            <a:pPr>
              <a:spcAft>
                <a:spcPts val="400"/>
              </a:spcAft>
              <a:defRPr sz="950">
                <a:solidFill>
                  <a:srgbClr val="B3B3B3"/>
                </a:solidFill>
                <a:latin typeface="Arial"/>
              </a:defRPr>
            </a:pPr>
            <a:r>
              <a:rPr dirty="0"/>
              <a:t>- Validation </a:t>
            </a:r>
            <a:r>
              <a:rPr dirty="0" err="1"/>
              <a:t>sémantique</a:t>
            </a:r>
            <a:endParaRPr dirty="0"/>
          </a:p>
          <a:p>
            <a:pPr>
              <a:spcAft>
                <a:spcPts val="400"/>
              </a:spcAft>
              <a:defRPr sz="950">
                <a:solidFill>
                  <a:srgbClr val="B3B3B3"/>
                </a:solidFill>
                <a:latin typeface="Arial"/>
              </a:defRPr>
            </a:pPr>
            <a:r>
              <a:rPr dirty="0"/>
              <a:t>- </a:t>
            </a:r>
            <a:r>
              <a:rPr dirty="0" err="1"/>
              <a:t>Nettoyage</a:t>
            </a:r>
            <a:r>
              <a:rPr dirty="0"/>
              <a:t> </a:t>
            </a:r>
            <a:r>
              <a:rPr dirty="0" err="1"/>
              <a:t>en</a:t>
            </a:r>
            <a:r>
              <a:rPr dirty="0"/>
              <a:t> </a:t>
            </a:r>
            <a:r>
              <a:rPr dirty="0" err="1"/>
              <a:t>ligne</a:t>
            </a:r>
            <a:endParaRPr dirty="0"/>
          </a:p>
          <a:p>
            <a:pPr>
              <a:spcAft>
                <a:spcPts val="400"/>
              </a:spcAft>
              <a:defRPr sz="950">
                <a:solidFill>
                  <a:srgbClr val="B3B3B3"/>
                </a:solidFill>
                <a:latin typeface="Arial"/>
              </a:defRPr>
            </a:pPr>
            <a:endParaRPr dirty="0"/>
          </a:p>
          <a:p>
            <a:pPr>
              <a:spcAft>
                <a:spcPts val="400"/>
              </a:spcAft>
              <a:defRPr sz="950" b="1">
                <a:solidFill>
                  <a:srgbClr val="FFFFFF"/>
                </a:solidFill>
                <a:latin typeface="Arial"/>
              </a:defRPr>
            </a:pPr>
            <a:r>
              <a:rPr dirty="0" err="1"/>
              <a:t>Chiffrement</a:t>
            </a:r>
            <a:r>
              <a:rPr dirty="0"/>
              <a:t> KMS :</a:t>
            </a:r>
            <a:endParaRPr sz="950" b="0" dirty="0">
              <a:solidFill>
                <a:srgbClr val="B3B3B3"/>
              </a:solidFill>
            </a:endParaRPr>
          </a:p>
          <a:p>
            <a:pPr>
              <a:spcAft>
                <a:spcPts val="400"/>
              </a:spcAft>
              <a:defRPr sz="950">
                <a:solidFill>
                  <a:srgbClr val="B3B3B3"/>
                </a:solidFill>
                <a:latin typeface="Arial"/>
              </a:defRPr>
            </a:pPr>
            <a:r>
              <a:rPr dirty="0" err="1"/>
              <a:t>Pseudonymisation</a:t>
            </a:r>
            <a:r>
              <a:rPr dirty="0"/>
              <a:t> (SHA-256) des PII au repos.</a:t>
            </a:r>
          </a:p>
        </p:txBody>
      </p:sp>
      <p:sp>
        <p:nvSpPr>
          <p:cNvPr id="10" name="Right Arrow 9"/>
          <p:cNvSpPr/>
          <p:nvPr/>
        </p:nvSpPr>
        <p:spPr>
          <a:xfrm>
            <a:off x="5623560" y="2560320"/>
            <a:ext cx="182880" cy="109728"/>
          </a:xfrm>
          <a:prstGeom prst="rightArrow">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852160" y="1463040"/>
            <a:ext cx="2468880" cy="2926080"/>
          </a:xfrm>
          <a:prstGeom prst="roundRect">
            <a:avLst/>
          </a:prstGeom>
          <a:solidFill>
            <a:srgbClr val="142D19"/>
          </a:solidFill>
          <a:ln w="19050">
            <a:solidFill>
              <a:srgbClr val="289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16752" y="1627632"/>
            <a:ext cx="2139696" cy="1395254"/>
          </a:xfrm>
          <a:prstGeom prst="rect">
            <a:avLst/>
          </a:prstGeom>
          <a:noFill/>
        </p:spPr>
        <p:txBody>
          <a:bodyPr wrap="square" lIns="0" tIns="0" rIns="0" bIns="0">
            <a:spAutoFit/>
          </a:bodyPr>
          <a:lstStyle/>
          <a:p>
            <a:pPr>
              <a:spcAft>
                <a:spcPts val="600"/>
              </a:spcAft>
              <a:defRPr sz="1200" b="1">
                <a:solidFill>
                  <a:srgbClr val="FFFFFF"/>
                </a:solidFill>
                <a:latin typeface="Arial"/>
              </a:defRPr>
            </a:pPr>
            <a:r>
              <a:rPr dirty="0"/>
              <a:t>3. Stockage </a:t>
            </a:r>
            <a:r>
              <a:rPr dirty="0" err="1"/>
              <a:t>sécurisé</a:t>
            </a:r>
            <a:endParaRPr dirty="0"/>
          </a:p>
          <a:p>
            <a:pPr>
              <a:spcAft>
                <a:spcPts val="400"/>
              </a:spcAft>
              <a:defRPr sz="950" b="1">
                <a:solidFill>
                  <a:srgbClr val="FFFFFF"/>
                </a:solidFill>
                <a:latin typeface="Arial"/>
              </a:defRPr>
            </a:pPr>
            <a:r>
              <a:rPr dirty="0"/>
              <a:t>Google </a:t>
            </a:r>
            <a:r>
              <a:rPr dirty="0" err="1"/>
              <a:t>BigQuery</a:t>
            </a:r>
            <a:r>
              <a:rPr dirty="0"/>
              <a:t> :</a:t>
            </a:r>
            <a:endParaRPr sz="950" b="0" dirty="0">
              <a:solidFill>
                <a:srgbClr val="B3B3B3"/>
              </a:solidFill>
            </a:endParaRPr>
          </a:p>
          <a:p>
            <a:pPr>
              <a:spcAft>
                <a:spcPts val="400"/>
              </a:spcAft>
              <a:defRPr sz="950">
                <a:solidFill>
                  <a:srgbClr val="B3B3B3"/>
                </a:solidFill>
                <a:latin typeface="Arial"/>
              </a:defRPr>
            </a:pPr>
            <a:r>
              <a:rPr dirty="0"/>
              <a:t>- Tables de production</a:t>
            </a:r>
          </a:p>
          <a:p>
            <a:pPr>
              <a:spcAft>
                <a:spcPts val="400"/>
              </a:spcAft>
              <a:defRPr sz="950">
                <a:solidFill>
                  <a:srgbClr val="B3B3B3"/>
                </a:solidFill>
                <a:latin typeface="Arial"/>
              </a:defRPr>
            </a:pPr>
            <a:r>
              <a:rPr dirty="0"/>
              <a:t>- Isolation </a:t>
            </a:r>
            <a:r>
              <a:rPr dirty="0" err="1"/>
              <a:t>stricte</a:t>
            </a:r>
            <a:r>
              <a:rPr dirty="0"/>
              <a:t> (IAM)</a:t>
            </a:r>
          </a:p>
          <a:p>
            <a:pPr>
              <a:spcAft>
                <a:spcPts val="400"/>
              </a:spcAft>
              <a:defRPr sz="950">
                <a:solidFill>
                  <a:srgbClr val="B3B3B3"/>
                </a:solidFill>
                <a:latin typeface="Arial"/>
              </a:defRPr>
            </a:pPr>
            <a:endParaRPr dirty="0"/>
          </a:p>
          <a:p>
            <a:pPr>
              <a:spcAft>
                <a:spcPts val="400"/>
              </a:spcAft>
              <a:defRPr sz="950" b="1">
                <a:solidFill>
                  <a:srgbClr val="FFFFFF"/>
                </a:solidFill>
                <a:latin typeface="Arial"/>
              </a:defRPr>
            </a:pPr>
            <a:r>
              <a:rPr dirty="0" err="1"/>
              <a:t>Gouvernance</a:t>
            </a:r>
            <a:r>
              <a:rPr dirty="0"/>
              <a:t> Git :</a:t>
            </a:r>
            <a:endParaRPr sz="950" b="0" dirty="0">
              <a:solidFill>
                <a:srgbClr val="B3B3B3"/>
              </a:solidFill>
            </a:endParaRPr>
          </a:p>
          <a:p>
            <a:pPr>
              <a:spcAft>
                <a:spcPts val="400"/>
              </a:spcAft>
              <a:defRPr sz="950">
                <a:solidFill>
                  <a:srgbClr val="B3B3B3"/>
                </a:solidFill>
                <a:latin typeface="Arial"/>
              </a:defRPr>
            </a:pPr>
            <a:r>
              <a:rPr dirty="0" err="1"/>
              <a:t>Contrôle</a:t>
            </a:r>
            <a:r>
              <a:rPr dirty="0"/>
              <a:t> </a:t>
            </a:r>
            <a:r>
              <a:rPr dirty="0" err="1"/>
              <a:t>obligatoire</a:t>
            </a:r>
            <a:r>
              <a:rPr dirty="0"/>
              <a:t> par </a:t>
            </a:r>
            <a:r>
              <a:rPr dirty="0" err="1"/>
              <a:t>owner.yaml</a:t>
            </a:r>
            <a:r>
              <a:rPr dirty="0"/>
              <a:t>.</a:t>
            </a:r>
          </a:p>
        </p:txBody>
      </p:sp>
      <p:sp>
        <p:nvSpPr>
          <p:cNvPr id="13" name="Right Arrow 12"/>
          <p:cNvSpPr/>
          <p:nvPr/>
        </p:nvSpPr>
        <p:spPr>
          <a:xfrm>
            <a:off x="8366760" y="2560320"/>
            <a:ext cx="182880" cy="109728"/>
          </a:xfrm>
          <a:prstGeom prst="rightArrow">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595360" y="1463040"/>
            <a:ext cx="3017520" cy="292608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59952" y="1627632"/>
            <a:ext cx="2688336" cy="1592744"/>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4. Restitution BI</a:t>
            </a:r>
          </a:p>
          <a:p>
            <a:pPr>
              <a:spcAft>
                <a:spcPts val="400"/>
              </a:spcAft>
              <a:defRPr sz="950" b="1">
                <a:solidFill>
                  <a:srgbClr val="FFFFFF"/>
                </a:solidFill>
                <a:latin typeface="Arial"/>
              </a:defRPr>
            </a:pPr>
            <a:r>
              <a:rPr dirty="0"/>
              <a:t>Looker &amp; Tableau :</a:t>
            </a:r>
            <a:endParaRPr sz="950" b="0" dirty="0">
              <a:solidFill>
                <a:srgbClr val="B3B3B3"/>
              </a:solidFill>
            </a:endParaRPr>
          </a:p>
          <a:p>
            <a:pPr>
              <a:spcAft>
                <a:spcPts val="400"/>
              </a:spcAft>
              <a:defRPr sz="950">
                <a:solidFill>
                  <a:srgbClr val="B3B3B3"/>
                </a:solidFill>
                <a:latin typeface="Arial"/>
              </a:defRPr>
            </a:pPr>
            <a:r>
              <a:rPr dirty="0" err="1"/>
              <a:t>Visualisation</a:t>
            </a:r>
            <a:r>
              <a:rPr dirty="0"/>
              <a:t> </a:t>
            </a:r>
            <a:r>
              <a:rPr dirty="0" err="1"/>
              <a:t>analytique</a:t>
            </a:r>
            <a:r>
              <a:rPr dirty="0"/>
              <a:t>.</a:t>
            </a:r>
          </a:p>
          <a:p>
            <a:pPr>
              <a:spcAft>
                <a:spcPts val="400"/>
              </a:spcAft>
              <a:defRPr sz="950">
                <a:solidFill>
                  <a:srgbClr val="B3B3B3"/>
                </a:solidFill>
                <a:latin typeface="Arial"/>
              </a:defRPr>
            </a:pPr>
            <a:endParaRPr dirty="0"/>
          </a:p>
          <a:p>
            <a:pPr>
              <a:spcAft>
                <a:spcPts val="400"/>
              </a:spcAft>
              <a:defRPr sz="950" b="1">
                <a:solidFill>
                  <a:srgbClr val="FFFFFF"/>
                </a:solidFill>
                <a:latin typeface="Arial"/>
              </a:defRPr>
            </a:pPr>
            <a:r>
              <a:rPr lang="fr-FR" dirty="0"/>
              <a:t>I</a:t>
            </a:r>
            <a:r>
              <a:rPr dirty="0" err="1"/>
              <a:t>nclusion</a:t>
            </a:r>
            <a:r>
              <a:rPr dirty="0"/>
              <a:t> &amp; </a:t>
            </a:r>
            <a:r>
              <a:rPr dirty="0" err="1"/>
              <a:t>Accessibilité</a:t>
            </a:r>
            <a:r>
              <a:rPr dirty="0"/>
              <a:t> :</a:t>
            </a:r>
            <a:endParaRPr sz="950" b="0" dirty="0">
              <a:solidFill>
                <a:srgbClr val="B3B3B3"/>
              </a:solidFill>
            </a:endParaRPr>
          </a:p>
          <a:p>
            <a:pPr>
              <a:spcAft>
                <a:spcPts val="400"/>
              </a:spcAft>
              <a:defRPr sz="950">
                <a:solidFill>
                  <a:srgbClr val="B3B3B3"/>
                </a:solidFill>
                <a:latin typeface="Arial"/>
              </a:defRPr>
            </a:pPr>
            <a:r>
              <a:rPr dirty="0"/>
              <a:t>- </a:t>
            </a:r>
            <a:r>
              <a:rPr dirty="0" err="1"/>
              <a:t>Contrastes</a:t>
            </a:r>
            <a:r>
              <a:rPr dirty="0"/>
              <a:t> WCAG 2.2</a:t>
            </a:r>
          </a:p>
          <a:p>
            <a:pPr>
              <a:spcAft>
                <a:spcPts val="400"/>
              </a:spcAft>
              <a:defRPr sz="950">
                <a:solidFill>
                  <a:srgbClr val="B3B3B3"/>
                </a:solidFill>
                <a:latin typeface="Arial"/>
              </a:defRPr>
            </a:pPr>
            <a:r>
              <a:rPr dirty="0"/>
              <a:t>- Navigation clavier</a:t>
            </a:r>
          </a:p>
          <a:p>
            <a:pPr>
              <a:spcAft>
                <a:spcPts val="400"/>
              </a:spcAft>
              <a:defRPr sz="950">
                <a:solidFill>
                  <a:srgbClr val="B3B3B3"/>
                </a:solidFill>
                <a:latin typeface="Arial"/>
              </a:defRPr>
            </a:pPr>
            <a:r>
              <a:rPr dirty="0"/>
              <a:t>- Balises </a:t>
            </a:r>
            <a:r>
              <a:rPr dirty="0" err="1"/>
              <a:t>d'aide</a:t>
            </a:r>
            <a:r>
              <a:rPr dirty="0"/>
              <a:t> ARIA (RGAA)</a:t>
            </a:r>
          </a:p>
        </p:txBody>
      </p:sp>
      <p:sp>
        <p:nvSpPr>
          <p:cNvPr id="16" name="Rounded Rectangle 15"/>
          <p:cNvSpPr/>
          <p:nvPr/>
        </p:nvSpPr>
        <p:spPr>
          <a:xfrm>
            <a:off x="548640" y="4572000"/>
            <a:ext cx="3383280" cy="146304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4736592"/>
            <a:ext cx="3054096" cy="1133856"/>
          </a:xfrm>
          <a:prstGeom prst="rect">
            <a:avLst/>
          </a:prstGeom>
          <a:noFill/>
        </p:spPr>
        <p:txBody>
          <a:bodyPr wrap="square" lIns="0" tIns="0" rIns="0" bIns="0">
            <a:spAutoFit/>
          </a:bodyPr>
          <a:lstStyle/>
          <a:p>
            <a:pPr>
              <a:spcAft>
                <a:spcPts val="600"/>
              </a:spcAft>
              <a:defRPr sz="1200" b="1">
                <a:solidFill>
                  <a:srgbClr val="1DB954"/>
                </a:solidFill>
                <a:latin typeface="Arial"/>
              </a:defRPr>
            </a:pPr>
            <a:r>
              <a:t>Portail Backstage (Golden States)</a:t>
            </a:r>
          </a:p>
          <a:p>
            <a:pPr>
              <a:spcAft>
                <a:spcPts val="400"/>
              </a:spcAft>
              <a:defRPr sz="950">
                <a:solidFill>
                  <a:srgbClr val="B3B3B3"/>
                </a:solidFill>
                <a:latin typeface="Arial"/>
              </a:defRPr>
            </a:pPr>
            <a:r>
              <a:t>S'assure du respect du modèle idéal Golden State. Catalogage de la flotte de pipelines.</a:t>
            </a:r>
          </a:p>
          <a:p>
            <a:pPr>
              <a:spcAft>
                <a:spcPts val="400"/>
              </a:spcAft>
              <a:defRPr sz="950">
                <a:solidFill>
                  <a:srgbClr val="B3B3B3"/>
                </a:solidFill>
                <a:latin typeface="Arial"/>
              </a:defRPr>
            </a:pPr>
            <a:r>
              <a:t>Registre universel de lignage de bout en bout.</a:t>
            </a:r>
          </a:p>
        </p:txBody>
      </p:sp>
      <p:sp>
        <p:nvSpPr>
          <p:cNvPr id="18" name="Rounded Rectangle 17"/>
          <p:cNvSpPr/>
          <p:nvPr/>
        </p:nvSpPr>
        <p:spPr>
          <a:xfrm>
            <a:off x="4114800" y="4572000"/>
            <a:ext cx="3931920" cy="146304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79392" y="4736592"/>
            <a:ext cx="3602736" cy="1133856"/>
          </a:xfrm>
          <a:prstGeom prst="rect">
            <a:avLst/>
          </a:prstGeom>
          <a:noFill/>
        </p:spPr>
        <p:txBody>
          <a:bodyPr wrap="square" lIns="0" tIns="0" rIns="0" bIns="0">
            <a:spAutoFit/>
          </a:bodyPr>
          <a:lstStyle/>
          <a:p>
            <a:pPr>
              <a:spcAft>
                <a:spcPts val="600"/>
              </a:spcAft>
              <a:defRPr sz="1200" b="1">
                <a:solidFill>
                  <a:srgbClr val="1DB954"/>
                </a:solidFill>
                <a:latin typeface="Arial"/>
              </a:defRPr>
            </a:pPr>
            <a:r>
              <a:t>OneTrust consent management (CMP)</a:t>
            </a:r>
          </a:p>
          <a:p>
            <a:pPr>
              <a:spcAft>
                <a:spcPts val="400"/>
              </a:spcAft>
              <a:defRPr sz="950">
                <a:solidFill>
                  <a:srgbClr val="B3B3B3"/>
                </a:solidFill>
                <a:latin typeface="Arial"/>
              </a:defRPr>
            </a:pPr>
            <a:r>
              <a:t>Collecte le consentement d'acquisition.</a:t>
            </a:r>
          </a:p>
          <a:p>
            <a:pPr>
              <a:spcAft>
                <a:spcPts val="400"/>
              </a:spcAft>
              <a:defRPr sz="950" b="1">
                <a:solidFill>
                  <a:srgbClr val="FFFFFF"/>
                </a:solidFill>
                <a:latin typeface="Arial"/>
              </a:defRPr>
            </a:pPr>
            <a:r>
              <a:t>Webhook en temps réel :</a:t>
            </a:r>
            <a:r>
              <a:rPr sz="950" b="0">
                <a:solidFill>
                  <a:srgbClr val="B3B3B3"/>
                </a:solidFill>
              </a:rPr>
              <a:t> suppression et anonymisation automatique sous 48h (Droit à l'oubli).</a:t>
            </a:r>
          </a:p>
        </p:txBody>
      </p:sp>
      <p:sp>
        <p:nvSpPr>
          <p:cNvPr id="20" name="Rounded Rectangle 19"/>
          <p:cNvSpPr/>
          <p:nvPr/>
        </p:nvSpPr>
        <p:spPr>
          <a:xfrm>
            <a:off x="8229600" y="4572000"/>
            <a:ext cx="3383280" cy="146304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94192" y="4736592"/>
            <a:ext cx="3054096" cy="1133856"/>
          </a:xfrm>
          <a:prstGeom prst="rect">
            <a:avLst/>
          </a:prstGeom>
          <a:noFill/>
        </p:spPr>
        <p:txBody>
          <a:bodyPr wrap="square" lIns="0" tIns="0" rIns="0" bIns="0">
            <a:spAutoFit/>
          </a:bodyPr>
          <a:lstStyle/>
          <a:p>
            <a:pPr>
              <a:spcAft>
                <a:spcPts val="600"/>
              </a:spcAft>
              <a:defRPr sz="1200" b="1">
                <a:solidFill>
                  <a:srgbClr val="1DB954"/>
                </a:solidFill>
                <a:latin typeface="Arial"/>
              </a:defRPr>
            </a:pPr>
            <a:r>
              <a:t>Sémantique sociale (Slack)</a:t>
            </a:r>
          </a:p>
          <a:p>
            <a:pPr>
              <a:spcAft>
                <a:spcPts val="400"/>
              </a:spcAft>
              <a:defRPr sz="950">
                <a:solidFill>
                  <a:srgbClr val="B3B3B3"/>
                </a:solidFill>
                <a:latin typeface="Arial"/>
              </a:defRPr>
            </a:pPr>
            <a:r>
              <a:t>Fiche de table Backstage liée dynamiquement à un canal Slack.</a:t>
            </a:r>
          </a:p>
          <a:p>
            <a:pPr>
              <a:spcAft>
                <a:spcPts val="400"/>
              </a:spcAft>
              <a:defRPr sz="950" b="1">
                <a:solidFill>
                  <a:srgbClr val="FFFFFF"/>
                </a:solidFill>
                <a:latin typeface="Arial"/>
              </a:defRPr>
            </a:pPr>
            <a:r>
              <a:t>Mapping humain :</a:t>
            </a:r>
            <a:r>
              <a:rPr sz="950" b="0">
                <a:solidFill>
                  <a:srgbClr val="B3B3B3"/>
                </a:solidFill>
              </a:rPr>
              <a:t> Baisse de 40 % du temps d'exploration de données.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ANNEXE : INFONOMICS &amp; PLANIFICATION</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Feuille de route d'implémentation sur 18 mois</a:t>
            </a:r>
          </a:p>
        </p:txBody>
      </p:sp>
      <p:sp>
        <p:nvSpPr>
          <p:cNvPr id="4" name="TextBox 3"/>
          <p:cNvSpPr txBox="1"/>
          <p:nvPr/>
        </p:nvSpPr>
        <p:spPr>
          <a:xfrm>
            <a:off x="548640" y="6400800"/>
            <a:ext cx="11094415" cy="138499"/>
          </a:xfrm>
          <a:prstGeom prst="rect">
            <a:avLst/>
          </a:prstGeom>
          <a:noFill/>
        </p:spPr>
        <p:txBody>
          <a:bodyPr wrap="square" lIns="0" tIns="0" rIns="0" bIns="0">
            <a:spAutoFit/>
          </a:bodyPr>
          <a:lstStyle/>
          <a:p>
            <a:pPr>
              <a:defRPr sz="900">
                <a:solidFill>
                  <a:srgbClr val="B3B3B3"/>
                </a:solidFill>
                <a:latin typeface="Arial"/>
              </a:defRPr>
            </a:pPr>
            <a:r>
              <a:t>Spotify S.A. | Annexes - Données de cadrage &amp; détails techniques                                                                                                        Annexe 3 / 7</a:t>
            </a:r>
            <a:endParaRPr dirty="0"/>
          </a:p>
        </p:txBody>
      </p:sp>
      <p:sp>
        <p:nvSpPr>
          <p:cNvPr id="5" name="Rounded Rectangle 4"/>
          <p:cNvSpPr/>
          <p:nvPr/>
        </p:nvSpPr>
        <p:spPr>
          <a:xfrm>
            <a:off x="548640" y="1371600"/>
            <a:ext cx="530352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536192"/>
            <a:ext cx="4974336" cy="2841804"/>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a:t>Phases </a:t>
            </a:r>
            <a:r>
              <a:rPr dirty="0" err="1"/>
              <a:t>d'implémentation</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Phase 1 :</a:t>
            </a:r>
            <a:r>
              <a:rPr sz="950" b="0" dirty="0">
                <a:solidFill>
                  <a:srgbClr val="B3B3B3"/>
                </a:solidFill>
              </a:rPr>
              <a:t> Fondation (</a:t>
            </a:r>
            <a:r>
              <a:rPr sz="950" b="0" dirty="0" err="1">
                <a:solidFill>
                  <a:srgbClr val="B3B3B3"/>
                </a:solidFill>
              </a:rPr>
              <a:t>Mois</a:t>
            </a:r>
            <a:r>
              <a:rPr sz="950" b="0" dirty="0">
                <a:solidFill>
                  <a:srgbClr val="B3B3B3"/>
                </a:solidFill>
              </a:rPr>
              <a:t> 1 à 6) :</a:t>
            </a:r>
            <a:endParaRPr lang="fr-FR" sz="95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a:solidFill>
                  <a:srgbClr val="B3B3B3"/>
                </a:solidFill>
              </a:rPr>
              <a:t>Nomination du </a:t>
            </a:r>
            <a:r>
              <a:rPr sz="950" b="0" dirty="0" err="1">
                <a:solidFill>
                  <a:srgbClr val="B3B3B3"/>
                </a:solidFill>
              </a:rPr>
              <a:t>Comité</a:t>
            </a:r>
            <a:r>
              <a:rPr sz="950" b="0" dirty="0">
                <a:solidFill>
                  <a:srgbClr val="B3B3B3"/>
                </a:solidFill>
              </a:rPr>
              <a:t> de </a:t>
            </a:r>
            <a:r>
              <a:rPr sz="950" b="0" dirty="0" err="1">
                <a:solidFill>
                  <a:srgbClr val="B3B3B3"/>
                </a:solidFill>
              </a:rPr>
              <a:t>Gouvernance</a:t>
            </a:r>
            <a:r>
              <a:rPr sz="950" b="0" dirty="0">
                <a:solidFill>
                  <a:srgbClr val="B3B3B3"/>
                </a:solidFill>
              </a:rPr>
              <a:t> et structuration du </a:t>
            </a:r>
            <a:r>
              <a:rPr sz="950" b="0" dirty="0" err="1">
                <a:solidFill>
                  <a:srgbClr val="B3B3B3"/>
                </a:solidFill>
              </a:rPr>
              <a:t>CoE</a:t>
            </a:r>
            <a:r>
              <a:rPr sz="950" b="0" dirty="0">
                <a:solidFill>
                  <a:srgbClr val="B3B3B3"/>
                </a:solidFill>
              </a:rPr>
              <a:t>.
</a:t>
            </a:r>
            <a:r>
              <a:rPr sz="950" b="0" dirty="0" err="1">
                <a:solidFill>
                  <a:srgbClr val="B3B3B3"/>
                </a:solidFill>
              </a:rPr>
              <a:t>Déploiement</a:t>
            </a:r>
            <a:r>
              <a:rPr sz="950" b="0" dirty="0">
                <a:solidFill>
                  <a:srgbClr val="B3B3B3"/>
                </a:solidFill>
              </a:rPr>
              <a:t> des solutions </a:t>
            </a:r>
            <a:r>
              <a:rPr sz="950" b="0" dirty="0" err="1">
                <a:solidFill>
                  <a:srgbClr val="B3B3B3"/>
                </a:solidFill>
              </a:rPr>
              <a:t>outillées</a:t>
            </a:r>
            <a:r>
              <a:rPr sz="950" b="0" dirty="0">
                <a:solidFill>
                  <a:srgbClr val="B3B3B3"/>
                </a:solidFill>
              </a:rPr>
              <a:t> (Collibra, </a:t>
            </a:r>
            <a:r>
              <a:rPr sz="950" b="0" dirty="0" err="1">
                <a:solidFill>
                  <a:srgbClr val="B3B3B3"/>
                </a:solidFill>
              </a:rPr>
              <a:t>OneTrust</a:t>
            </a:r>
            <a:r>
              <a:rPr sz="950" b="0" dirty="0">
                <a:solidFill>
                  <a:srgbClr val="B3B3B3"/>
                </a:solidFill>
              </a:rPr>
              <a:t>, Talend).
</a:t>
            </a:r>
            <a:r>
              <a:rPr sz="950" b="0" dirty="0" err="1">
                <a:solidFill>
                  <a:srgbClr val="B3B3B3"/>
                </a:solidFill>
              </a:rPr>
              <a:t>Réalisation</a:t>
            </a:r>
            <a:r>
              <a:rPr sz="950" b="0" dirty="0">
                <a:solidFill>
                  <a:srgbClr val="B3B3B3"/>
                </a:solidFill>
              </a:rPr>
              <a:t> du </a:t>
            </a:r>
            <a:r>
              <a:rPr sz="950" b="0" dirty="0" err="1">
                <a:solidFill>
                  <a:srgbClr val="B3B3B3"/>
                </a:solidFill>
              </a:rPr>
              <a:t>projet</a:t>
            </a:r>
            <a:r>
              <a:rPr sz="950" b="0" dirty="0">
                <a:solidFill>
                  <a:srgbClr val="B3B3B3"/>
                </a:solidFill>
              </a:rPr>
              <a:t> </a:t>
            </a:r>
            <a:r>
              <a:rPr sz="950" b="0" dirty="0" err="1">
                <a:solidFill>
                  <a:srgbClr val="B3B3B3"/>
                </a:solidFill>
              </a:rPr>
              <a:t>pilote</a:t>
            </a:r>
            <a:r>
              <a:rPr sz="950" b="0" dirty="0">
                <a:solidFill>
                  <a:srgbClr val="B3B3B3"/>
                </a:solidFill>
              </a:rPr>
              <a:t> Division Marketing.</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Phase 2 :</a:t>
            </a:r>
            <a:r>
              <a:rPr sz="950" b="0" dirty="0">
                <a:solidFill>
                  <a:srgbClr val="B3B3B3"/>
                </a:solidFill>
              </a:rPr>
              <a:t> Passage à </a:t>
            </a:r>
            <a:r>
              <a:rPr sz="950" b="0" dirty="0" err="1">
                <a:solidFill>
                  <a:srgbClr val="B3B3B3"/>
                </a:solidFill>
              </a:rPr>
              <a:t>l'Échelle</a:t>
            </a:r>
            <a:r>
              <a:rPr sz="950" b="0" dirty="0">
                <a:solidFill>
                  <a:srgbClr val="B3B3B3"/>
                </a:solidFill>
              </a:rPr>
              <a:t> (</a:t>
            </a:r>
            <a:r>
              <a:rPr sz="950" b="0" dirty="0" err="1">
                <a:solidFill>
                  <a:srgbClr val="B3B3B3"/>
                </a:solidFill>
              </a:rPr>
              <a:t>Mois</a:t>
            </a:r>
            <a:r>
              <a:rPr sz="950" b="0" dirty="0">
                <a:solidFill>
                  <a:srgbClr val="B3B3B3"/>
                </a:solidFill>
              </a:rPr>
              <a:t> 7 à 12) :</a:t>
            </a:r>
            <a:endParaRPr lang="fr-FR" sz="950" b="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a:solidFill>
                  <a:srgbClr val="B3B3B3"/>
                </a:solidFill>
              </a:rPr>
              <a:t>Extension de la </a:t>
            </a:r>
            <a:r>
              <a:rPr sz="950" b="0" dirty="0" err="1">
                <a:solidFill>
                  <a:srgbClr val="B3B3B3"/>
                </a:solidFill>
              </a:rPr>
              <a:t>gouvernance</a:t>
            </a:r>
            <a:r>
              <a:rPr sz="950" b="0" dirty="0">
                <a:solidFill>
                  <a:srgbClr val="B3B3B3"/>
                </a:solidFill>
              </a:rPr>
              <a:t> à la R&amp;D IA et à la direction Finance.
Mise </a:t>
            </a:r>
            <a:r>
              <a:rPr sz="950" b="0" dirty="0" err="1">
                <a:solidFill>
                  <a:srgbClr val="B3B3B3"/>
                </a:solidFill>
              </a:rPr>
              <a:t>en</a:t>
            </a:r>
            <a:r>
              <a:rPr sz="950" b="0" dirty="0">
                <a:solidFill>
                  <a:srgbClr val="B3B3B3"/>
                </a:solidFill>
              </a:rPr>
              <a:t> </a:t>
            </a:r>
            <a:r>
              <a:rPr sz="950" b="0" dirty="0" err="1">
                <a:solidFill>
                  <a:srgbClr val="B3B3B3"/>
                </a:solidFill>
              </a:rPr>
              <a:t>conformité</a:t>
            </a:r>
            <a:r>
              <a:rPr sz="950" b="0" dirty="0">
                <a:solidFill>
                  <a:srgbClr val="B3B3B3"/>
                </a:solidFill>
              </a:rPr>
              <a:t> </a:t>
            </a:r>
            <a:r>
              <a:rPr sz="950" b="0" dirty="0" err="1">
                <a:solidFill>
                  <a:srgbClr val="B3B3B3"/>
                </a:solidFill>
              </a:rPr>
              <a:t>d'accessibilité</a:t>
            </a:r>
            <a:r>
              <a:rPr sz="950" b="0" dirty="0">
                <a:solidFill>
                  <a:srgbClr val="B3B3B3"/>
                </a:solidFill>
              </a:rPr>
              <a:t> RGAA/WCAG de </a:t>
            </a:r>
            <a:r>
              <a:rPr sz="950" b="0" dirty="0" err="1">
                <a:solidFill>
                  <a:srgbClr val="B3B3B3"/>
                </a:solidFill>
              </a:rPr>
              <a:t>tous</a:t>
            </a:r>
            <a:r>
              <a:rPr sz="950" b="0" dirty="0">
                <a:solidFill>
                  <a:srgbClr val="B3B3B3"/>
                </a:solidFill>
              </a:rPr>
              <a:t> les dashboards BI</a:t>
            </a:r>
            <a:endParaRPr lang="fr-FR" sz="950" b="0" dirty="0">
              <a:solidFill>
                <a:srgbClr val="B3B3B3"/>
              </a:solidFill>
            </a:endParaRPr>
          </a:p>
          <a:p>
            <a:pPr>
              <a:spcAft>
                <a:spcPts val="400"/>
              </a:spcAft>
              <a:defRPr sz="950" b="1">
                <a:solidFill>
                  <a:srgbClr val="FFFFFF"/>
                </a:solidFill>
                <a:latin typeface="Arial"/>
              </a:defRPr>
            </a:pPr>
            <a:r>
              <a:rPr sz="950" b="0" dirty="0">
                <a:solidFill>
                  <a:srgbClr val="B3B3B3"/>
                </a:solidFill>
              </a:rPr>
              <a:t>.</a:t>
            </a:r>
          </a:p>
          <a:p>
            <a:pPr marL="171450" indent="-171450">
              <a:spcAft>
                <a:spcPts val="400"/>
              </a:spcAft>
              <a:buFont typeface="Arial" panose="020B0604020202020204" pitchFamily="34" charset="0"/>
              <a:buChar char="•"/>
              <a:defRPr sz="950" b="1">
                <a:solidFill>
                  <a:srgbClr val="FFFFFF"/>
                </a:solidFill>
                <a:latin typeface="Arial"/>
              </a:defRPr>
            </a:pPr>
            <a:r>
              <a:rPr dirty="0"/>
              <a:t>Phase 3 :</a:t>
            </a:r>
            <a:r>
              <a:rPr sz="950" b="0" dirty="0">
                <a:solidFill>
                  <a:srgbClr val="B3B3B3"/>
                </a:solidFill>
              </a:rPr>
              <a:t> </a:t>
            </a:r>
            <a:r>
              <a:rPr sz="950" b="0" dirty="0" err="1">
                <a:solidFill>
                  <a:srgbClr val="B3B3B3"/>
                </a:solidFill>
              </a:rPr>
              <a:t>Optimisation</a:t>
            </a:r>
            <a:r>
              <a:rPr sz="950" b="0" dirty="0">
                <a:solidFill>
                  <a:srgbClr val="B3B3B3"/>
                </a:solidFill>
              </a:rPr>
              <a:t> (</a:t>
            </a:r>
            <a:r>
              <a:rPr sz="950" b="0" dirty="0" err="1">
                <a:solidFill>
                  <a:srgbClr val="B3B3B3"/>
                </a:solidFill>
              </a:rPr>
              <a:t>Mois</a:t>
            </a:r>
            <a:r>
              <a:rPr sz="950" b="0" dirty="0">
                <a:solidFill>
                  <a:srgbClr val="B3B3B3"/>
                </a:solidFill>
              </a:rPr>
              <a:t> 13 à 18) :</a:t>
            </a:r>
            <a:endParaRPr lang="fr-FR" sz="950" dirty="0">
              <a:solidFill>
                <a:srgbClr val="B3B3B3"/>
              </a:solidFill>
            </a:endParaRPr>
          </a:p>
          <a:p>
            <a:pPr marL="628650" lvl="1" indent="-171450">
              <a:spcAft>
                <a:spcPts val="400"/>
              </a:spcAft>
              <a:buFont typeface="Arial" panose="020B0604020202020204" pitchFamily="34" charset="0"/>
              <a:buChar char="•"/>
              <a:defRPr sz="950" b="1">
                <a:solidFill>
                  <a:srgbClr val="FFFFFF"/>
                </a:solidFill>
                <a:latin typeface="Arial"/>
              </a:defRPr>
            </a:pPr>
            <a:r>
              <a:rPr sz="950" b="0" dirty="0" err="1">
                <a:solidFill>
                  <a:srgbClr val="B3B3B3"/>
                </a:solidFill>
              </a:rPr>
              <a:t>Automatisation</a:t>
            </a:r>
            <a:r>
              <a:rPr sz="950" b="0" dirty="0">
                <a:solidFill>
                  <a:srgbClr val="B3B3B3"/>
                </a:solidFill>
              </a:rPr>
              <a:t> du </a:t>
            </a:r>
            <a:r>
              <a:rPr sz="950" b="0" dirty="0" err="1">
                <a:solidFill>
                  <a:srgbClr val="B3B3B3"/>
                </a:solidFill>
              </a:rPr>
              <a:t>lignage</a:t>
            </a:r>
            <a:r>
              <a:rPr sz="950" b="0" dirty="0">
                <a:solidFill>
                  <a:srgbClr val="B3B3B3"/>
                </a:solidFill>
              </a:rPr>
              <a:t> et audits de sécurité ISO 27001.
</a:t>
            </a:r>
            <a:r>
              <a:rPr sz="950" b="0" dirty="0" err="1">
                <a:solidFill>
                  <a:srgbClr val="B3B3B3"/>
                </a:solidFill>
              </a:rPr>
              <a:t>Atteinte</a:t>
            </a:r>
            <a:r>
              <a:rPr sz="950" b="0" dirty="0">
                <a:solidFill>
                  <a:srgbClr val="B3B3B3"/>
                </a:solidFill>
              </a:rPr>
              <a:t> </a:t>
            </a:r>
            <a:r>
              <a:rPr sz="950" b="0" dirty="0" err="1">
                <a:solidFill>
                  <a:srgbClr val="B3B3B3"/>
                </a:solidFill>
              </a:rPr>
              <a:t>visée</a:t>
            </a:r>
            <a:r>
              <a:rPr sz="950" b="0" dirty="0">
                <a:solidFill>
                  <a:srgbClr val="B3B3B3"/>
                </a:solidFill>
              </a:rPr>
              <a:t> du </a:t>
            </a:r>
            <a:r>
              <a:rPr sz="950" b="0" dirty="0" err="1">
                <a:solidFill>
                  <a:srgbClr val="B3B3B3"/>
                </a:solidFill>
              </a:rPr>
              <a:t>niveau</a:t>
            </a:r>
            <a:r>
              <a:rPr sz="950" b="0" dirty="0">
                <a:solidFill>
                  <a:srgbClr val="B3B3B3"/>
                </a:solidFill>
              </a:rPr>
              <a:t> 4 de </a:t>
            </a:r>
            <a:r>
              <a:rPr sz="950" b="0" dirty="0" err="1">
                <a:solidFill>
                  <a:srgbClr val="B3B3B3"/>
                </a:solidFill>
              </a:rPr>
              <a:t>maturité</a:t>
            </a:r>
            <a:r>
              <a:rPr sz="950" b="0" dirty="0">
                <a:solidFill>
                  <a:srgbClr val="B3B3B3"/>
                </a:solidFill>
              </a:rPr>
              <a:t> de Gartner.</a:t>
            </a:r>
          </a:p>
        </p:txBody>
      </p:sp>
      <p:sp>
        <p:nvSpPr>
          <p:cNvPr id="7" name="Rounded Rectangle 6"/>
          <p:cNvSpPr/>
          <p:nvPr/>
        </p:nvSpPr>
        <p:spPr>
          <a:xfrm>
            <a:off x="6217920" y="1371600"/>
            <a:ext cx="539496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82512" y="1536192"/>
            <a:ext cx="5065776" cy="2936701"/>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err="1"/>
              <a:t>Détail</a:t>
            </a:r>
            <a:r>
              <a:rPr dirty="0"/>
              <a:t> </a:t>
            </a:r>
            <a:r>
              <a:rPr dirty="0" err="1"/>
              <a:t>opérationnel</a:t>
            </a:r>
            <a:r>
              <a:rPr dirty="0"/>
              <a:t> par </a:t>
            </a:r>
            <a:r>
              <a:rPr dirty="0" err="1"/>
              <a:t>jalon</a:t>
            </a:r>
            <a:endParaRPr lang="fr-FR" dirty="0"/>
          </a:p>
          <a:p>
            <a:pPr>
              <a:spcAft>
                <a:spcPts val="600"/>
              </a:spcAft>
              <a:defRPr sz="1200" b="1">
                <a:solidFill>
                  <a:srgbClr val="1DB954"/>
                </a:solidFill>
                <a:latin typeface="Arial"/>
              </a:defRPr>
            </a:pPr>
            <a:endParaRPr dirty="0"/>
          </a:p>
          <a:p>
            <a:pPr>
              <a:spcAft>
                <a:spcPts val="400"/>
              </a:spcAft>
              <a:defRPr sz="950" b="1">
                <a:solidFill>
                  <a:srgbClr val="FFFFFF"/>
                </a:solidFill>
                <a:latin typeface="Arial"/>
              </a:defRPr>
            </a:pPr>
            <a:r>
              <a:rPr dirty="0" err="1"/>
              <a:t>Mois</a:t>
            </a:r>
            <a:r>
              <a:rPr dirty="0"/>
              <a:t> 1-2 :</a:t>
            </a:r>
            <a:r>
              <a:rPr sz="950" b="0" dirty="0">
                <a:solidFill>
                  <a:srgbClr val="B3B3B3"/>
                </a:solidFill>
              </a:rPr>
              <a:t> Setup infrastructure (GCP/</a:t>
            </a:r>
            <a:r>
              <a:rPr sz="950" b="0" dirty="0" err="1">
                <a:solidFill>
                  <a:srgbClr val="B3B3B3"/>
                </a:solidFill>
              </a:rPr>
              <a:t>OneTrust</a:t>
            </a:r>
            <a:r>
              <a:rPr sz="950" b="0" dirty="0">
                <a:solidFill>
                  <a:srgbClr val="B3B3B3"/>
                </a:solidFill>
              </a:rPr>
              <a:t>) &amp; formation du </a:t>
            </a:r>
            <a:r>
              <a:rPr sz="950" b="0" dirty="0" err="1">
                <a:solidFill>
                  <a:srgbClr val="B3B3B3"/>
                </a:solidFill>
              </a:rPr>
              <a:t>CoE</a:t>
            </a:r>
            <a:r>
              <a:rPr sz="950" b="0" dirty="0">
                <a:solidFill>
                  <a:srgbClr val="B3B3B3"/>
                </a:solidFill>
              </a:rPr>
              <a:t>.</a:t>
            </a:r>
            <a:endParaRPr lang="fr-FR" sz="950" b="0" dirty="0">
              <a:solidFill>
                <a:srgbClr val="B3B3B3"/>
              </a:solidFill>
            </a:endParaRPr>
          </a:p>
          <a:p>
            <a:pPr>
              <a:spcAft>
                <a:spcPts val="400"/>
              </a:spcAft>
              <a:defRPr sz="950" b="1">
                <a:solidFill>
                  <a:srgbClr val="FFFFFF"/>
                </a:solidFill>
                <a:latin typeface="Arial"/>
              </a:defRPr>
            </a:pPr>
            <a:endParaRPr sz="950" b="0" dirty="0">
              <a:solidFill>
                <a:srgbClr val="B3B3B3"/>
              </a:solidFill>
            </a:endParaRPr>
          </a:p>
          <a:p>
            <a:pPr>
              <a:spcAft>
                <a:spcPts val="400"/>
              </a:spcAft>
              <a:defRPr sz="950" b="1">
                <a:solidFill>
                  <a:srgbClr val="FFFFFF"/>
                </a:solidFill>
                <a:latin typeface="Arial"/>
              </a:defRPr>
            </a:pPr>
            <a:r>
              <a:rPr dirty="0" err="1"/>
              <a:t>Mois</a:t>
            </a:r>
            <a:r>
              <a:rPr dirty="0"/>
              <a:t> 3-4 :</a:t>
            </a:r>
            <a:r>
              <a:rPr sz="950" b="0" dirty="0">
                <a:solidFill>
                  <a:srgbClr val="B3B3B3"/>
                </a:solidFill>
              </a:rPr>
              <a:t> </a:t>
            </a:r>
            <a:r>
              <a:rPr sz="950" b="0" dirty="0" err="1">
                <a:solidFill>
                  <a:srgbClr val="B3B3B3"/>
                </a:solidFill>
              </a:rPr>
              <a:t>Inventaire</a:t>
            </a:r>
            <a:r>
              <a:rPr sz="950" b="0" dirty="0">
                <a:solidFill>
                  <a:srgbClr val="B3B3B3"/>
                </a:solidFill>
              </a:rPr>
              <a:t> Marketing, profiling initial &amp; mapping des données </a:t>
            </a:r>
            <a:r>
              <a:rPr sz="950" b="0" dirty="0" err="1">
                <a:solidFill>
                  <a:srgbClr val="B3B3B3"/>
                </a:solidFill>
              </a:rPr>
              <a:t>sensibles</a:t>
            </a:r>
            <a:r>
              <a:rPr sz="950" b="0" dirty="0">
                <a:solidFill>
                  <a:srgbClr val="B3B3B3"/>
                </a:solidFill>
              </a:rPr>
              <a:t> (PII).</a:t>
            </a:r>
            <a:endParaRPr lang="fr-FR" sz="950" b="0" dirty="0">
              <a:solidFill>
                <a:srgbClr val="B3B3B3"/>
              </a:solidFill>
            </a:endParaRPr>
          </a:p>
          <a:p>
            <a:pPr>
              <a:spcAft>
                <a:spcPts val="400"/>
              </a:spcAft>
              <a:defRPr sz="950" b="1">
                <a:solidFill>
                  <a:srgbClr val="FFFFFF"/>
                </a:solidFill>
                <a:latin typeface="Arial"/>
              </a:defRPr>
            </a:pPr>
            <a:endParaRPr sz="950" b="0" dirty="0">
              <a:solidFill>
                <a:srgbClr val="B3B3B3"/>
              </a:solidFill>
            </a:endParaRPr>
          </a:p>
          <a:p>
            <a:pPr>
              <a:spcAft>
                <a:spcPts val="400"/>
              </a:spcAft>
              <a:defRPr sz="950" b="1">
                <a:solidFill>
                  <a:srgbClr val="FFFFFF"/>
                </a:solidFill>
                <a:latin typeface="Arial"/>
              </a:defRPr>
            </a:pPr>
            <a:r>
              <a:rPr dirty="0" err="1"/>
              <a:t>Mois</a:t>
            </a:r>
            <a:r>
              <a:rPr dirty="0"/>
              <a:t> 5-6 :</a:t>
            </a:r>
            <a:r>
              <a:rPr sz="950" b="0" dirty="0">
                <a:solidFill>
                  <a:srgbClr val="B3B3B3"/>
                </a:solidFill>
              </a:rPr>
              <a:t> </a:t>
            </a:r>
            <a:r>
              <a:rPr sz="950" b="0" dirty="0" err="1">
                <a:solidFill>
                  <a:srgbClr val="B3B3B3"/>
                </a:solidFill>
              </a:rPr>
              <a:t>Implémentation</a:t>
            </a:r>
            <a:r>
              <a:rPr sz="950" b="0" dirty="0">
                <a:solidFill>
                  <a:srgbClr val="B3B3B3"/>
                </a:solidFill>
              </a:rPr>
              <a:t> </a:t>
            </a:r>
            <a:r>
              <a:rPr sz="950" b="0" dirty="0" err="1">
                <a:solidFill>
                  <a:srgbClr val="B3B3B3"/>
                </a:solidFill>
              </a:rPr>
              <a:t>règles</a:t>
            </a:r>
            <a:r>
              <a:rPr sz="950" b="0" dirty="0">
                <a:solidFill>
                  <a:srgbClr val="B3B3B3"/>
                </a:solidFill>
              </a:rPr>
              <a:t> </a:t>
            </a:r>
            <a:r>
              <a:rPr sz="950" b="0" dirty="0" err="1">
                <a:solidFill>
                  <a:srgbClr val="B3B3B3"/>
                </a:solidFill>
              </a:rPr>
              <a:t>qualité</a:t>
            </a:r>
            <a:r>
              <a:rPr sz="950" b="0" dirty="0">
                <a:solidFill>
                  <a:srgbClr val="B3B3B3"/>
                </a:solidFill>
              </a:rPr>
              <a:t>, workflows </a:t>
            </a:r>
            <a:r>
              <a:rPr sz="950" b="0" dirty="0" err="1">
                <a:solidFill>
                  <a:srgbClr val="B3B3B3"/>
                </a:solidFill>
              </a:rPr>
              <a:t>conformité</a:t>
            </a:r>
            <a:r>
              <a:rPr sz="950" b="0" dirty="0">
                <a:solidFill>
                  <a:srgbClr val="B3B3B3"/>
                </a:solidFill>
              </a:rPr>
              <a:t> et publication des dashboards marketing.</a:t>
            </a:r>
            <a:endParaRPr lang="fr-FR" sz="950" b="0" dirty="0">
              <a:solidFill>
                <a:srgbClr val="B3B3B3"/>
              </a:solidFill>
            </a:endParaRPr>
          </a:p>
          <a:p>
            <a:pPr>
              <a:spcAft>
                <a:spcPts val="400"/>
              </a:spcAft>
              <a:defRPr sz="950" b="1">
                <a:solidFill>
                  <a:srgbClr val="FFFFFF"/>
                </a:solidFill>
                <a:latin typeface="Arial"/>
              </a:defRPr>
            </a:pPr>
            <a:endParaRPr sz="950" b="0" dirty="0">
              <a:solidFill>
                <a:srgbClr val="B3B3B3"/>
              </a:solidFill>
            </a:endParaRPr>
          </a:p>
          <a:p>
            <a:pPr>
              <a:spcAft>
                <a:spcPts val="400"/>
              </a:spcAft>
              <a:defRPr sz="950" b="1">
                <a:solidFill>
                  <a:srgbClr val="FFFFFF"/>
                </a:solidFill>
                <a:latin typeface="Arial"/>
              </a:defRPr>
            </a:pPr>
            <a:r>
              <a:rPr dirty="0" err="1"/>
              <a:t>Mois</a:t>
            </a:r>
            <a:r>
              <a:rPr dirty="0"/>
              <a:t> 7-9 :</a:t>
            </a:r>
            <a:r>
              <a:rPr sz="950" b="0" dirty="0">
                <a:solidFill>
                  <a:srgbClr val="B3B3B3"/>
                </a:solidFill>
              </a:rPr>
              <a:t> Extension Finance (PCI-DSS) et Tech (</a:t>
            </a:r>
            <a:r>
              <a:rPr sz="950" b="0" dirty="0" err="1">
                <a:solidFill>
                  <a:srgbClr val="B3B3B3"/>
                </a:solidFill>
              </a:rPr>
              <a:t>Traçabilité</a:t>
            </a:r>
            <a:r>
              <a:rPr sz="950" b="0" dirty="0">
                <a:solidFill>
                  <a:srgbClr val="B3B3B3"/>
                </a:solidFill>
              </a:rPr>
              <a:t> IA).</a:t>
            </a:r>
            <a:endParaRPr lang="fr-FR" sz="950" b="0" dirty="0">
              <a:solidFill>
                <a:srgbClr val="B3B3B3"/>
              </a:solidFill>
            </a:endParaRPr>
          </a:p>
          <a:p>
            <a:pPr>
              <a:spcAft>
                <a:spcPts val="400"/>
              </a:spcAft>
              <a:defRPr sz="950" b="1">
                <a:solidFill>
                  <a:srgbClr val="FFFFFF"/>
                </a:solidFill>
                <a:latin typeface="Arial"/>
              </a:defRPr>
            </a:pPr>
            <a:endParaRPr sz="950" b="0" dirty="0">
              <a:solidFill>
                <a:srgbClr val="B3B3B3"/>
              </a:solidFill>
            </a:endParaRPr>
          </a:p>
          <a:p>
            <a:pPr>
              <a:spcAft>
                <a:spcPts val="400"/>
              </a:spcAft>
              <a:defRPr sz="950" b="1">
                <a:solidFill>
                  <a:srgbClr val="FFFFFF"/>
                </a:solidFill>
                <a:latin typeface="Arial"/>
              </a:defRPr>
            </a:pPr>
            <a:r>
              <a:rPr dirty="0" err="1"/>
              <a:t>Mois</a:t>
            </a:r>
            <a:r>
              <a:rPr dirty="0"/>
              <a:t> 10-12 :</a:t>
            </a:r>
            <a:r>
              <a:rPr sz="950" b="0" dirty="0">
                <a:solidFill>
                  <a:srgbClr val="B3B3B3"/>
                </a:solidFill>
              </a:rPr>
              <a:t> Extension RH et </a:t>
            </a:r>
            <a:r>
              <a:rPr sz="950" b="0" dirty="0" err="1">
                <a:solidFill>
                  <a:srgbClr val="B3B3B3"/>
                </a:solidFill>
              </a:rPr>
              <a:t>optimisation</a:t>
            </a:r>
            <a:r>
              <a:rPr sz="950" b="0" dirty="0">
                <a:solidFill>
                  <a:srgbClr val="B3B3B3"/>
                </a:solidFill>
              </a:rPr>
              <a:t> </a:t>
            </a:r>
            <a:r>
              <a:rPr sz="950" b="0" dirty="0" err="1">
                <a:solidFill>
                  <a:srgbClr val="B3B3B3"/>
                </a:solidFill>
              </a:rPr>
              <a:t>globale</a:t>
            </a:r>
            <a:r>
              <a:rPr sz="950" b="0" dirty="0">
                <a:solidFill>
                  <a:srgbClr val="B3B3B3"/>
                </a:solidFill>
              </a:rPr>
              <a:t> avant rollout.</a:t>
            </a:r>
            <a:endParaRPr lang="fr-FR" sz="950" b="0" dirty="0">
              <a:solidFill>
                <a:srgbClr val="B3B3B3"/>
              </a:solidFill>
            </a:endParaRPr>
          </a:p>
          <a:p>
            <a:pPr>
              <a:spcAft>
                <a:spcPts val="400"/>
              </a:spcAft>
              <a:defRPr sz="950" b="1">
                <a:solidFill>
                  <a:srgbClr val="FFFFFF"/>
                </a:solidFill>
                <a:latin typeface="Arial"/>
              </a:defRPr>
            </a:pPr>
            <a:endParaRPr sz="950" b="0" dirty="0">
              <a:solidFill>
                <a:srgbClr val="B3B3B3"/>
              </a:solidFill>
            </a:endParaRPr>
          </a:p>
          <a:p>
            <a:pPr>
              <a:spcAft>
                <a:spcPts val="400"/>
              </a:spcAft>
              <a:defRPr sz="950" b="1">
                <a:solidFill>
                  <a:srgbClr val="FFFFFF"/>
                </a:solidFill>
                <a:latin typeface="Arial"/>
              </a:defRPr>
            </a:pPr>
            <a:r>
              <a:rPr dirty="0" err="1"/>
              <a:t>Mois</a:t>
            </a:r>
            <a:r>
              <a:rPr dirty="0"/>
              <a:t> 13-18 :</a:t>
            </a:r>
            <a:r>
              <a:rPr sz="950" b="0" dirty="0">
                <a:solidFill>
                  <a:srgbClr val="B3B3B3"/>
                </a:solidFill>
              </a:rPr>
              <a:t> </a:t>
            </a:r>
            <a:r>
              <a:rPr sz="950" b="0" dirty="0" err="1">
                <a:solidFill>
                  <a:srgbClr val="B3B3B3"/>
                </a:solidFill>
              </a:rPr>
              <a:t>Déploiement</a:t>
            </a:r>
            <a:r>
              <a:rPr sz="950" b="0" dirty="0">
                <a:solidFill>
                  <a:srgbClr val="B3B3B3"/>
                </a:solidFill>
              </a:rPr>
              <a:t> global, audit de sécurité ISO 27001, et passage de certification au </a:t>
            </a:r>
            <a:r>
              <a:rPr sz="950" b="0" dirty="0" err="1">
                <a:solidFill>
                  <a:srgbClr val="B3B3B3"/>
                </a:solidFill>
              </a:rPr>
              <a:t>niveau</a:t>
            </a:r>
            <a:r>
              <a:rPr sz="950" b="0" dirty="0">
                <a:solidFill>
                  <a:srgbClr val="B3B3B3"/>
                </a:solidFill>
              </a:rPr>
              <a:t> 'Managed'.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ANNEXE : PRINCIPES DE GOUVERNANCE</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rPr dirty="0"/>
              <a:t>Les 8 principes </a:t>
            </a:r>
            <a:r>
              <a:rPr dirty="0" err="1"/>
              <a:t>fondamentaux</a:t>
            </a:r>
            <a:r>
              <a:rPr dirty="0"/>
              <a:t> &amp; axes DMBOK</a:t>
            </a:r>
          </a:p>
        </p:txBody>
      </p:sp>
      <p:sp>
        <p:nvSpPr>
          <p:cNvPr id="4" name="TextBox 3"/>
          <p:cNvSpPr txBox="1"/>
          <p:nvPr/>
        </p:nvSpPr>
        <p:spPr>
          <a:xfrm>
            <a:off x="548640" y="6400800"/>
            <a:ext cx="11094415" cy="274320"/>
          </a:xfrm>
          <a:prstGeom prst="rect">
            <a:avLst/>
          </a:prstGeom>
          <a:noFill/>
        </p:spPr>
        <p:txBody>
          <a:bodyPr wrap="square" lIns="0" tIns="0" rIns="0" bIns="0">
            <a:spAutoFit/>
          </a:bodyPr>
          <a:lstStyle/>
          <a:p>
            <a:pPr>
              <a:defRPr sz="900">
                <a:solidFill>
                  <a:srgbClr val="B3B3B3"/>
                </a:solidFill>
                <a:latin typeface="Arial"/>
              </a:defRPr>
            </a:pPr>
            <a:r>
              <a:t>Spotify S.A. | Annexes - Données de cadrage &amp; détails techniques                                                                                                        Annexe 4 / 7</a:t>
            </a:r>
          </a:p>
        </p:txBody>
      </p:sp>
      <p:sp>
        <p:nvSpPr>
          <p:cNvPr id="5" name="Rounded Rectangle 4"/>
          <p:cNvSpPr/>
          <p:nvPr/>
        </p:nvSpPr>
        <p:spPr>
          <a:xfrm>
            <a:off x="548640" y="1371600"/>
            <a:ext cx="5303520" cy="1051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536192"/>
            <a:ext cx="4974336" cy="722376"/>
          </a:xfrm>
          <a:prstGeom prst="rect">
            <a:avLst/>
          </a:prstGeom>
          <a:noFill/>
        </p:spPr>
        <p:txBody>
          <a:bodyPr wrap="square" lIns="0" tIns="0" rIns="0" bIns="0">
            <a:spAutoFit/>
          </a:bodyPr>
          <a:lstStyle/>
          <a:p>
            <a:pPr>
              <a:spcAft>
                <a:spcPts val="600"/>
              </a:spcAft>
              <a:defRPr sz="1200" b="1">
                <a:solidFill>
                  <a:srgbClr val="1DB954"/>
                </a:solidFill>
                <a:latin typeface="Arial"/>
              </a:defRPr>
            </a:pPr>
            <a:r>
              <a:t>1. Responsabilité (accountability)</a:t>
            </a:r>
          </a:p>
          <a:p>
            <a:pPr>
              <a:spcAft>
                <a:spcPts val="400"/>
              </a:spcAft>
              <a:defRPr sz="950">
                <a:solidFill>
                  <a:srgbClr val="B3B3B3"/>
                </a:solidFill>
                <a:latin typeface="Arial"/>
              </a:defRPr>
            </a:pPr>
            <a:r>
              <a:t>Définition claire des rôles, encadrée par le DPO et les Data Stewards.</a:t>
            </a:r>
          </a:p>
          <a:p>
            <a:pPr>
              <a:spcAft>
                <a:spcPts val="400"/>
              </a:spcAft>
              <a:defRPr sz="950" b="1">
                <a:solidFill>
                  <a:srgbClr val="FFFFFF"/>
                </a:solidFill>
                <a:latin typeface="Arial"/>
              </a:defRPr>
            </a:pPr>
            <a:r>
              <a:t>**Axe DMBOK correspondant :</a:t>
            </a:r>
            <a:r>
              <a:rPr sz="950" b="0">
                <a:solidFill>
                  <a:srgbClr val="B3B3B3"/>
                </a:solidFill>
              </a:rPr>
              <a:t>** Data Governance</a:t>
            </a:r>
          </a:p>
        </p:txBody>
      </p:sp>
      <p:sp>
        <p:nvSpPr>
          <p:cNvPr id="7" name="Rounded Rectangle 6"/>
          <p:cNvSpPr/>
          <p:nvPr/>
        </p:nvSpPr>
        <p:spPr>
          <a:xfrm>
            <a:off x="548640" y="2606040"/>
            <a:ext cx="5303520" cy="1051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2770632"/>
            <a:ext cx="4974336" cy="722376"/>
          </a:xfrm>
          <a:prstGeom prst="rect">
            <a:avLst/>
          </a:prstGeom>
          <a:noFill/>
        </p:spPr>
        <p:txBody>
          <a:bodyPr wrap="square" lIns="0" tIns="0" rIns="0" bIns="0">
            <a:spAutoFit/>
          </a:bodyPr>
          <a:lstStyle/>
          <a:p>
            <a:pPr>
              <a:spcAft>
                <a:spcPts val="600"/>
              </a:spcAft>
              <a:defRPr sz="1200" b="1">
                <a:solidFill>
                  <a:srgbClr val="1DB954"/>
                </a:solidFill>
                <a:latin typeface="Arial"/>
              </a:defRPr>
            </a:pPr>
            <a:r>
              <a:t>2. Transparence</a:t>
            </a:r>
          </a:p>
          <a:p>
            <a:pPr>
              <a:spcAft>
                <a:spcPts val="400"/>
              </a:spcAft>
              <a:defRPr sz="950">
                <a:solidFill>
                  <a:srgbClr val="B3B3B3"/>
                </a:solidFill>
                <a:latin typeface="Arial"/>
              </a:defRPr>
            </a:pPr>
            <a:r>
              <a:t>Notice d'information claire sur l'usage des données de streaming.</a:t>
            </a:r>
          </a:p>
          <a:p>
            <a:pPr>
              <a:spcAft>
                <a:spcPts val="400"/>
              </a:spcAft>
              <a:defRPr sz="950" b="1">
                <a:solidFill>
                  <a:srgbClr val="FFFFFF"/>
                </a:solidFill>
                <a:latin typeface="Arial"/>
              </a:defRPr>
            </a:pPr>
            <a:r>
              <a:t>**Axe DMBOK correspondant :</a:t>
            </a:r>
            <a:r>
              <a:rPr sz="950" b="0">
                <a:solidFill>
                  <a:srgbClr val="B3B3B3"/>
                </a:solidFill>
              </a:rPr>
              <a:t>** Metadata Management</a:t>
            </a:r>
          </a:p>
        </p:txBody>
      </p:sp>
      <p:sp>
        <p:nvSpPr>
          <p:cNvPr id="9" name="Rounded Rectangle 8"/>
          <p:cNvSpPr/>
          <p:nvPr/>
        </p:nvSpPr>
        <p:spPr>
          <a:xfrm>
            <a:off x="548640" y="3840480"/>
            <a:ext cx="5303520" cy="1051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4005072"/>
            <a:ext cx="4974336" cy="722376"/>
          </a:xfrm>
          <a:prstGeom prst="rect">
            <a:avLst/>
          </a:prstGeom>
          <a:noFill/>
        </p:spPr>
        <p:txBody>
          <a:bodyPr wrap="square" lIns="0" tIns="0" rIns="0" bIns="0">
            <a:spAutoFit/>
          </a:bodyPr>
          <a:lstStyle/>
          <a:p>
            <a:pPr>
              <a:spcAft>
                <a:spcPts val="600"/>
              </a:spcAft>
              <a:defRPr sz="1200" b="1">
                <a:solidFill>
                  <a:srgbClr val="1DB954"/>
                </a:solidFill>
                <a:latin typeface="Arial"/>
              </a:defRPr>
            </a:pPr>
            <a:r>
              <a:t>3. Sécurité des données</a:t>
            </a:r>
          </a:p>
          <a:p>
            <a:pPr>
              <a:spcAft>
                <a:spcPts val="400"/>
              </a:spcAft>
              <a:defRPr sz="950">
                <a:solidFill>
                  <a:srgbClr val="B3B3B3"/>
                </a:solidFill>
                <a:latin typeface="Arial"/>
              </a:defRPr>
            </a:pPr>
            <a:r>
              <a:t>Chiffrement fort (KMS) et cloisonnement des données bancaires.</a:t>
            </a:r>
          </a:p>
          <a:p>
            <a:pPr>
              <a:spcAft>
                <a:spcPts val="400"/>
              </a:spcAft>
              <a:defRPr sz="950" b="1">
                <a:solidFill>
                  <a:srgbClr val="FFFFFF"/>
                </a:solidFill>
                <a:latin typeface="Arial"/>
              </a:defRPr>
            </a:pPr>
            <a:r>
              <a:t>**Axe DMBOK correspondant :</a:t>
            </a:r>
            <a:r>
              <a:rPr sz="950" b="0">
                <a:solidFill>
                  <a:srgbClr val="B3B3B3"/>
                </a:solidFill>
              </a:rPr>
              <a:t>** Data Security Management</a:t>
            </a:r>
          </a:p>
        </p:txBody>
      </p:sp>
      <p:sp>
        <p:nvSpPr>
          <p:cNvPr id="11" name="Rounded Rectangle 10"/>
          <p:cNvSpPr/>
          <p:nvPr/>
        </p:nvSpPr>
        <p:spPr>
          <a:xfrm>
            <a:off x="548640" y="5074920"/>
            <a:ext cx="5303520" cy="1051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5239512"/>
            <a:ext cx="4974336" cy="722376"/>
          </a:xfrm>
          <a:prstGeom prst="rect">
            <a:avLst/>
          </a:prstGeom>
          <a:noFill/>
        </p:spPr>
        <p:txBody>
          <a:bodyPr wrap="square" lIns="0" tIns="0" rIns="0" bIns="0">
            <a:spAutoFit/>
          </a:bodyPr>
          <a:lstStyle/>
          <a:p>
            <a:pPr>
              <a:spcAft>
                <a:spcPts val="600"/>
              </a:spcAft>
              <a:defRPr sz="1200" b="1">
                <a:solidFill>
                  <a:srgbClr val="1DB954"/>
                </a:solidFill>
                <a:latin typeface="Arial"/>
              </a:defRPr>
            </a:pPr>
            <a:r>
              <a:t>4. Qualité continue</a:t>
            </a:r>
          </a:p>
          <a:p>
            <a:pPr>
              <a:spcAft>
                <a:spcPts val="400"/>
              </a:spcAft>
              <a:defRPr sz="950">
                <a:solidFill>
                  <a:srgbClr val="B3B3B3"/>
                </a:solidFill>
                <a:latin typeface="Arial"/>
              </a:defRPr>
            </a:pPr>
            <a:r>
              <a:t>Audits automatiques et nettoyage des métadonnées lors de l'ingestion.</a:t>
            </a:r>
          </a:p>
          <a:p>
            <a:pPr>
              <a:spcAft>
                <a:spcPts val="400"/>
              </a:spcAft>
              <a:defRPr sz="950" b="1">
                <a:solidFill>
                  <a:srgbClr val="FFFFFF"/>
                </a:solidFill>
                <a:latin typeface="Arial"/>
              </a:defRPr>
            </a:pPr>
            <a:r>
              <a:t>**Axe DMBOK correspondant :</a:t>
            </a:r>
            <a:r>
              <a:rPr sz="950" b="0">
                <a:solidFill>
                  <a:srgbClr val="B3B3B3"/>
                </a:solidFill>
              </a:rPr>
              <a:t>** Data Quality Management</a:t>
            </a:r>
          </a:p>
        </p:txBody>
      </p:sp>
      <p:sp>
        <p:nvSpPr>
          <p:cNvPr id="13" name="Rounded Rectangle 12"/>
          <p:cNvSpPr/>
          <p:nvPr/>
        </p:nvSpPr>
        <p:spPr>
          <a:xfrm>
            <a:off x="6217920" y="1371600"/>
            <a:ext cx="5394960" cy="1051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1536192"/>
            <a:ext cx="5065776" cy="722376"/>
          </a:xfrm>
          <a:prstGeom prst="rect">
            <a:avLst/>
          </a:prstGeom>
          <a:noFill/>
        </p:spPr>
        <p:txBody>
          <a:bodyPr wrap="square" lIns="0" tIns="0" rIns="0" bIns="0">
            <a:spAutoFit/>
          </a:bodyPr>
          <a:lstStyle/>
          <a:p>
            <a:pPr>
              <a:spcAft>
                <a:spcPts val="600"/>
              </a:spcAft>
              <a:defRPr sz="1200" b="1">
                <a:solidFill>
                  <a:srgbClr val="1DB954"/>
                </a:solidFill>
                <a:latin typeface="Arial"/>
              </a:defRPr>
            </a:pPr>
            <a:r>
              <a:t>5. Minimisation de la donnée</a:t>
            </a:r>
          </a:p>
          <a:p>
            <a:pPr>
              <a:spcAft>
                <a:spcPts val="400"/>
              </a:spcAft>
              <a:defRPr sz="950">
                <a:solidFill>
                  <a:srgbClr val="B3B3B3"/>
                </a:solidFill>
                <a:latin typeface="Arial"/>
              </a:defRPr>
            </a:pPr>
            <a:r>
              <a:t>Collecte strictly limitée aux besoins du service d'écoute et pub.</a:t>
            </a:r>
          </a:p>
          <a:p>
            <a:pPr>
              <a:spcAft>
                <a:spcPts val="400"/>
              </a:spcAft>
              <a:defRPr sz="950" b="1">
                <a:solidFill>
                  <a:srgbClr val="FFFFFF"/>
                </a:solidFill>
                <a:latin typeface="Arial"/>
              </a:defRPr>
            </a:pPr>
            <a:r>
              <a:t>**Axe DMBOK correspondant :</a:t>
            </a:r>
            <a:r>
              <a:rPr sz="950" b="0">
                <a:solidFill>
                  <a:srgbClr val="B3B3B3"/>
                </a:solidFill>
              </a:rPr>
              <a:t>** Data Architecture &amp; Operations</a:t>
            </a:r>
          </a:p>
        </p:txBody>
      </p:sp>
      <p:sp>
        <p:nvSpPr>
          <p:cNvPr id="15" name="Rounded Rectangle 14"/>
          <p:cNvSpPr/>
          <p:nvPr/>
        </p:nvSpPr>
        <p:spPr>
          <a:xfrm>
            <a:off x="6217920" y="2606040"/>
            <a:ext cx="5394960" cy="1051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82512" y="2770632"/>
            <a:ext cx="5065776" cy="722376"/>
          </a:xfrm>
          <a:prstGeom prst="rect">
            <a:avLst/>
          </a:prstGeom>
          <a:noFill/>
        </p:spPr>
        <p:txBody>
          <a:bodyPr wrap="square" lIns="0" tIns="0" rIns="0" bIns="0">
            <a:spAutoFit/>
          </a:bodyPr>
          <a:lstStyle/>
          <a:p>
            <a:pPr>
              <a:spcAft>
                <a:spcPts val="600"/>
              </a:spcAft>
              <a:defRPr sz="1200" b="1">
                <a:solidFill>
                  <a:srgbClr val="1DB954"/>
                </a:solidFill>
                <a:latin typeface="Arial"/>
              </a:defRPr>
            </a:pPr>
            <a:r>
              <a:t>6. Droits des utilisateurs</a:t>
            </a:r>
          </a:p>
          <a:p>
            <a:pPr>
              <a:spcAft>
                <a:spcPts val="400"/>
              </a:spcAft>
              <a:defRPr sz="950">
                <a:solidFill>
                  <a:srgbClr val="B3B3B3"/>
                </a:solidFill>
                <a:latin typeface="Arial"/>
              </a:defRPr>
            </a:pPr>
            <a:r>
              <a:t>Systèmes automatisés de téléchargement (accès) et effacement.</a:t>
            </a:r>
          </a:p>
          <a:p>
            <a:pPr>
              <a:spcAft>
                <a:spcPts val="400"/>
              </a:spcAft>
              <a:defRPr sz="950" b="1">
                <a:solidFill>
                  <a:srgbClr val="FFFFFF"/>
                </a:solidFill>
                <a:latin typeface="Arial"/>
              </a:defRPr>
            </a:pPr>
            <a:r>
              <a:t>**Axe DMBOK correspondant :</a:t>
            </a:r>
            <a:r>
              <a:rPr sz="950" b="0">
                <a:solidFill>
                  <a:srgbClr val="B3B3B3"/>
                </a:solidFill>
              </a:rPr>
              <a:t>** Document &amp; Content Management</a:t>
            </a:r>
          </a:p>
        </p:txBody>
      </p:sp>
      <p:sp>
        <p:nvSpPr>
          <p:cNvPr id="17" name="Rounded Rectangle 16"/>
          <p:cNvSpPr/>
          <p:nvPr/>
        </p:nvSpPr>
        <p:spPr>
          <a:xfrm>
            <a:off x="6217920" y="3840480"/>
            <a:ext cx="5394960" cy="1051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82512" y="4005072"/>
            <a:ext cx="5065776" cy="722376"/>
          </a:xfrm>
          <a:prstGeom prst="rect">
            <a:avLst/>
          </a:prstGeom>
          <a:noFill/>
        </p:spPr>
        <p:txBody>
          <a:bodyPr wrap="square" lIns="0" tIns="0" rIns="0" bIns="0">
            <a:spAutoFit/>
          </a:bodyPr>
          <a:lstStyle/>
          <a:p>
            <a:pPr>
              <a:spcAft>
                <a:spcPts val="600"/>
              </a:spcAft>
              <a:defRPr sz="1200" b="1">
                <a:solidFill>
                  <a:srgbClr val="1DB954"/>
                </a:solidFill>
                <a:latin typeface="Arial"/>
              </a:defRPr>
            </a:pPr>
            <a:r>
              <a:t>7. Amélioration continue</a:t>
            </a:r>
          </a:p>
          <a:p>
            <a:pPr>
              <a:spcAft>
                <a:spcPts val="400"/>
              </a:spcAft>
              <a:defRPr sz="950">
                <a:solidFill>
                  <a:srgbClr val="B3B3B3"/>
                </a:solidFill>
                <a:latin typeface="Arial"/>
              </a:defRPr>
            </a:pPr>
            <a:r>
              <a:t>Évolution agile face aux nouvelles régulations (ex. EU AI Act).</a:t>
            </a:r>
          </a:p>
          <a:p>
            <a:pPr>
              <a:spcAft>
                <a:spcPts val="400"/>
              </a:spcAft>
              <a:defRPr sz="950" b="1">
                <a:solidFill>
                  <a:srgbClr val="FFFFFF"/>
                </a:solidFill>
                <a:latin typeface="Arial"/>
              </a:defRPr>
            </a:pPr>
            <a:r>
              <a:t>**Axe DMBOK correspondant :</a:t>
            </a:r>
            <a:r>
              <a:rPr sz="950" b="0">
                <a:solidFill>
                  <a:srgbClr val="B3B3B3"/>
                </a:solidFill>
              </a:rPr>
              <a:t>** Data Warehouse &amp; BI Management</a:t>
            </a:r>
          </a:p>
        </p:txBody>
      </p:sp>
      <p:sp>
        <p:nvSpPr>
          <p:cNvPr id="19" name="Rounded Rectangle 18"/>
          <p:cNvSpPr/>
          <p:nvPr/>
        </p:nvSpPr>
        <p:spPr>
          <a:xfrm>
            <a:off x="6217920" y="5074920"/>
            <a:ext cx="5394960" cy="1051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2512" y="5239512"/>
            <a:ext cx="5065776" cy="722376"/>
          </a:xfrm>
          <a:prstGeom prst="rect">
            <a:avLst/>
          </a:prstGeom>
          <a:noFill/>
        </p:spPr>
        <p:txBody>
          <a:bodyPr wrap="square" lIns="0" tIns="0" rIns="0" bIns="0">
            <a:spAutoFit/>
          </a:bodyPr>
          <a:lstStyle/>
          <a:p>
            <a:pPr>
              <a:spcAft>
                <a:spcPts val="600"/>
              </a:spcAft>
              <a:defRPr sz="1200" b="1">
                <a:solidFill>
                  <a:srgbClr val="1DB954"/>
                </a:solidFill>
                <a:latin typeface="Arial"/>
              </a:defRPr>
            </a:pPr>
            <a:r>
              <a:t>8. Éthique algorithmique</a:t>
            </a:r>
          </a:p>
          <a:p>
            <a:pPr>
              <a:spcAft>
                <a:spcPts val="400"/>
              </a:spcAft>
              <a:defRPr sz="950">
                <a:solidFill>
                  <a:srgbClr val="B3B3B3"/>
                </a:solidFill>
                <a:latin typeface="Arial"/>
              </a:defRPr>
            </a:pPr>
            <a:r>
              <a:t>Modèles d'IA transparents, exempts de biais de genre ou d'artiste.</a:t>
            </a:r>
          </a:p>
          <a:p>
            <a:pPr>
              <a:spcAft>
                <a:spcPts val="400"/>
              </a:spcAft>
              <a:defRPr sz="950" b="1">
                <a:solidFill>
                  <a:srgbClr val="FFFFFF"/>
                </a:solidFill>
                <a:latin typeface="Arial"/>
              </a:defRPr>
            </a:pPr>
            <a:r>
              <a:t>**Axe DMBOK correspondant :</a:t>
            </a:r>
            <a:r>
              <a:rPr sz="950" b="0">
                <a:solidFill>
                  <a:srgbClr val="B3B3B3"/>
                </a:solidFill>
              </a:rPr>
              <a:t>** Reference &amp; Master Data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ANNEXE : CYBER-RÉSILIENCE</a:t>
            </a:r>
          </a:p>
        </p:txBody>
      </p:sp>
      <p:sp>
        <p:nvSpPr>
          <p:cNvPr id="3" name="TextBox 2"/>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rPr dirty="0" err="1"/>
              <a:t>Gouvernance</a:t>
            </a:r>
            <a:r>
              <a:rPr dirty="0"/>
              <a:t> de </a:t>
            </a:r>
            <a:r>
              <a:rPr dirty="0" err="1"/>
              <a:t>flotte</a:t>
            </a:r>
            <a:r>
              <a:rPr dirty="0"/>
              <a:t> &amp; plans de secours </a:t>
            </a:r>
            <a:r>
              <a:rPr dirty="0" err="1"/>
              <a:t>d'urgence</a:t>
            </a:r>
            <a:endParaRPr dirty="0"/>
          </a:p>
        </p:txBody>
      </p:sp>
      <p:sp>
        <p:nvSpPr>
          <p:cNvPr id="4" name="TextBox 3"/>
          <p:cNvSpPr txBox="1"/>
          <p:nvPr/>
        </p:nvSpPr>
        <p:spPr>
          <a:xfrm>
            <a:off x="548640" y="6400800"/>
            <a:ext cx="11094415" cy="274320"/>
          </a:xfrm>
          <a:prstGeom prst="rect">
            <a:avLst/>
          </a:prstGeom>
          <a:noFill/>
        </p:spPr>
        <p:txBody>
          <a:bodyPr wrap="square" lIns="0" tIns="0" rIns="0" bIns="0">
            <a:spAutoFit/>
          </a:bodyPr>
          <a:lstStyle/>
          <a:p>
            <a:pPr>
              <a:defRPr sz="900">
                <a:solidFill>
                  <a:srgbClr val="B3B3B3"/>
                </a:solidFill>
                <a:latin typeface="Arial"/>
              </a:defRPr>
            </a:pPr>
            <a:r>
              <a:t>Spotify S.A. | Annexes - Données de cadrage &amp; détails techniques                                                                                                        Annexe 5 / 7</a:t>
            </a:r>
          </a:p>
        </p:txBody>
      </p:sp>
      <p:sp>
        <p:nvSpPr>
          <p:cNvPr id="5" name="Rounded Rectangle 4"/>
          <p:cNvSpPr/>
          <p:nvPr/>
        </p:nvSpPr>
        <p:spPr>
          <a:xfrm>
            <a:off x="548640" y="1371600"/>
            <a:ext cx="347472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324" y="1536192"/>
            <a:ext cx="3145536" cy="2731517"/>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err="1"/>
              <a:t>Gouvernance</a:t>
            </a:r>
            <a:r>
              <a:rPr dirty="0"/>
              <a:t> de </a:t>
            </a:r>
            <a:r>
              <a:rPr dirty="0" err="1"/>
              <a:t>flotte</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Concept de Fleet Management :</a:t>
            </a:r>
            <a:r>
              <a:rPr sz="950" b="0" dirty="0">
                <a:solidFill>
                  <a:srgbClr val="B3B3B3"/>
                </a:solidFill>
              </a:rPr>
              <a:t> Surveillance continue de </a:t>
            </a:r>
            <a:r>
              <a:rPr sz="950" b="0" dirty="0" err="1">
                <a:solidFill>
                  <a:srgbClr val="B3B3B3"/>
                </a:solidFill>
              </a:rPr>
              <a:t>l'intégrité</a:t>
            </a:r>
            <a:r>
              <a:rPr sz="950" b="0" dirty="0">
                <a:solidFill>
                  <a:srgbClr val="B3B3B3"/>
                </a:solidFill>
              </a:rPr>
              <a:t> de la </a:t>
            </a:r>
            <a:r>
              <a:rPr sz="950" b="0" dirty="0" err="1">
                <a:solidFill>
                  <a:srgbClr val="B3B3B3"/>
                </a:solidFill>
              </a:rPr>
              <a:t>flotte</a:t>
            </a:r>
            <a:r>
              <a:rPr sz="950" b="0" dirty="0">
                <a:solidFill>
                  <a:srgbClr val="B3B3B3"/>
                </a:solidFill>
              </a:rPr>
              <a:t> de pipelines </a:t>
            </a:r>
            <a:r>
              <a:rPr sz="950" b="0" dirty="0" err="1">
                <a:solidFill>
                  <a:srgbClr val="B3B3B3"/>
                </a:solidFill>
              </a:rPr>
              <a:t>plutôt</a:t>
            </a:r>
            <a:r>
              <a:rPr sz="950" b="0" dirty="0">
                <a:solidFill>
                  <a:srgbClr val="B3B3B3"/>
                </a:solidFill>
              </a:rPr>
              <a:t> </a:t>
            </a:r>
            <a:r>
              <a:rPr sz="950" b="0" dirty="0" err="1">
                <a:solidFill>
                  <a:srgbClr val="B3B3B3"/>
                </a:solidFill>
              </a:rPr>
              <a:t>que</a:t>
            </a:r>
            <a:r>
              <a:rPr sz="950" b="0" dirty="0">
                <a:solidFill>
                  <a:srgbClr val="B3B3B3"/>
                </a:solidFill>
              </a:rPr>
              <a:t> des audits </a:t>
            </a:r>
            <a:r>
              <a:rPr sz="950" b="0" dirty="0" err="1">
                <a:solidFill>
                  <a:srgbClr val="B3B3B3"/>
                </a:solidFill>
              </a:rPr>
              <a:t>manuels</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Les Golden States :</a:t>
            </a:r>
            <a:r>
              <a:rPr sz="950" b="0" dirty="0">
                <a:solidFill>
                  <a:srgbClr val="B3B3B3"/>
                </a:solidFill>
              </a:rPr>
              <a:t> </a:t>
            </a:r>
            <a:r>
              <a:rPr sz="950" b="0" dirty="0" err="1">
                <a:solidFill>
                  <a:srgbClr val="B3B3B3"/>
                </a:solidFill>
              </a:rPr>
              <a:t>Définition</a:t>
            </a:r>
            <a:r>
              <a:rPr sz="950" b="0" dirty="0">
                <a:solidFill>
                  <a:srgbClr val="B3B3B3"/>
                </a:solidFill>
              </a:rPr>
              <a:t> de configurations types de </a:t>
            </a:r>
            <a:r>
              <a:rPr sz="950" b="0" dirty="0" err="1">
                <a:solidFill>
                  <a:srgbClr val="B3B3B3"/>
                </a:solidFill>
              </a:rPr>
              <a:t>référence</a:t>
            </a:r>
            <a:r>
              <a:rPr sz="950" b="0" dirty="0">
                <a:solidFill>
                  <a:srgbClr val="B3B3B3"/>
                </a:solidFill>
              </a:rPr>
              <a:t> (versions </a:t>
            </a:r>
            <a:r>
              <a:rPr sz="950" b="0" dirty="0" err="1">
                <a:solidFill>
                  <a:srgbClr val="B3B3B3"/>
                </a:solidFill>
              </a:rPr>
              <a:t>logicielles</a:t>
            </a:r>
            <a:r>
              <a:rPr sz="950" b="0" dirty="0">
                <a:solidFill>
                  <a:srgbClr val="B3B3B3"/>
                </a:solidFill>
              </a:rPr>
              <a:t>, </a:t>
            </a:r>
            <a:r>
              <a:rPr sz="950" b="0" dirty="0" err="1">
                <a:solidFill>
                  <a:srgbClr val="B3B3B3"/>
                </a:solidFill>
              </a:rPr>
              <a:t>schémas</a:t>
            </a:r>
            <a:r>
              <a:rPr sz="950" b="0" dirty="0">
                <a:solidFill>
                  <a:srgbClr val="B3B3B3"/>
                </a:solidFill>
              </a:rPr>
              <a:t> de validation).</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Alerte </a:t>
            </a:r>
            <a:r>
              <a:rPr dirty="0" err="1"/>
              <a:t>Automatique</a:t>
            </a:r>
            <a:r>
              <a:rPr dirty="0"/>
              <a:t> :</a:t>
            </a:r>
            <a:r>
              <a:rPr sz="950" b="0" dirty="0">
                <a:solidFill>
                  <a:srgbClr val="B3B3B3"/>
                </a:solidFill>
              </a:rPr>
              <a:t> </a:t>
            </a:r>
            <a:r>
              <a:rPr sz="950" b="0" dirty="0" err="1">
                <a:solidFill>
                  <a:srgbClr val="B3B3B3"/>
                </a:solidFill>
              </a:rPr>
              <a:t>Détection</a:t>
            </a:r>
            <a:r>
              <a:rPr sz="950" b="0" dirty="0">
                <a:solidFill>
                  <a:srgbClr val="B3B3B3"/>
                </a:solidFill>
              </a:rPr>
              <a:t> </a:t>
            </a:r>
            <a:r>
              <a:rPr sz="950" b="0" dirty="0" err="1">
                <a:solidFill>
                  <a:srgbClr val="B3B3B3"/>
                </a:solidFill>
              </a:rPr>
              <a:t>immédiate</a:t>
            </a:r>
            <a:r>
              <a:rPr sz="950" b="0" dirty="0">
                <a:solidFill>
                  <a:srgbClr val="B3B3B3"/>
                </a:solidFill>
              </a:rPr>
              <a:t> des </a:t>
            </a:r>
            <a:r>
              <a:rPr sz="950" b="0" dirty="0" err="1">
                <a:solidFill>
                  <a:srgbClr val="B3B3B3"/>
                </a:solidFill>
              </a:rPr>
              <a:t>dérives</a:t>
            </a:r>
            <a:r>
              <a:rPr sz="950" b="0" dirty="0">
                <a:solidFill>
                  <a:srgbClr val="B3B3B3"/>
                </a:solidFill>
              </a:rPr>
              <a:t> techniques </a:t>
            </a:r>
            <a:r>
              <a:rPr sz="950" b="0" dirty="0" err="1">
                <a:solidFill>
                  <a:srgbClr val="B3B3B3"/>
                </a:solidFill>
              </a:rPr>
              <a:t>dès</a:t>
            </a:r>
            <a:r>
              <a:rPr sz="950" b="0" dirty="0">
                <a:solidFill>
                  <a:srgbClr val="B3B3B3"/>
                </a:solidFill>
              </a:rPr>
              <a:t> la phase de commit sous Git.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Eco-conception :</a:t>
            </a:r>
            <a:r>
              <a:rPr sz="950" b="0" dirty="0">
                <a:solidFill>
                  <a:srgbClr val="B3B3B3"/>
                </a:solidFill>
              </a:rPr>
              <a:t> </a:t>
            </a:r>
            <a:r>
              <a:rPr sz="950" b="0" dirty="0" err="1">
                <a:solidFill>
                  <a:srgbClr val="B3B3B3"/>
                </a:solidFill>
              </a:rPr>
              <a:t>Élimination</a:t>
            </a:r>
            <a:r>
              <a:rPr sz="950" b="0" dirty="0">
                <a:solidFill>
                  <a:srgbClr val="B3B3B3"/>
                </a:solidFill>
              </a:rPr>
              <a:t> des pipelines </a:t>
            </a:r>
            <a:r>
              <a:rPr sz="950" b="0" dirty="0" err="1">
                <a:solidFill>
                  <a:srgbClr val="B3B3B3"/>
                </a:solidFill>
              </a:rPr>
              <a:t>dormants</a:t>
            </a:r>
            <a:r>
              <a:rPr sz="950" b="0" dirty="0">
                <a:solidFill>
                  <a:srgbClr val="B3B3B3"/>
                </a:solidFill>
              </a:rPr>
              <a:t> </a:t>
            </a:r>
            <a:r>
              <a:rPr sz="950" b="0" dirty="0" err="1">
                <a:solidFill>
                  <a:srgbClr val="B3B3B3"/>
                </a:solidFill>
              </a:rPr>
              <a:t>ou</a:t>
            </a:r>
            <a:r>
              <a:rPr sz="950" b="0" dirty="0">
                <a:solidFill>
                  <a:srgbClr val="B3B3B3"/>
                </a:solidFill>
              </a:rPr>
              <a:t> non-</a:t>
            </a:r>
            <a:r>
              <a:rPr sz="950" b="0" dirty="0" err="1">
                <a:solidFill>
                  <a:srgbClr val="B3B3B3"/>
                </a:solidFill>
              </a:rPr>
              <a:t>utilisés</a:t>
            </a:r>
            <a:r>
              <a:rPr sz="950" b="0" dirty="0">
                <a:solidFill>
                  <a:srgbClr val="B3B3B3"/>
                </a:solidFill>
              </a:rPr>
              <a:t>.</a:t>
            </a:r>
          </a:p>
        </p:txBody>
      </p:sp>
      <p:sp>
        <p:nvSpPr>
          <p:cNvPr id="7" name="Rounded Rectangle 6"/>
          <p:cNvSpPr/>
          <p:nvPr/>
        </p:nvSpPr>
        <p:spPr>
          <a:xfrm>
            <a:off x="4297680" y="1371600"/>
            <a:ext cx="3657600" cy="4572000"/>
          </a:xfrm>
          <a:prstGeom prst="roundRect">
            <a:avLst/>
          </a:prstGeom>
          <a:solidFill>
            <a:srgbClr val="2D1414"/>
          </a:solid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36775" y="1536192"/>
            <a:ext cx="3328416" cy="2585323"/>
          </a:xfrm>
          <a:prstGeom prst="rect">
            <a:avLst/>
          </a:prstGeom>
          <a:noFill/>
        </p:spPr>
        <p:txBody>
          <a:bodyPr wrap="square" lIns="0" tIns="0" rIns="0" bIns="0">
            <a:spAutoFit/>
          </a:bodyPr>
          <a:lstStyle/>
          <a:p>
            <a:pPr>
              <a:spcAft>
                <a:spcPts val="600"/>
              </a:spcAft>
              <a:defRPr sz="1200" b="1">
                <a:solidFill>
                  <a:srgbClr val="FFFFFF"/>
                </a:solidFill>
                <a:latin typeface="Arial"/>
              </a:defRPr>
            </a:pPr>
            <a:r>
              <a:rPr dirty="0" err="1"/>
              <a:t>Protocole</a:t>
            </a:r>
            <a:r>
              <a:rPr dirty="0"/>
              <a:t> Alpha : </a:t>
            </a:r>
            <a:r>
              <a:rPr dirty="0" err="1"/>
              <a:t>fuite</a:t>
            </a:r>
            <a:r>
              <a:rPr dirty="0"/>
              <a:t> de PII</a:t>
            </a:r>
            <a:endParaRPr lang="fr-FR" dirty="0"/>
          </a:p>
          <a:p>
            <a:pPr>
              <a:spcAft>
                <a:spcPts val="600"/>
              </a:spcAft>
              <a:defRPr sz="1200" b="1">
                <a:solidFill>
                  <a:srgbClr val="FFFFFF"/>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Gestion </a:t>
            </a:r>
            <a:r>
              <a:rPr dirty="0" err="1"/>
              <a:t>d'Incident</a:t>
            </a:r>
            <a:r>
              <a:rPr dirty="0"/>
              <a:t> (72 </a:t>
            </a:r>
            <a:r>
              <a:rPr dirty="0" err="1"/>
              <a:t>heures</a:t>
            </a:r>
            <a:r>
              <a:rPr dirty="0"/>
              <a:t>) :</a:t>
            </a:r>
            <a:r>
              <a:rPr sz="950" b="0" dirty="0">
                <a:solidFill>
                  <a:srgbClr val="B3B3B3"/>
                </a:solidFill>
              </a:rPr>
              <a:t> </a:t>
            </a:r>
            <a:r>
              <a:rPr sz="950" b="0" dirty="0" err="1">
                <a:solidFill>
                  <a:srgbClr val="B3B3B3"/>
                </a:solidFill>
              </a:rPr>
              <a:t>S'active</a:t>
            </a:r>
            <a:r>
              <a:rPr sz="950" b="0" dirty="0">
                <a:solidFill>
                  <a:srgbClr val="B3B3B3"/>
                </a:solidFill>
              </a:rPr>
              <a:t> </a:t>
            </a:r>
            <a:r>
              <a:rPr sz="950" b="0" dirty="0" err="1">
                <a:solidFill>
                  <a:srgbClr val="B3B3B3"/>
                </a:solidFill>
              </a:rPr>
              <a:t>dès</a:t>
            </a:r>
            <a:r>
              <a:rPr sz="950" b="0" dirty="0">
                <a:solidFill>
                  <a:srgbClr val="B3B3B3"/>
                </a:solidFill>
              </a:rPr>
              <a:t> la </a:t>
            </a:r>
            <a:r>
              <a:rPr sz="950" b="0" dirty="0" err="1">
                <a:solidFill>
                  <a:srgbClr val="B3B3B3"/>
                </a:solidFill>
              </a:rPr>
              <a:t>détection</a:t>
            </a:r>
            <a:r>
              <a:rPr sz="950" b="0" dirty="0">
                <a:solidFill>
                  <a:srgbClr val="B3B3B3"/>
                </a:solidFill>
              </a:rPr>
              <a:t> </a:t>
            </a:r>
            <a:r>
              <a:rPr sz="950" b="0" dirty="0" err="1">
                <a:solidFill>
                  <a:srgbClr val="B3B3B3"/>
                </a:solidFill>
              </a:rPr>
              <a:t>d'une</a:t>
            </a:r>
            <a:r>
              <a:rPr sz="950" b="0" dirty="0">
                <a:solidFill>
                  <a:srgbClr val="B3B3B3"/>
                </a:solidFill>
              </a:rPr>
              <a:t> </a:t>
            </a:r>
            <a:r>
              <a:rPr sz="950" b="0" dirty="0" err="1">
                <a:solidFill>
                  <a:srgbClr val="B3B3B3"/>
                </a:solidFill>
              </a:rPr>
              <a:t>fuite</a:t>
            </a:r>
            <a:r>
              <a:rPr sz="950" b="0" dirty="0">
                <a:solidFill>
                  <a:srgbClr val="B3B3B3"/>
                </a:solidFill>
              </a:rPr>
              <a:t> de données </a:t>
            </a:r>
            <a:r>
              <a:rPr sz="950" b="0" dirty="0" err="1">
                <a:solidFill>
                  <a:srgbClr val="B3B3B3"/>
                </a:solidFill>
              </a:rPr>
              <a:t>personnelles</a:t>
            </a:r>
            <a:r>
              <a:rPr sz="950" b="0" dirty="0">
                <a:solidFill>
                  <a:srgbClr val="B3B3B3"/>
                </a:solidFill>
              </a:rPr>
              <a:t> par le SIEM Splunk.</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T0 + 2 </a:t>
            </a:r>
            <a:r>
              <a:rPr dirty="0" err="1"/>
              <a:t>heures</a:t>
            </a:r>
            <a:r>
              <a:rPr dirty="0"/>
              <a:t> :</a:t>
            </a:r>
            <a:r>
              <a:rPr sz="950" b="0" dirty="0">
                <a:solidFill>
                  <a:srgbClr val="B3B3B3"/>
                </a:solidFill>
              </a:rPr>
              <a:t> Isolation réseau </a:t>
            </a:r>
            <a:r>
              <a:rPr sz="950" b="0" dirty="0" err="1">
                <a:solidFill>
                  <a:srgbClr val="B3B3B3"/>
                </a:solidFill>
              </a:rPr>
              <a:t>stricte</a:t>
            </a:r>
            <a:r>
              <a:rPr sz="950" b="0" dirty="0">
                <a:solidFill>
                  <a:srgbClr val="B3B3B3"/>
                </a:solidFill>
              </a:rPr>
              <a:t> des instances, </a:t>
            </a:r>
            <a:r>
              <a:rPr sz="950" b="0" dirty="0" err="1">
                <a:solidFill>
                  <a:srgbClr val="B3B3B3"/>
                </a:solidFill>
              </a:rPr>
              <a:t>désactivation</a:t>
            </a:r>
            <a:r>
              <a:rPr sz="950" b="0" dirty="0">
                <a:solidFill>
                  <a:srgbClr val="B3B3B3"/>
                </a:solidFill>
              </a:rPr>
              <a:t> </a:t>
            </a:r>
            <a:r>
              <a:rPr sz="950" b="0" dirty="0" err="1">
                <a:solidFill>
                  <a:srgbClr val="B3B3B3"/>
                </a:solidFill>
              </a:rPr>
              <a:t>immédiate</a:t>
            </a:r>
            <a:r>
              <a:rPr sz="950" b="0" dirty="0">
                <a:solidFill>
                  <a:srgbClr val="B3B3B3"/>
                </a:solidFill>
              </a:rPr>
              <a:t> des </a:t>
            </a:r>
            <a:r>
              <a:rPr sz="950" b="0" dirty="0" err="1">
                <a:solidFill>
                  <a:srgbClr val="B3B3B3"/>
                </a:solidFill>
              </a:rPr>
              <a:t>clés</a:t>
            </a:r>
            <a:r>
              <a:rPr sz="950" b="0" dirty="0">
                <a:solidFill>
                  <a:srgbClr val="B3B3B3"/>
                </a:solidFill>
              </a:rPr>
              <a:t> </a:t>
            </a:r>
            <a:r>
              <a:rPr sz="950" b="0" dirty="0" err="1">
                <a:solidFill>
                  <a:srgbClr val="B3B3B3"/>
                </a:solidFill>
              </a:rPr>
              <a:t>d'accès</a:t>
            </a:r>
            <a:r>
              <a:rPr sz="950" b="0" dirty="0">
                <a:solidFill>
                  <a:srgbClr val="B3B3B3"/>
                </a:solidFill>
              </a:rPr>
              <a:t> compromises.</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T0 + 24 </a:t>
            </a:r>
            <a:r>
              <a:rPr dirty="0" err="1"/>
              <a:t>heures</a:t>
            </a:r>
            <a:r>
              <a:rPr dirty="0"/>
              <a:t> :</a:t>
            </a:r>
            <a:r>
              <a:rPr sz="950" b="0" dirty="0">
                <a:solidFill>
                  <a:srgbClr val="B3B3B3"/>
                </a:solidFill>
              </a:rPr>
              <a:t> Notification </a:t>
            </a:r>
            <a:r>
              <a:rPr sz="950" b="0" dirty="0" err="1">
                <a:solidFill>
                  <a:srgbClr val="B3B3B3"/>
                </a:solidFill>
              </a:rPr>
              <a:t>légale</a:t>
            </a:r>
            <a:r>
              <a:rPr sz="950" b="0" dirty="0">
                <a:solidFill>
                  <a:srgbClr val="B3B3B3"/>
                </a:solidFill>
              </a:rPr>
              <a:t> </a:t>
            </a:r>
            <a:r>
              <a:rPr sz="950" b="0" dirty="0" err="1">
                <a:solidFill>
                  <a:srgbClr val="B3B3B3"/>
                </a:solidFill>
              </a:rPr>
              <a:t>détaillée</a:t>
            </a:r>
            <a:r>
              <a:rPr sz="950" b="0" dirty="0">
                <a:solidFill>
                  <a:srgbClr val="B3B3B3"/>
                </a:solidFill>
              </a:rPr>
              <a:t> </a:t>
            </a:r>
            <a:r>
              <a:rPr sz="950" b="0" dirty="0" err="1">
                <a:solidFill>
                  <a:srgbClr val="B3B3B3"/>
                </a:solidFill>
              </a:rPr>
              <a:t>rédigée</a:t>
            </a:r>
            <a:r>
              <a:rPr sz="950" b="0" dirty="0">
                <a:solidFill>
                  <a:srgbClr val="B3B3B3"/>
                </a:solidFill>
              </a:rPr>
              <a:t> par le DPO pour la CNIL (Art. 33 du RGPD).</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T0 + 48 </a:t>
            </a:r>
            <a:r>
              <a:rPr dirty="0" err="1"/>
              <a:t>heures</a:t>
            </a:r>
            <a:r>
              <a:rPr dirty="0"/>
              <a:t> :</a:t>
            </a:r>
            <a:r>
              <a:rPr sz="950" b="0" dirty="0">
                <a:solidFill>
                  <a:srgbClr val="B3B3B3"/>
                </a:solidFill>
              </a:rPr>
              <a:t> Notification </a:t>
            </a:r>
            <a:r>
              <a:rPr sz="950" b="0" dirty="0" err="1">
                <a:solidFill>
                  <a:srgbClr val="B3B3B3"/>
                </a:solidFill>
              </a:rPr>
              <a:t>individuelle</a:t>
            </a:r>
            <a:r>
              <a:rPr sz="950" b="0" dirty="0">
                <a:solidFill>
                  <a:srgbClr val="B3B3B3"/>
                </a:solidFill>
              </a:rPr>
              <a:t> des </a:t>
            </a:r>
            <a:r>
              <a:rPr sz="950" b="0" dirty="0" err="1">
                <a:solidFill>
                  <a:srgbClr val="B3B3B3"/>
                </a:solidFill>
              </a:rPr>
              <a:t>abonnés</a:t>
            </a:r>
            <a:r>
              <a:rPr sz="950" b="0" dirty="0">
                <a:solidFill>
                  <a:srgbClr val="B3B3B3"/>
                </a:solidFill>
              </a:rPr>
              <a:t> </a:t>
            </a:r>
            <a:r>
              <a:rPr sz="950" b="0" dirty="0" err="1">
                <a:solidFill>
                  <a:srgbClr val="B3B3B3"/>
                </a:solidFill>
              </a:rPr>
              <a:t>concernés</a:t>
            </a:r>
            <a:r>
              <a:rPr sz="950" b="0" dirty="0">
                <a:solidFill>
                  <a:srgbClr val="B3B3B3"/>
                </a:solidFill>
              </a:rPr>
              <a:t> et </a:t>
            </a:r>
            <a:r>
              <a:rPr sz="950" b="0" dirty="0" err="1">
                <a:solidFill>
                  <a:srgbClr val="B3B3B3"/>
                </a:solidFill>
              </a:rPr>
              <a:t>renouvellement</a:t>
            </a:r>
            <a:r>
              <a:rPr sz="950" b="0" dirty="0">
                <a:solidFill>
                  <a:srgbClr val="B3B3B3"/>
                </a:solidFill>
              </a:rPr>
              <a:t> </a:t>
            </a:r>
            <a:r>
              <a:rPr sz="950" b="0" dirty="0" err="1">
                <a:solidFill>
                  <a:srgbClr val="B3B3B3"/>
                </a:solidFill>
              </a:rPr>
              <a:t>obligatoire</a:t>
            </a:r>
            <a:r>
              <a:rPr sz="950" b="0" dirty="0">
                <a:solidFill>
                  <a:srgbClr val="B3B3B3"/>
                </a:solidFill>
              </a:rPr>
              <a:t> de </a:t>
            </a:r>
            <a:r>
              <a:rPr sz="950" b="0" dirty="0" err="1">
                <a:solidFill>
                  <a:srgbClr val="B3B3B3"/>
                </a:solidFill>
              </a:rPr>
              <a:t>leurs</a:t>
            </a:r>
            <a:r>
              <a:rPr sz="950" b="0" dirty="0">
                <a:solidFill>
                  <a:srgbClr val="B3B3B3"/>
                </a:solidFill>
              </a:rPr>
              <a:t> mots de passe.</a:t>
            </a:r>
          </a:p>
        </p:txBody>
      </p:sp>
      <p:sp>
        <p:nvSpPr>
          <p:cNvPr id="9" name="Rounded Rectangle 8"/>
          <p:cNvSpPr/>
          <p:nvPr/>
        </p:nvSpPr>
        <p:spPr>
          <a:xfrm>
            <a:off x="8138160" y="1371600"/>
            <a:ext cx="347472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02752" y="1536192"/>
            <a:ext cx="3145536" cy="2336537"/>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err="1"/>
              <a:t>Protocole</a:t>
            </a:r>
            <a:r>
              <a:rPr dirty="0"/>
              <a:t> Beta : KMS DRP</a:t>
            </a:r>
            <a:endParaRPr lang="fr-FR" dirty="0"/>
          </a:p>
          <a:p>
            <a:pPr>
              <a:spcAft>
                <a:spcPts val="600"/>
              </a:spcAft>
              <a:defRPr sz="1200" b="1">
                <a:solidFill>
                  <a:srgbClr val="1DB954"/>
                </a:solidFill>
                <a:latin typeface="Arial"/>
              </a:defRPr>
            </a:pPr>
            <a:endParaRPr dirty="0"/>
          </a:p>
          <a:p>
            <a:pPr marL="171450" indent="-171450">
              <a:spcAft>
                <a:spcPts val="400"/>
              </a:spcAft>
              <a:buFont typeface="Arial" panose="020B0604020202020204" pitchFamily="34" charset="0"/>
              <a:buChar char="•"/>
              <a:defRPr sz="950" b="1">
                <a:solidFill>
                  <a:srgbClr val="FFFFFF"/>
                </a:solidFill>
                <a:latin typeface="Arial"/>
              </a:defRPr>
            </a:pPr>
            <a:r>
              <a:rPr dirty="0"/>
              <a:t>Plan de Reprise après </a:t>
            </a:r>
            <a:r>
              <a:rPr dirty="0" err="1"/>
              <a:t>Sinistre</a:t>
            </a:r>
            <a:r>
              <a:rPr dirty="0"/>
              <a:t> :</a:t>
            </a:r>
            <a:r>
              <a:rPr sz="950" b="0" dirty="0">
                <a:solidFill>
                  <a:srgbClr val="B3B3B3"/>
                </a:solidFill>
              </a:rPr>
              <a:t> </a:t>
            </a:r>
            <a:r>
              <a:rPr sz="950" b="0" dirty="0" err="1">
                <a:solidFill>
                  <a:srgbClr val="B3B3B3"/>
                </a:solidFill>
              </a:rPr>
              <a:t>Procédure</a:t>
            </a:r>
            <a:r>
              <a:rPr sz="950" b="0" dirty="0">
                <a:solidFill>
                  <a:srgbClr val="B3B3B3"/>
                </a:solidFill>
              </a:rPr>
              <a:t> de </a:t>
            </a:r>
            <a:r>
              <a:rPr sz="950" b="0" dirty="0" err="1">
                <a:solidFill>
                  <a:srgbClr val="B3B3B3"/>
                </a:solidFill>
              </a:rPr>
              <a:t>recouvrement</a:t>
            </a:r>
            <a:r>
              <a:rPr sz="950" b="0" dirty="0">
                <a:solidFill>
                  <a:srgbClr val="B3B3B3"/>
                </a:solidFill>
              </a:rPr>
              <a:t> de la </a:t>
            </a:r>
            <a:r>
              <a:rPr sz="950" b="0" dirty="0" err="1">
                <a:solidFill>
                  <a:srgbClr val="B3B3B3"/>
                </a:solidFill>
              </a:rPr>
              <a:t>clé</a:t>
            </a:r>
            <a:r>
              <a:rPr sz="950" b="0" dirty="0">
                <a:solidFill>
                  <a:srgbClr val="B3B3B3"/>
                </a:solidFill>
              </a:rPr>
              <a:t> </a:t>
            </a:r>
            <a:r>
              <a:rPr sz="950" b="0" dirty="0" err="1">
                <a:solidFill>
                  <a:srgbClr val="B3B3B3"/>
                </a:solidFill>
              </a:rPr>
              <a:t>maîtresse</a:t>
            </a:r>
            <a:r>
              <a:rPr sz="950" b="0" dirty="0">
                <a:solidFill>
                  <a:srgbClr val="B3B3B3"/>
                </a:solidFill>
              </a:rPr>
              <a:t> Cloud KMS </a:t>
            </a:r>
            <a:r>
              <a:rPr sz="950" b="0" dirty="0" err="1">
                <a:solidFill>
                  <a:srgbClr val="B3B3B3"/>
                </a:solidFill>
              </a:rPr>
              <a:t>détruite</a:t>
            </a:r>
            <a:r>
              <a:rPr sz="950" b="0" dirty="0">
                <a:solidFill>
                  <a:srgbClr val="B3B3B3"/>
                </a:solidFill>
              </a:rPr>
              <a:t> </a:t>
            </a:r>
            <a:r>
              <a:rPr sz="950" b="0" dirty="0" err="1">
                <a:solidFill>
                  <a:srgbClr val="B3B3B3"/>
                </a:solidFill>
              </a:rPr>
              <a:t>ou</a:t>
            </a:r>
            <a:r>
              <a:rPr sz="950" b="0" dirty="0">
                <a:solidFill>
                  <a:srgbClr val="B3B3B3"/>
                </a:solidFill>
              </a:rPr>
              <a:t> </a:t>
            </a:r>
            <a:r>
              <a:rPr sz="950" b="0" dirty="0" err="1">
                <a:solidFill>
                  <a:srgbClr val="B3B3B3"/>
                </a:solidFill>
              </a:rPr>
              <a:t>corrompue</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a:t>Secret </a:t>
            </a:r>
            <a:r>
              <a:rPr dirty="0" err="1"/>
              <a:t>Partagé</a:t>
            </a:r>
            <a:r>
              <a:rPr dirty="0"/>
              <a:t> :</a:t>
            </a:r>
            <a:r>
              <a:rPr sz="950" b="0" dirty="0">
                <a:solidFill>
                  <a:srgbClr val="B3B3B3"/>
                </a:solidFill>
              </a:rPr>
              <a:t> </a:t>
            </a:r>
            <a:r>
              <a:rPr sz="950" b="0" dirty="0" err="1">
                <a:solidFill>
                  <a:srgbClr val="B3B3B3"/>
                </a:solidFill>
              </a:rPr>
              <a:t>Recomposition</a:t>
            </a:r>
            <a:r>
              <a:rPr sz="950" b="0" dirty="0">
                <a:solidFill>
                  <a:srgbClr val="B3B3B3"/>
                </a:solidFill>
              </a:rPr>
              <a:t> de la </a:t>
            </a:r>
            <a:r>
              <a:rPr sz="950" b="0" dirty="0" err="1">
                <a:solidFill>
                  <a:srgbClr val="B3B3B3"/>
                </a:solidFill>
              </a:rPr>
              <a:t>clé</a:t>
            </a:r>
            <a:r>
              <a:rPr sz="950" b="0" dirty="0">
                <a:solidFill>
                  <a:srgbClr val="B3B3B3"/>
                </a:solidFill>
              </a:rPr>
              <a:t> </a:t>
            </a:r>
            <a:r>
              <a:rPr sz="950" b="0" dirty="0" err="1">
                <a:solidFill>
                  <a:srgbClr val="B3B3B3"/>
                </a:solidFill>
              </a:rPr>
              <a:t>d'administration</a:t>
            </a:r>
            <a:r>
              <a:rPr sz="950" b="0" dirty="0">
                <a:solidFill>
                  <a:srgbClr val="B3B3B3"/>
                </a:solidFill>
              </a:rPr>
              <a:t> via la </a:t>
            </a:r>
            <a:r>
              <a:rPr sz="950" b="0" dirty="0" err="1">
                <a:solidFill>
                  <a:srgbClr val="B3B3B3"/>
                </a:solidFill>
              </a:rPr>
              <a:t>clé</a:t>
            </a:r>
            <a:r>
              <a:rPr sz="950" b="0" dirty="0">
                <a:solidFill>
                  <a:srgbClr val="B3B3B3"/>
                </a:solidFill>
              </a:rPr>
              <a:t> de Shamir (</a:t>
            </a:r>
            <a:r>
              <a:rPr sz="950" b="0" dirty="0" err="1">
                <a:solidFill>
                  <a:srgbClr val="B3B3B3"/>
                </a:solidFill>
              </a:rPr>
              <a:t>requiert</a:t>
            </a:r>
            <a:r>
              <a:rPr sz="950" b="0" dirty="0">
                <a:solidFill>
                  <a:srgbClr val="B3B3B3"/>
                </a:solidFill>
              </a:rPr>
              <a:t> 3 des 5 </a:t>
            </a:r>
            <a:r>
              <a:rPr sz="950" b="0" dirty="0" err="1">
                <a:solidFill>
                  <a:srgbClr val="B3B3B3"/>
                </a:solidFill>
              </a:rPr>
              <a:t>administrateurs</a:t>
            </a:r>
            <a:r>
              <a:rPr sz="950" b="0" dirty="0">
                <a:solidFill>
                  <a:srgbClr val="B3B3B3"/>
                </a:solidFill>
              </a:rPr>
              <a:t> </a:t>
            </a:r>
            <a:r>
              <a:rPr sz="950" b="0" dirty="0" err="1">
                <a:solidFill>
                  <a:srgbClr val="B3B3B3"/>
                </a:solidFill>
              </a:rPr>
              <a:t>certifiés</a:t>
            </a:r>
            <a:r>
              <a:rPr sz="950" b="0" dirty="0">
                <a:solidFill>
                  <a:srgbClr val="B3B3B3"/>
                </a:solidFill>
              </a:rPr>
              <a:t>).</a:t>
            </a:r>
            <a:endParaRPr lang="fr-F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endParaRPr sz="950" b="0" dirty="0">
              <a:solidFill>
                <a:srgbClr val="B3B3B3"/>
              </a:solidFill>
            </a:endParaRPr>
          </a:p>
          <a:p>
            <a:pPr marL="171450" indent="-171450">
              <a:spcAft>
                <a:spcPts val="400"/>
              </a:spcAft>
              <a:buFont typeface="Arial" panose="020B0604020202020204" pitchFamily="34" charset="0"/>
              <a:buChar char="•"/>
              <a:defRPr sz="950" b="1">
                <a:solidFill>
                  <a:srgbClr val="FFFFFF"/>
                </a:solidFill>
                <a:latin typeface="Arial"/>
              </a:defRPr>
            </a:pPr>
            <a:r>
              <a:rPr dirty="0" err="1"/>
              <a:t>Objectifs</a:t>
            </a:r>
            <a:r>
              <a:rPr dirty="0"/>
              <a:t> Techniques de DRP :</a:t>
            </a:r>
            <a:r>
              <a:rPr sz="950" b="0" dirty="0">
                <a:solidFill>
                  <a:srgbClr val="B3B3B3"/>
                </a:solidFill>
              </a:rPr>
              <a:t> Restauration des services et bases de données </a:t>
            </a:r>
            <a:r>
              <a:rPr sz="950" b="0" dirty="0" err="1">
                <a:solidFill>
                  <a:srgbClr val="B3B3B3"/>
                </a:solidFill>
              </a:rPr>
              <a:t>profils</a:t>
            </a:r>
            <a:r>
              <a:rPr sz="950" b="0" dirty="0">
                <a:solidFill>
                  <a:srgbClr val="B3B3B3"/>
                </a:solidFill>
              </a:rPr>
              <a:t> </a:t>
            </a:r>
            <a:r>
              <a:rPr sz="950" b="0" dirty="0" err="1">
                <a:solidFill>
                  <a:srgbClr val="B3B3B3"/>
                </a:solidFill>
              </a:rPr>
              <a:t>utilisateurs</a:t>
            </a:r>
            <a:r>
              <a:rPr sz="950" b="0" dirty="0">
                <a:solidFill>
                  <a:srgbClr val="B3B3B3"/>
                </a:solidFill>
              </a:rPr>
              <a:t> avec un RPO &lt; 2 </a:t>
            </a:r>
            <a:r>
              <a:rPr sz="950" b="0" dirty="0" err="1">
                <a:solidFill>
                  <a:srgbClr val="B3B3B3"/>
                </a:solidFill>
              </a:rPr>
              <a:t>heures</a:t>
            </a:r>
            <a:r>
              <a:rPr sz="950" b="0" dirty="0">
                <a:solidFill>
                  <a:srgbClr val="B3B3B3"/>
                </a:solidFill>
              </a:rPr>
              <a:t> et un RTO &lt; 8 </a:t>
            </a:r>
            <a:r>
              <a:rPr sz="950" b="0" dirty="0" err="1">
                <a:solidFill>
                  <a:srgbClr val="B3B3B3"/>
                </a:solidFill>
              </a:rPr>
              <a:t>heures</a:t>
            </a:r>
            <a:r>
              <a:rPr sz="950" b="0" dirty="0">
                <a:solidFill>
                  <a:srgbClr val="B3B3B3"/>
                </a:solidFill>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34F19BE6-3CDC-1371-9F14-7C002D3AFE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15B887-985C-DC10-B04E-A27195D3B22C}"/>
              </a:ext>
            </a:extLst>
          </p:cNvPr>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ANNEXE : CYBER-RÉSILIENCE</a:t>
            </a:r>
          </a:p>
        </p:txBody>
      </p:sp>
      <p:sp>
        <p:nvSpPr>
          <p:cNvPr id="3" name="TextBox 2">
            <a:extLst>
              <a:ext uri="{FF2B5EF4-FFF2-40B4-BE49-F238E27FC236}">
                <a16:creationId xmlns:a16="http://schemas.microsoft.com/office/drawing/2014/main" id="{1E4AA098-6AC6-224F-8902-3BCA7039A3B9}"/>
              </a:ext>
            </a:extLst>
          </p:cNvPr>
          <p:cNvSpPr txBox="1"/>
          <p:nvPr/>
        </p:nvSpPr>
        <p:spPr>
          <a:xfrm>
            <a:off x="548640" y="502920"/>
            <a:ext cx="10058400" cy="731520"/>
          </a:xfrm>
          <a:prstGeom prst="rect">
            <a:avLst/>
          </a:prstGeom>
          <a:noFill/>
        </p:spPr>
        <p:txBody>
          <a:bodyPr wrap="square" lIns="0" tIns="0" rIns="0" bIns="0">
            <a:spAutoFit/>
          </a:bodyPr>
          <a:lstStyle/>
          <a:p>
            <a:pPr>
              <a:defRPr sz="2600" b="1">
                <a:solidFill>
                  <a:srgbClr val="FFFFFF"/>
                </a:solidFill>
                <a:latin typeface="Arial"/>
              </a:defRPr>
            </a:pPr>
            <a:r>
              <a:t>Chronologie d'urgence pas-à-pas : protocole Alpha</a:t>
            </a:r>
          </a:p>
        </p:txBody>
      </p:sp>
      <p:sp>
        <p:nvSpPr>
          <p:cNvPr id="4" name="TextBox 3">
            <a:extLst>
              <a:ext uri="{FF2B5EF4-FFF2-40B4-BE49-F238E27FC236}">
                <a16:creationId xmlns:a16="http://schemas.microsoft.com/office/drawing/2014/main" id="{FC50EFA2-FB9A-1C45-6AD1-5CC5F185F4A7}"/>
              </a:ext>
            </a:extLst>
          </p:cNvPr>
          <p:cNvSpPr txBox="1"/>
          <p:nvPr/>
        </p:nvSpPr>
        <p:spPr>
          <a:xfrm>
            <a:off x="548640" y="6400800"/>
            <a:ext cx="11094415" cy="274320"/>
          </a:xfrm>
          <a:prstGeom prst="rect">
            <a:avLst/>
          </a:prstGeom>
          <a:noFill/>
        </p:spPr>
        <p:txBody>
          <a:bodyPr wrap="square" lIns="0" tIns="0" rIns="0" bIns="0">
            <a:spAutoFit/>
          </a:bodyPr>
          <a:lstStyle/>
          <a:p>
            <a:pPr>
              <a:defRPr sz="900">
                <a:solidFill>
                  <a:srgbClr val="B3B3B3"/>
                </a:solidFill>
                <a:latin typeface="Arial"/>
              </a:defRPr>
            </a:pPr>
            <a:r>
              <a:t>Spotify S.A. | Annexes - Données de cadrage &amp; détails techniques                                                                                                        Annexe 6 / 7</a:t>
            </a:r>
          </a:p>
        </p:txBody>
      </p:sp>
      <p:sp>
        <p:nvSpPr>
          <p:cNvPr id="5" name="Rounded Rectangle 4">
            <a:extLst>
              <a:ext uri="{FF2B5EF4-FFF2-40B4-BE49-F238E27FC236}">
                <a16:creationId xmlns:a16="http://schemas.microsoft.com/office/drawing/2014/main" id="{3D48C1D8-4981-597F-CCDC-D5ACA3F017B0}"/>
              </a:ext>
            </a:extLst>
          </p:cNvPr>
          <p:cNvSpPr/>
          <p:nvPr/>
        </p:nvSpPr>
        <p:spPr>
          <a:xfrm>
            <a:off x="548640" y="1463040"/>
            <a:ext cx="1645920" cy="4480560"/>
          </a:xfrm>
          <a:prstGeom prst="roundRect">
            <a:avLst/>
          </a:prstGeom>
          <a:solidFill>
            <a:srgbClr val="2D1414"/>
          </a:solidFill>
          <a:ln w="19050">
            <a:solidFill>
              <a:srgbClr val="9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E8A1FBF-8A26-B9E5-AAAA-299BD4A57FDD}"/>
              </a:ext>
            </a:extLst>
          </p:cNvPr>
          <p:cNvSpPr txBox="1"/>
          <p:nvPr/>
        </p:nvSpPr>
        <p:spPr>
          <a:xfrm>
            <a:off x="713232" y="1627632"/>
            <a:ext cx="1316736" cy="4151376"/>
          </a:xfrm>
          <a:prstGeom prst="rect">
            <a:avLst/>
          </a:prstGeom>
          <a:noFill/>
        </p:spPr>
        <p:txBody>
          <a:bodyPr wrap="square" lIns="0" tIns="0" rIns="0" bIns="0">
            <a:spAutoFit/>
          </a:bodyPr>
          <a:lstStyle/>
          <a:p>
            <a:pPr>
              <a:spcAft>
                <a:spcPts val="600"/>
              </a:spcAft>
              <a:defRPr sz="1200" b="1">
                <a:solidFill>
                  <a:srgbClr val="FFFFFF"/>
                </a:solidFill>
                <a:latin typeface="Arial"/>
              </a:defRPr>
            </a:pPr>
            <a:r>
              <a:t>T0 : détection</a:t>
            </a:r>
          </a:p>
          <a:p>
            <a:pPr>
              <a:spcAft>
                <a:spcPts val="400"/>
              </a:spcAft>
              <a:defRPr sz="950">
                <a:solidFill>
                  <a:srgbClr val="FFFFFF"/>
                </a:solidFill>
                <a:latin typeface="Arial"/>
              </a:defRPr>
            </a:pPr>
            <a:r>
              <a:t>**Alerte Intrusion**</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Splunk SIEM détecte un volume sortant anormal</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Alerte critique transmise au CDO et DPO</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Réunion immédiate de la cellule de crise</a:t>
            </a:r>
          </a:p>
        </p:txBody>
      </p:sp>
      <p:sp>
        <p:nvSpPr>
          <p:cNvPr id="7" name="Right Arrow 6">
            <a:extLst>
              <a:ext uri="{FF2B5EF4-FFF2-40B4-BE49-F238E27FC236}">
                <a16:creationId xmlns:a16="http://schemas.microsoft.com/office/drawing/2014/main" id="{0D80858D-0439-D50E-A60F-B0CD58DA14BB}"/>
              </a:ext>
            </a:extLst>
          </p:cNvPr>
          <p:cNvSpPr/>
          <p:nvPr/>
        </p:nvSpPr>
        <p:spPr>
          <a:xfrm>
            <a:off x="2240280" y="3291840"/>
            <a:ext cx="109728" cy="91440"/>
          </a:xfrm>
          <a:prstGeom prst="rightArrow">
            <a:avLst/>
          </a:prstGeom>
          <a:solidFill>
            <a:srgbClr val="B3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B91FFD43-5B48-4FA8-5435-A34BC6E20309}"/>
              </a:ext>
            </a:extLst>
          </p:cNvPr>
          <p:cNvSpPr/>
          <p:nvPr/>
        </p:nvSpPr>
        <p:spPr>
          <a:xfrm>
            <a:off x="2377440" y="1463040"/>
            <a:ext cx="1645920" cy="4480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A8D01460-2A21-5F66-47FF-6B5FEEEF2F95}"/>
              </a:ext>
            </a:extLst>
          </p:cNvPr>
          <p:cNvSpPr txBox="1"/>
          <p:nvPr/>
        </p:nvSpPr>
        <p:spPr>
          <a:xfrm>
            <a:off x="2542032" y="1627632"/>
            <a:ext cx="1316736" cy="4151376"/>
          </a:xfrm>
          <a:prstGeom prst="rect">
            <a:avLst/>
          </a:prstGeom>
          <a:noFill/>
        </p:spPr>
        <p:txBody>
          <a:bodyPr wrap="square" lIns="0" tIns="0" rIns="0" bIns="0">
            <a:spAutoFit/>
          </a:bodyPr>
          <a:lstStyle/>
          <a:p>
            <a:pPr>
              <a:spcAft>
                <a:spcPts val="600"/>
              </a:spcAft>
              <a:defRPr sz="1200" b="1">
                <a:solidFill>
                  <a:srgbClr val="1DB954"/>
                </a:solidFill>
                <a:latin typeface="Arial"/>
              </a:defRPr>
            </a:pPr>
            <a:r>
              <a:t>T0+2h : confinement</a:t>
            </a:r>
          </a:p>
          <a:p>
            <a:pPr>
              <a:spcAft>
                <a:spcPts val="400"/>
              </a:spcAft>
              <a:defRPr sz="950">
                <a:solidFill>
                  <a:srgbClr val="FFFFFF"/>
                </a:solidFill>
                <a:latin typeface="Arial"/>
              </a:defRPr>
            </a:pPr>
            <a:r>
              <a:t>**Technique**</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Isolement réseau des bases compromises</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Révocation générale de toutes les clés d'API</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Rotation des accès administrateurs</a:t>
            </a:r>
          </a:p>
        </p:txBody>
      </p:sp>
      <p:sp>
        <p:nvSpPr>
          <p:cNvPr id="10" name="Right Arrow 9">
            <a:extLst>
              <a:ext uri="{FF2B5EF4-FFF2-40B4-BE49-F238E27FC236}">
                <a16:creationId xmlns:a16="http://schemas.microsoft.com/office/drawing/2014/main" id="{9D2B2C1E-A5C5-A56F-8AD9-E9DD97BD3ADC}"/>
              </a:ext>
            </a:extLst>
          </p:cNvPr>
          <p:cNvSpPr/>
          <p:nvPr/>
        </p:nvSpPr>
        <p:spPr>
          <a:xfrm>
            <a:off x="4069080" y="3291840"/>
            <a:ext cx="109728" cy="91440"/>
          </a:xfrm>
          <a:prstGeom prst="rightArrow">
            <a:avLst/>
          </a:prstGeom>
          <a:solidFill>
            <a:srgbClr val="B3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0C121721-5BA6-8855-C186-518D72E10206}"/>
              </a:ext>
            </a:extLst>
          </p:cNvPr>
          <p:cNvSpPr/>
          <p:nvPr/>
        </p:nvSpPr>
        <p:spPr>
          <a:xfrm>
            <a:off x="4206240" y="1463040"/>
            <a:ext cx="1645920" cy="4480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A1970F1E-5FDC-C4A6-165C-EB59AB3621D1}"/>
              </a:ext>
            </a:extLst>
          </p:cNvPr>
          <p:cNvSpPr txBox="1"/>
          <p:nvPr/>
        </p:nvSpPr>
        <p:spPr>
          <a:xfrm>
            <a:off x="4370832" y="1627632"/>
            <a:ext cx="1316736" cy="4151376"/>
          </a:xfrm>
          <a:prstGeom prst="rect">
            <a:avLst/>
          </a:prstGeom>
          <a:noFill/>
        </p:spPr>
        <p:txBody>
          <a:bodyPr wrap="square" lIns="0" tIns="0" rIns="0" bIns="0">
            <a:spAutoFit/>
          </a:bodyPr>
          <a:lstStyle/>
          <a:p>
            <a:pPr>
              <a:spcAft>
                <a:spcPts val="600"/>
              </a:spcAft>
              <a:defRPr sz="1200" b="1">
                <a:solidFill>
                  <a:srgbClr val="1DB954"/>
                </a:solidFill>
                <a:latin typeface="Arial"/>
              </a:defRPr>
            </a:pPr>
            <a:r>
              <a:t>T0+4h : confinement</a:t>
            </a:r>
          </a:p>
          <a:p>
            <a:pPr>
              <a:spcAft>
                <a:spcPts val="400"/>
              </a:spcAft>
              <a:defRPr sz="950">
                <a:solidFill>
                  <a:srgbClr val="FFFFFF"/>
                </a:solidFill>
                <a:latin typeface="Arial"/>
              </a:defRPr>
            </a:pPr>
            <a:r>
              <a:t>**Résolution**</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Application immédiate d'un correctif (hotfix)</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Validation de la fin de l'intrusion</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Confinement total avéré par le SOC</a:t>
            </a:r>
          </a:p>
        </p:txBody>
      </p:sp>
      <p:sp>
        <p:nvSpPr>
          <p:cNvPr id="13" name="Right Arrow 12">
            <a:extLst>
              <a:ext uri="{FF2B5EF4-FFF2-40B4-BE49-F238E27FC236}">
                <a16:creationId xmlns:a16="http://schemas.microsoft.com/office/drawing/2014/main" id="{2DE57370-C425-B996-E590-25EC424DBCCE}"/>
              </a:ext>
            </a:extLst>
          </p:cNvPr>
          <p:cNvSpPr/>
          <p:nvPr/>
        </p:nvSpPr>
        <p:spPr>
          <a:xfrm>
            <a:off x="5897880" y="3291840"/>
            <a:ext cx="109728" cy="91440"/>
          </a:xfrm>
          <a:prstGeom prst="rightArrow">
            <a:avLst/>
          </a:prstGeom>
          <a:solidFill>
            <a:srgbClr val="B3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a:extLst>
              <a:ext uri="{FF2B5EF4-FFF2-40B4-BE49-F238E27FC236}">
                <a16:creationId xmlns:a16="http://schemas.microsoft.com/office/drawing/2014/main" id="{62328FFE-E65C-F588-9F23-0EBCBE995627}"/>
              </a:ext>
            </a:extLst>
          </p:cNvPr>
          <p:cNvSpPr/>
          <p:nvPr/>
        </p:nvSpPr>
        <p:spPr>
          <a:xfrm>
            <a:off x="6035040" y="1463040"/>
            <a:ext cx="1645920" cy="448056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6ABFF66-B9EE-47FD-39E8-6722F8A03C27}"/>
              </a:ext>
            </a:extLst>
          </p:cNvPr>
          <p:cNvSpPr txBox="1"/>
          <p:nvPr/>
        </p:nvSpPr>
        <p:spPr>
          <a:xfrm>
            <a:off x="6199632" y="1627632"/>
            <a:ext cx="1316736" cy="4151376"/>
          </a:xfrm>
          <a:prstGeom prst="rect">
            <a:avLst/>
          </a:prstGeom>
          <a:noFill/>
        </p:spPr>
        <p:txBody>
          <a:bodyPr wrap="square" lIns="0" tIns="0" rIns="0" bIns="0">
            <a:spAutoFit/>
          </a:bodyPr>
          <a:lstStyle/>
          <a:p>
            <a:pPr>
              <a:spcAft>
                <a:spcPts val="600"/>
              </a:spcAft>
              <a:defRPr sz="1200" b="1">
                <a:solidFill>
                  <a:srgbClr val="1DB954"/>
                </a:solidFill>
                <a:latin typeface="Arial"/>
              </a:defRPr>
            </a:pPr>
            <a:r>
              <a:t>T0+12h : évaluation</a:t>
            </a:r>
          </a:p>
          <a:p>
            <a:pPr>
              <a:spcAft>
                <a:spcPts val="400"/>
              </a:spcAft>
              <a:defRPr sz="950">
                <a:solidFill>
                  <a:srgbClr val="FFFFFF"/>
                </a:solidFill>
                <a:latin typeface="Arial"/>
              </a:defRPr>
            </a:pPr>
            <a:r>
              <a:t>**Analyse d'Impact**</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Mesure précise de la fuite (champs PII)</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Consignation rigoureuse dans le registre des violations de données</a:t>
            </a:r>
          </a:p>
        </p:txBody>
      </p:sp>
      <p:sp>
        <p:nvSpPr>
          <p:cNvPr id="16" name="Right Arrow 15">
            <a:extLst>
              <a:ext uri="{FF2B5EF4-FFF2-40B4-BE49-F238E27FC236}">
                <a16:creationId xmlns:a16="http://schemas.microsoft.com/office/drawing/2014/main" id="{C1B82D0A-0A4C-089C-1D83-1A42DF6E7B7A}"/>
              </a:ext>
            </a:extLst>
          </p:cNvPr>
          <p:cNvSpPr/>
          <p:nvPr/>
        </p:nvSpPr>
        <p:spPr>
          <a:xfrm>
            <a:off x="7726679" y="3291840"/>
            <a:ext cx="109728" cy="91440"/>
          </a:xfrm>
          <a:prstGeom prst="rightArrow">
            <a:avLst/>
          </a:prstGeom>
          <a:solidFill>
            <a:srgbClr val="B3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FF2B5EF4-FFF2-40B4-BE49-F238E27FC236}">
                <a16:creationId xmlns:a16="http://schemas.microsoft.com/office/drawing/2014/main" id="{EAB73B8E-2BCC-B14E-4881-FD6426EA3E99}"/>
              </a:ext>
            </a:extLst>
          </p:cNvPr>
          <p:cNvSpPr/>
          <p:nvPr/>
        </p:nvSpPr>
        <p:spPr>
          <a:xfrm>
            <a:off x="7863840" y="1463040"/>
            <a:ext cx="1645920" cy="4480560"/>
          </a:xfrm>
          <a:prstGeom prst="roundRect">
            <a:avLst/>
          </a:prstGeom>
          <a:solidFill>
            <a:srgbClr val="1E1E1E"/>
          </a:solidFill>
          <a:ln w="19050">
            <a:solidFill>
              <a:srgbClr val="1DB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C6762562-66B1-6DCA-E678-E76EF818B441}"/>
              </a:ext>
            </a:extLst>
          </p:cNvPr>
          <p:cNvSpPr txBox="1"/>
          <p:nvPr/>
        </p:nvSpPr>
        <p:spPr>
          <a:xfrm>
            <a:off x="8028432" y="1627632"/>
            <a:ext cx="1316736" cy="4151376"/>
          </a:xfrm>
          <a:prstGeom prst="rect">
            <a:avLst/>
          </a:prstGeom>
          <a:noFill/>
        </p:spPr>
        <p:txBody>
          <a:bodyPr wrap="square" lIns="0" tIns="0" rIns="0" bIns="0">
            <a:spAutoFit/>
          </a:bodyPr>
          <a:lstStyle/>
          <a:p>
            <a:pPr>
              <a:spcAft>
                <a:spcPts val="600"/>
              </a:spcAft>
              <a:defRPr sz="1200" b="1">
                <a:solidFill>
                  <a:srgbClr val="1DB954"/>
                </a:solidFill>
                <a:latin typeface="Arial"/>
              </a:defRPr>
            </a:pPr>
            <a:r>
              <a:t>T0+24h : CNIL</a:t>
            </a:r>
          </a:p>
          <a:p>
            <a:pPr>
              <a:spcAft>
                <a:spcPts val="400"/>
              </a:spcAft>
              <a:defRPr sz="950">
                <a:solidFill>
                  <a:srgbClr val="FFFFFF"/>
                </a:solidFill>
                <a:latin typeface="Arial"/>
              </a:defRPr>
            </a:pPr>
            <a:r>
              <a:t>**Réglementaire**</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Soumission officielle de la violation à la CNIL par le DPO</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Respect strict du délai des 72h (Art. 33 RGPD)</a:t>
            </a:r>
          </a:p>
        </p:txBody>
      </p:sp>
      <p:sp>
        <p:nvSpPr>
          <p:cNvPr id="19" name="Right Arrow 18">
            <a:extLst>
              <a:ext uri="{FF2B5EF4-FFF2-40B4-BE49-F238E27FC236}">
                <a16:creationId xmlns:a16="http://schemas.microsoft.com/office/drawing/2014/main" id="{7140A272-A3B1-570C-6967-875770834FF3}"/>
              </a:ext>
            </a:extLst>
          </p:cNvPr>
          <p:cNvSpPr/>
          <p:nvPr/>
        </p:nvSpPr>
        <p:spPr>
          <a:xfrm>
            <a:off x="9555480" y="3291840"/>
            <a:ext cx="109728" cy="91440"/>
          </a:xfrm>
          <a:prstGeom prst="rightArrow">
            <a:avLst/>
          </a:prstGeom>
          <a:solidFill>
            <a:srgbClr val="B3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a:extLst>
              <a:ext uri="{FF2B5EF4-FFF2-40B4-BE49-F238E27FC236}">
                <a16:creationId xmlns:a16="http://schemas.microsoft.com/office/drawing/2014/main" id="{EECD5806-E4B8-BBE9-623D-D4A805A49F26}"/>
              </a:ext>
            </a:extLst>
          </p:cNvPr>
          <p:cNvSpPr/>
          <p:nvPr/>
        </p:nvSpPr>
        <p:spPr>
          <a:xfrm>
            <a:off x="9692640" y="1463040"/>
            <a:ext cx="1920240" cy="4480560"/>
          </a:xfrm>
          <a:prstGeom prst="roundRect">
            <a:avLst/>
          </a:prstGeom>
          <a:solidFill>
            <a:srgbClr val="142D19"/>
          </a:solidFill>
          <a:ln w="19050">
            <a:solidFill>
              <a:srgbClr val="289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C9FCC535-DD04-1FAB-AD75-B21955D498E3}"/>
              </a:ext>
            </a:extLst>
          </p:cNvPr>
          <p:cNvSpPr txBox="1"/>
          <p:nvPr/>
        </p:nvSpPr>
        <p:spPr>
          <a:xfrm>
            <a:off x="9857232" y="1627632"/>
            <a:ext cx="1591056" cy="4151376"/>
          </a:xfrm>
          <a:prstGeom prst="rect">
            <a:avLst/>
          </a:prstGeom>
          <a:noFill/>
        </p:spPr>
        <p:txBody>
          <a:bodyPr wrap="square" lIns="0" tIns="0" rIns="0" bIns="0">
            <a:spAutoFit/>
          </a:bodyPr>
          <a:lstStyle/>
          <a:p>
            <a:pPr>
              <a:spcAft>
                <a:spcPts val="600"/>
              </a:spcAft>
              <a:defRPr sz="1200" b="1">
                <a:solidFill>
                  <a:srgbClr val="FFFFFF"/>
                </a:solidFill>
                <a:latin typeface="Arial"/>
              </a:defRPr>
            </a:pPr>
            <a:r>
              <a:t>T0+48h : abonnés</a:t>
            </a:r>
          </a:p>
          <a:p>
            <a:pPr>
              <a:spcAft>
                <a:spcPts val="400"/>
              </a:spcAft>
              <a:defRPr sz="950">
                <a:solidFill>
                  <a:srgbClr val="FFFFFF"/>
                </a:solidFill>
                <a:latin typeface="Arial"/>
              </a:defRPr>
            </a:pPr>
            <a:r>
              <a:t>**Notification**</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Envoi de mails individuels transparents</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Réinitialisation forcée des mots de passe</a:t>
            </a:r>
          </a:p>
          <a:p>
            <a:pPr>
              <a:spcAft>
                <a:spcPts val="400"/>
              </a:spcAft>
              <a:defRPr sz="950">
                <a:solidFill>
                  <a:srgbClr val="B3B3B3"/>
                </a:solidFill>
                <a:latin typeface="Arial"/>
              </a:defRPr>
            </a:pPr>
            <a:endParaRPr/>
          </a:p>
          <a:p>
            <a:pPr>
              <a:spcAft>
                <a:spcPts val="400"/>
              </a:spcAft>
              <a:defRPr sz="950">
                <a:solidFill>
                  <a:srgbClr val="B3B3B3"/>
                </a:solidFill>
                <a:latin typeface="Arial"/>
              </a:defRPr>
            </a:pPr>
            <a:r>
              <a:t>- Ouverture de la cellule de support dédiée</a:t>
            </a:r>
          </a:p>
        </p:txBody>
      </p:sp>
    </p:spTree>
    <p:extLst>
      <p:ext uri="{BB962C8B-B14F-4D97-AF65-F5344CB8AC3E}">
        <p14:creationId xmlns:p14="http://schemas.microsoft.com/office/powerpoint/2010/main" val="4021093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9144000" cy="274320"/>
          </a:xfrm>
          <a:prstGeom prst="rect">
            <a:avLst/>
          </a:prstGeom>
          <a:noFill/>
        </p:spPr>
        <p:txBody>
          <a:bodyPr wrap="square" lIns="0" tIns="0" rIns="0" bIns="0">
            <a:spAutoFit/>
          </a:bodyPr>
          <a:lstStyle/>
          <a:p>
            <a:pPr>
              <a:defRPr sz="1000" b="1">
                <a:solidFill>
                  <a:srgbClr val="1DB954"/>
                </a:solidFill>
                <a:latin typeface="Arial"/>
              </a:defRPr>
            </a:pPr>
            <a:r>
              <a:t>ANNEXE : CONCLUSION &amp; OUVERTURE</a:t>
            </a:r>
          </a:p>
        </p:txBody>
      </p:sp>
      <p:sp>
        <p:nvSpPr>
          <p:cNvPr id="3" name="TextBox 2"/>
          <p:cNvSpPr txBox="1"/>
          <p:nvPr/>
        </p:nvSpPr>
        <p:spPr>
          <a:xfrm>
            <a:off x="548640" y="502920"/>
            <a:ext cx="10058400" cy="400110"/>
          </a:xfrm>
          <a:prstGeom prst="rect">
            <a:avLst/>
          </a:prstGeom>
          <a:noFill/>
        </p:spPr>
        <p:txBody>
          <a:bodyPr wrap="square" lIns="0" tIns="0" rIns="0" bIns="0">
            <a:spAutoFit/>
          </a:bodyPr>
          <a:lstStyle/>
          <a:p>
            <a:pPr>
              <a:defRPr sz="2600" b="1">
                <a:solidFill>
                  <a:srgbClr val="FFFFFF"/>
                </a:solidFill>
                <a:latin typeface="Arial"/>
              </a:defRPr>
            </a:pPr>
            <a:r>
              <a:rPr dirty="0" err="1"/>
              <a:t>Valorisation</a:t>
            </a:r>
            <a:r>
              <a:rPr dirty="0"/>
              <a:t> économique et </a:t>
            </a:r>
            <a:r>
              <a:rPr lang="fr-FR" dirty="0"/>
              <a:t>facteurs </a:t>
            </a:r>
            <a:r>
              <a:rPr dirty="0" err="1"/>
              <a:t>clés</a:t>
            </a:r>
            <a:r>
              <a:rPr dirty="0"/>
              <a:t> de succès</a:t>
            </a:r>
          </a:p>
        </p:txBody>
      </p:sp>
      <p:sp>
        <p:nvSpPr>
          <p:cNvPr id="4" name="TextBox 3"/>
          <p:cNvSpPr txBox="1"/>
          <p:nvPr/>
        </p:nvSpPr>
        <p:spPr>
          <a:xfrm>
            <a:off x="548640" y="6400800"/>
            <a:ext cx="11094415" cy="274320"/>
          </a:xfrm>
          <a:prstGeom prst="rect">
            <a:avLst/>
          </a:prstGeom>
          <a:noFill/>
        </p:spPr>
        <p:txBody>
          <a:bodyPr wrap="square" lIns="0" tIns="0" rIns="0" bIns="0">
            <a:spAutoFit/>
          </a:bodyPr>
          <a:lstStyle/>
          <a:p>
            <a:pPr>
              <a:defRPr sz="900">
                <a:solidFill>
                  <a:srgbClr val="B3B3B3"/>
                </a:solidFill>
                <a:latin typeface="Arial"/>
              </a:defRPr>
            </a:pPr>
            <a:r>
              <a:t>Spotify S.A. | Annexes - Données de cadrage &amp; détails techniques                                                                                                        Annexe 7 / 7</a:t>
            </a:r>
          </a:p>
        </p:txBody>
      </p:sp>
      <p:sp>
        <p:nvSpPr>
          <p:cNvPr id="5" name="Rounded Rectangle 4"/>
          <p:cNvSpPr/>
          <p:nvPr/>
        </p:nvSpPr>
        <p:spPr>
          <a:xfrm>
            <a:off x="548640" y="1371600"/>
            <a:ext cx="5303520" cy="4572000"/>
          </a:xfrm>
          <a:prstGeom prst="roundRect">
            <a:avLst/>
          </a:prstGeom>
          <a:solidFill>
            <a:srgbClr val="1E1E1E"/>
          </a:solidFill>
          <a:ln w="19050">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536192"/>
            <a:ext cx="4974336" cy="4242816"/>
          </a:xfrm>
          <a:prstGeom prst="rect">
            <a:avLst/>
          </a:prstGeom>
          <a:noFill/>
        </p:spPr>
        <p:txBody>
          <a:bodyPr wrap="square" lIns="0" tIns="0" rIns="0" bIns="0">
            <a:spAutoFit/>
          </a:bodyPr>
          <a:lstStyle/>
          <a:p>
            <a:pPr>
              <a:spcAft>
                <a:spcPts val="600"/>
              </a:spcAft>
              <a:defRPr sz="1200" b="1">
                <a:solidFill>
                  <a:srgbClr val="1DB954"/>
                </a:solidFill>
                <a:latin typeface="Arial"/>
              </a:defRPr>
            </a:pPr>
            <a:r>
              <a:rPr dirty="0" err="1"/>
              <a:t>Valorisation</a:t>
            </a:r>
            <a:r>
              <a:rPr dirty="0"/>
              <a:t> économique (</a:t>
            </a:r>
            <a:r>
              <a:rPr dirty="0" err="1"/>
              <a:t>infonomics</a:t>
            </a:r>
            <a:r>
              <a:rPr dirty="0"/>
              <a:t>)</a:t>
            </a:r>
          </a:p>
          <a:p>
            <a:pPr>
              <a:spcAft>
                <a:spcPts val="400"/>
              </a:spcAft>
              <a:defRPr sz="950" b="1">
                <a:solidFill>
                  <a:srgbClr val="FFFFFF"/>
                </a:solidFill>
                <a:latin typeface="Arial"/>
              </a:defRPr>
            </a:pPr>
            <a:r>
              <a:rPr dirty="0" err="1"/>
              <a:t>Optimisation</a:t>
            </a:r>
            <a:r>
              <a:rPr dirty="0"/>
              <a:t> </a:t>
            </a:r>
            <a:r>
              <a:rPr dirty="0" err="1"/>
              <a:t>Directe</a:t>
            </a:r>
            <a:r>
              <a:rPr dirty="0"/>
              <a:t> :</a:t>
            </a:r>
            <a:r>
              <a:rPr sz="950" b="0" dirty="0">
                <a:solidFill>
                  <a:srgbClr val="B3B3B3"/>
                </a:solidFill>
              </a:rPr>
              <a:t> </a:t>
            </a:r>
            <a:r>
              <a:rPr sz="950" b="0" dirty="0" err="1">
                <a:solidFill>
                  <a:srgbClr val="B3B3B3"/>
                </a:solidFill>
              </a:rPr>
              <a:t>Élimination</a:t>
            </a:r>
            <a:r>
              <a:rPr sz="950" b="0" dirty="0">
                <a:solidFill>
                  <a:srgbClr val="B3B3B3"/>
                </a:solidFill>
              </a:rPr>
              <a:t> des pipelines </a:t>
            </a:r>
            <a:r>
              <a:rPr sz="950" b="0" dirty="0" err="1">
                <a:solidFill>
                  <a:srgbClr val="B3B3B3"/>
                </a:solidFill>
              </a:rPr>
              <a:t>doublonnés</a:t>
            </a:r>
            <a:r>
              <a:rPr sz="950" b="0" dirty="0">
                <a:solidFill>
                  <a:srgbClr val="B3B3B3"/>
                </a:solidFill>
              </a:rPr>
              <a:t> et données marketing </a:t>
            </a:r>
            <a:r>
              <a:rPr sz="950" b="0" dirty="0" err="1">
                <a:solidFill>
                  <a:srgbClr val="B3B3B3"/>
                </a:solidFill>
              </a:rPr>
              <a:t>erronées</a:t>
            </a:r>
            <a:r>
              <a:rPr sz="950" b="0" dirty="0">
                <a:solidFill>
                  <a:srgbClr val="B3B3B3"/>
                </a:solidFill>
              </a:rPr>
              <a:t> </a:t>
            </a:r>
            <a:r>
              <a:rPr sz="950" b="0" dirty="0" err="1">
                <a:solidFill>
                  <a:srgbClr val="B3B3B3"/>
                </a:solidFill>
              </a:rPr>
              <a:t>permettant</a:t>
            </a:r>
            <a:r>
              <a:rPr sz="950" b="0" dirty="0">
                <a:solidFill>
                  <a:srgbClr val="B3B3B3"/>
                </a:solidFill>
              </a:rPr>
              <a:t> </a:t>
            </a:r>
            <a:r>
              <a:rPr sz="950" b="0" dirty="0" err="1">
                <a:solidFill>
                  <a:srgbClr val="B3B3B3"/>
                </a:solidFill>
              </a:rPr>
              <a:t>une</a:t>
            </a:r>
            <a:r>
              <a:rPr sz="950" b="0" dirty="0">
                <a:solidFill>
                  <a:srgbClr val="B3B3B3"/>
                </a:solidFill>
              </a:rPr>
              <a:t> </a:t>
            </a:r>
            <a:r>
              <a:rPr sz="950" b="0" dirty="0" err="1">
                <a:solidFill>
                  <a:srgbClr val="B3B3B3"/>
                </a:solidFill>
              </a:rPr>
              <a:t>économie</a:t>
            </a:r>
            <a:r>
              <a:rPr sz="950" b="0" dirty="0">
                <a:solidFill>
                  <a:srgbClr val="B3B3B3"/>
                </a:solidFill>
              </a:rPr>
              <a:t> de **15 %** du budget </a:t>
            </a:r>
            <a:r>
              <a:rPr sz="950" b="0" dirty="0" err="1">
                <a:solidFill>
                  <a:srgbClr val="B3B3B3"/>
                </a:solidFill>
              </a:rPr>
              <a:t>média</a:t>
            </a:r>
            <a:r>
              <a:rPr sz="950" b="0" dirty="0">
                <a:solidFill>
                  <a:srgbClr val="B3B3B3"/>
                </a:solidFill>
              </a:rPr>
              <a:t> </a:t>
            </a:r>
            <a:r>
              <a:rPr sz="950" b="0" dirty="0" err="1">
                <a:solidFill>
                  <a:srgbClr val="B3B3B3"/>
                </a:solidFill>
              </a:rPr>
              <a:t>d'acquisition</a:t>
            </a:r>
            <a:r>
              <a:rPr sz="950" b="0" dirty="0">
                <a:solidFill>
                  <a:srgbClr val="B3B3B3"/>
                </a:solidFill>
              </a:rPr>
              <a:t>.</a:t>
            </a:r>
          </a:p>
          <a:p>
            <a:pPr>
              <a:spcAft>
                <a:spcPts val="400"/>
              </a:spcAft>
              <a:defRPr sz="950" b="1">
                <a:solidFill>
                  <a:srgbClr val="FFFFFF"/>
                </a:solidFill>
                <a:latin typeface="Arial"/>
              </a:defRPr>
            </a:pPr>
            <a:r>
              <a:rPr dirty="0" err="1"/>
              <a:t>Productivité</a:t>
            </a:r>
            <a:r>
              <a:rPr dirty="0"/>
              <a:t> R&amp;D IA :</a:t>
            </a:r>
            <a:r>
              <a:rPr sz="950" b="0" dirty="0">
                <a:solidFill>
                  <a:srgbClr val="B3B3B3"/>
                </a:solidFill>
              </a:rPr>
              <a:t> </a:t>
            </a:r>
            <a:r>
              <a:rPr sz="950" b="0" dirty="0" err="1">
                <a:solidFill>
                  <a:srgbClr val="B3B3B3"/>
                </a:solidFill>
              </a:rPr>
              <a:t>Hausse</a:t>
            </a:r>
            <a:r>
              <a:rPr sz="950" b="0" dirty="0">
                <a:solidFill>
                  <a:srgbClr val="B3B3B3"/>
                </a:solidFill>
              </a:rPr>
              <a:t> de **25 %** de la </a:t>
            </a:r>
            <a:r>
              <a:rPr sz="950" b="0" dirty="0" err="1">
                <a:solidFill>
                  <a:srgbClr val="B3B3B3"/>
                </a:solidFill>
              </a:rPr>
              <a:t>rapidité</a:t>
            </a:r>
            <a:r>
              <a:rPr sz="950" b="0" dirty="0">
                <a:solidFill>
                  <a:srgbClr val="B3B3B3"/>
                </a:solidFill>
              </a:rPr>
              <a:t> de </a:t>
            </a:r>
            <a:r>
              <a:rPr sz="950" b="0" dirty="0" err="1">
                <a:solidFill>
                  <a:srgbClr val="B3B3B3"/>
                </a:solidFill>
              </a:rPr>
              <a:t>déploiement</a:t>
            </a:r>
            <a:r>
              <a:rPr sz="950" b="0" dirty="0">
                <a:solidFill>
                  <a:srgbClr val="B3B3B3"/>
                </a:solidFill>
              </a:rPr>
              <a:t> des </a:t>
            </a:r>
            <a:r>
              <a:rPr sz="950" b="0" dirty="0" err="1">
                <a:solidFill>
                  <a:srgbClr val="B3B3B3"/>
                </a:solidFill>
              </a:rPr>
              <a:t>modèles</a:t>
            </a:r>
            <a:r>
              <a:rPr sz="950" b="0" dirty="0">
                <a:solidFill>
                  <a:srgbClr val="B3B3B3"/>
                </a:solidFill>
              </a:rPr>
              <a:t> </a:t>
            </a:r>
            <a:r>
              <a:rPr sz="950" b="0" dirty="0" err="1">
                <a:solidFill>
                  <a:srgbClr val="B3B3B3"/>
                </a:solidFill>
              </a:rPr>
              <a:t>d'IA</a:t>
            </a:r>
            <a:r>
              <a:rPr sz="950" b="0" dirty="0">
                <a:solidFill>
                  <a:srgbClr val="B3B3B3"/>
                </a:solidFill>
              </a:rPr>
              <a:t> </a:t>
            </a:r>
            <a:r>
              <a:rPr sz="950" b="0" dirty="0" err="1">
                <a:solidFill>
                  <a:srgbClr val="B3B3B3"/>
                </a:solidFill>
              </a:rPr>
              <a:t>prédictifs</a:t>
            </a:r>
            <a:r>
              <a:rPr sz="950" b="0" dirty="0">
                <a:solidFill>
                  <a:srgbClr val="B3B3B3"/>
                </a:solidFill>
              </a:rPr>
              <a:t> </a:t>
            </a:r>
            <a:r>
              <a:rPr sz="950" b="0" dirty="0" err="1">
                <a:solidFill>
                  <a:srgbClr val="B3B3B3"/>
                </a:solidFill>
              </a:rPr>
              <a:t>en</a:t>
            </a:r>
            <a:r>
              <a:rPr sz="950" b="0" dirty="0">
                <a:solidFill>
                  <a:srgbClr val="B3B3B3"/>
                </a:solidFill>
              </a:rPr>
              <a:t> </a:t>
            </a:r>
            <a:r>
              <a:rPr sz="950" b="0" dirty="0" err="1">
                <a:solidFill>
                  <a:srgbClr val="B3B3B3"/>
                </a:solidFill>
              </a:rPr>
              <a:t>fournissant</a:t>
            </a:r>
            <a:r>
              <a:rPr sz="950" b="0" dirty="0">
                <a:solidFill>
                  <a:srgbClr val="B3B3B3"/>
                </a:solidFill>
              </a:rPr>
              <a:t> des données </a:t>
            </a:r>
            <a:r>
              <a:rPr sz="950" b="0" dirty="0" err="1">
                <a:solidFill>
                  <a:srgbClr val="B3B3B3"/>
                </a:solidFill>
              </a:rPr>
              <a:t>documentées</a:t>
            </a:r>
            <a:r>
              <a:rPr sz="950" b="0" dirty="0">
                <a:solidFill>
                  <a:srgbClr val="B3B3B3"/>
                </a:solidFill>
              </a:rPr>
              <a:t> et </a:t>
            </a:r>
            <a:r>
              <a:rPr sz="950" b="0" dirty="0" err="1">
                <a:solidFill>
                  <a:srgbClr val="B3B3B3"/>
                </a:solidFill>
              </a:rPr>
              <a:t>qualifiées</a:t>
            </a:r>
            <a:r>
              <a:rPr sz="950" b="0" dirty="0">
                <a:solidFill>
                  <a:srgbClr val="B3B3B3"/>
                </a:solidFill>
              </a:rPr>
              <a:t> par Backstage.</a:t>
            </a:r>
          </a:p>
          <a:p>
            <a:pPr>
              <a:spcAft>
                <a:spcPts val="400"/>
              </a:spcAft>
              <a:defRPr sz="950" b="1">
                <a:solidFill>
                  <a:srgbClr val="FFFFFF"/>
                </a:solidFill>
                <a:latin typeface="Arial"/>
              </a:defRPr>
            </a:pPr>
            <a:r>
              <a:rPr dirty="0" err="1"/>
              <a:t>Réduction</a:t>
            </a:r>
            <a:r>
              <a:rPr dirty="0"/>
              <a:t> des </a:t>
            </a:r>
            <a:r>
              <a:rPr dirty="0" err="1"/>
              <a:t>Risques</a:t>
            </a:r>
            <a:r>
              <a:rPr dirty="0"/>
              <a:t> Cyber :</a:t>
            </a:r>
            <a:r>
              <a:rPr sz="950" b="0" dirty="0">
                <a:solidFill>
                  <a:srgbClr val="B3B3B3"/>
                </a:solidFill>
              </a:rPr>
              <a:t> Couverture proactive </a:t>
            </a:r>
            <a:r>
              <a:rPr sz="950" b="0" dirty="0" err="1">
                <a:solidFill>
                  <a:srgbClr val="B3B3B3"/>
                </a:solidFill>
              </a:rPr>
              <a:t>contre</a:t>
            </a:r>
            <a:r>
              <a:rPr sz="950" b="0" dirty="0">
                <a:solidFill>
                  <a:srgbClr val="B3B3B3"/>
                </a:solidFill>
              </a:rPr>
              <a:t> les </a:t>
            </a:r>
            <a:r>
              <a:rPr sz="950" b="0" dirty="0" err="1">
                <a:solidFill>
                  <a:srgbClr val="B3B3B3"/>
                </a:solidFill>
              </a:rPr>
              <a:t>amendes</a:t>
            </a:r>
            <a:r>
              <a:rPr sz="950" b="0" dirty="0">
                <a:solidFill>
                  <a:srgbClr val="B3B3B3"/>
                </a:solidFill>
              </a:rPr>
              <a:t> </a:t>
            </a:r>
            <a:r>
              <a:rPr sz="950" b="0" dirty="0" err="1">
                <a:solidFill>
                  <a:srgbClr val="B3B3B3"/>
                </a:solidFill>
              </a:rPr>
              <a:t>financières</a:t>
            </a:r>
            <a:r>
              <a:rPr sz="950" b="0" dirty="0">
                <a:solidFill>
                  <a:srgbClr val="B3B3B3"/>
                </a:solidFill>
              </a:rPr>
              <a:t> du RGPD (</a:t>
            </a:r>
            <a:r>
              <a:rPr sz="950" b="0" dirty="0" err="1">
                <a:solidFill>
                  <a:srgbClr val="B3B3B3"/>
                </a:solidFill>
              </a:rPr>
              <a:t>pouvant</a:t>
            </a:r>
            <a:r>
              <a:rPr sz="950" b="0" dirty="0">
                <a:solidFill>
                  <a:srgbClr val="B3B3B3"/>
                </a:solidFill>
              </a:rPr>
              <a:t> </a:t>
            </a:r>
            <a:r>
              <a:rPr sz="950" b="0" dirty="0" err="1">
                <a:solidFill>
                  <a:srgbClr val="B3B3B3"/>
                </a:solidFill>
              </a:rPr>
              <a:t>atteindre</a:t>
            </a:r>
            <a:r>
              <a:rPr sz="950" b="0" dirty="0">
                <a:solidFill>
                  <a:srgbClr val="B3B3B3"/>
                </a:solidFill>
              </a:rPr>
              <a:t> 4 % du chiffre d'affaires </a:t>
            </a:r>
            <a:r>
              <a:rPr sz="950" b="0" dirty="0" err="1">
                <a:solidFill>
                  <a:srgbClr val="B3B3B3"/>
                </a:solidFill>
              </a:rPr>
              <a:t>mondial</a:t>
            </a:r>
            <a:r>
              <a:rPr sz="950" b="0" dirty="0">
                <a:solidFill>
                  <a:srgbClr val="B3B3B3"/>
                </a:solidFill>
              </a:rPr>
              <a:t>).</a:t>
            </a:r>
          </a:p>
          <a:p>
            <a:pPr>
              <a:spcAft>
                <a:spcPts val="400"/>
              </a:spcAft>
              <a:defRPr sz="950" b="1">
                <a:solidFill>
                  <a:srgbClr val="FFFFFF"/>
                </a:solidFill>
                <a:latin typeface="Arial"/>
              </a:defRPr>
            </a:pPr>
            <a:r>
              <a:rPr dirty="0"/>
              <a:t>Green IT &amp; </a:t>
            </a:r>
            <a:r>
              <a:rPr dirty="0" err="1"/>
              <a:t>Éco</a:t>
            </a:r>
            <a:r>
              <a:rPr dirty="0"/>
              <a:t>-conception :</a:t>
            </a:r>
            <a:r>
              <a:rPr sz="950" b="0" dirty="0">
                <a:solidFill>
                  <a:srgbClr val="B3B3B3"/>
                </a:solidFill>
              </a:rPr>
              <a:t> </a:t>
            </a:r>
            <a:r>
              <a:rPr sz="950" b="0" dirty="0" err="1">
                <a:solidFill>
                  <a:srgbClr val="B3B3B3"/>
                </a:solidFill>
              </a:rPr>
              <a:t>Élimination</a:t>
            </a:r>
            <a:r>
              <a:rPr sz="950" b="0" dirty="0">
                <a:solidFill>
                  <a:srgbClr val="B3B3B3"/>
                </a:solidFill>
              </a:rPr>
              <a:t> </a:t>
            </a:r>
            <a:r>
              <a:rPr sz="950" b="0" dirty="0" err="1">
                <a:solidFill>
                  <a:srgbClr val="B3B3B3"/>
                </a:solidFill>
              </a:rPr>
              <a:t>automatique</a:t>
            </a:r>
            <a:r>
              <a:rPr sz="950" b="0" dirty="0">
                <a:solidFill>
                  <a:srgbClr val="B3B3B3"/>
                </a:solidFill>
              </a:rPr>
              <a:t> des tables </a:t>
            </a:r>
            <a:r>
              <a:rPr sz="950" b="0" dirty="0" err="1">
                <a:solidFill>
                  <a:srgbClr val="B3B3B3"/>
                </a:solidFill>
              </a:rPr>
              <a:t>orphelines</a:t>
            </a:r>
            <a:r>
              <a:rPr sz="950" b="0" dirty="0">
                <a:solidFill>
                  <a:srgbClr val="B3B3B3"/>
                </a:solidFill>
              </a:rPr>
              <a:t> et </a:t>
            </a:r>
            <a:r>
              <a:rPr sz="950" b="0" dirty="0" err="1">
                <a:solidFill>
                  <a:srgbClr val="B3B3B3"/>
                </a:solidFill>
              </a:rPr>
              <a:t>calculs</a:t>
            </a:r>
            <a:r>
              <a:rPr sz="950" b="0" dirty="0">
                <a:solidFill>
                  <a:srgbClr val="B3B3B3"/>
                </a:solidFill>
              </a:rPr>
              <a:t> </a:t>
            </a:r>
            <a:r>
              <a:rPr sz="950" b="0" dirty="0" err="1">
                <a:solidFill>
                  <a:srgbClr val="B3B3B3"/>
                </a:solidFill>
              </a:rPr>
              <a:t>redondants</a:t>
            </a:r>
            <a:r>
              <a:rPr sz="950" b="0" dirty="0">
                <a:solidFill>
                  <a:srgbClr val="B3B3B3"/>
                </a:solidFill>
              </a:rPr>
              <a:t>, </a:t>
            </a:r>
            <a:r>
              <a:rPr sz="950" b="0" dirty="0" err="1">
                <a:solidFill>
                  <a:srgbClr val="B3B3B3"/>
                </a:solidFill>
              </a:rPr>
              <a:t>réduisant</a:t>
            </a:r>
            <a:r>
              <a:rPr sz="950" b="0" dirty="0">
                <a:solidFill>
                  <a:srgbClr val="B3B3B3"/>
                </a:solidFill>
              </a:rPr>
              <a:t> </a:t>
            </a:r>
            <a:r>
              <a:rPr sz="950" b="0" dirty="0" err="1">
                <a:solidFill>
                  <a:srgbClr val="B3B3B3"/>
                </a:solidFill>
              </a:rPr>
              <a:t>l'empreinte</a:t>
            </a:r>
            <a:r>
              <a:rPr sz="950" b="0" dirty="0">
                <a:solidFill>
                  <a:srgbClr val="B3B3B3"/>
                </a:solidFill>
              </a:rPr>
              <a:t> </a:t>
            </a:r>
            <a:r>
              <a:rPr sz="950" b="0" dirty="0" err="1">
                <a:solidFill>
                  <a:srgbClr val="B3B3B3"/>
                </a:solidFill>
              </a:rPr>
              <a:t>carbone</a:t>
            </a:r>
            <a:r>
              <a:rPr sz="950" b="0" dirty="0">
                <a:solidFill>
                  <a:srgbClr val="B3B3B3"/>
                </a:solidFill>
              </a:rPr>
              <a:t> cloud de Spotify.</a:t>
            </a:r>
          </a:p>
        </p:txBody>
      </p:sp>
      <p:sp>
        <p:nvSpPr>
          <p:cNvPr id="7" name="Rounded Rectangle 6"/>
          <p:cNvSpPr/>
          <p:nvPr/>
        </p:nvSpPr>
        <p:spPr>
          <a:xfrm>
            <a:off x="6217920" y="1371600"/>
            <a:ext cx="5394960" cy="4572000"/>
          </a:xfrm>
          <a:prstGeom prst="roundRect">
            <a:avLst/>
          </a:prstGeom>
          <a:solidFill>
            <a:srgbClr val="142D19"/>
          </a:solidFill>
          <a:ln w="19050">
            <a:solidFill>
              <a:srgbClr val="289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82512" y="1536192"/>
            <a:ext cx="5065776" cy="4242816"/>
          </a:xfrm>
          <a:prstGeom prst="rect">
            <a:avLst/>
          </a:prstGeom>
          <a:noFill/>
        </p:spPr>
        <p:txBody>
          <a:bodyPr wrap="square" lIns="0" tIns="0" rIns="0" bIns="0">
            <a:spAutoFit/>
          </a:bodyPr>
          <a:lstStyle/>
          <a:p>
            <a:pPr>
              <a:spcAft>
                <a:spcPts val="600"/>
              </a:spcAft>
              <a:defRPr sz="1200" b="1">
                <a:solidFill>
                  <a:srgbClr val="FFFFFF"/>
                </a:solidFill>
                <a:latin typeface="Arial"/>
              </a:defRPr>
            </a:pPr>
            <a:r>
              <a:rPr dirty="0" err="1"/>
              <a:t>Synthèse</a:t>
            </a:r>
            <a:r>
              <a:rPr dirty="0"/>
              <a:t> </a:t>
            </a:r>
            <a:r>
              <a:rPr dirty="0" err="1"/>
              <a:t>stratégique</a:t>
            </a:r>
            <a:r>
              <a:rPr dirty="0"/>
              <a:t> &amp; </a:t>
            </a:r>
            <a:r>
              <a:rPr dirty="0" err="1"/>
              <a:t>clés</a:t>
            </a:r>
            <a:r>
              <a:rPr dirty="0"/>
              <a:t> de succès</a:t>
            </a:r>
          </a:p>
          <a:p>
            <a:pPr>
              <a:spcAft>
                <a:spcPts val="400"/>
              </a:spcAft>
              <a:defRPr sz="950" b="1">
                <a:solidFill>
                  <a:srgbClr val="FFFFFF"/>
                </a:solidFill>
                <a:latin typeface="Arial"/>
              </a:defRPr>
            </a:pPr>
            <a:r>
              <a:rPr dirty="0"/>
              <a:t>Un </a:t>
            </a:r>
            <a:r>
              <a:rPr dirty="0" err="1"/>
              <a:t>Modèle</a:t>
            </a:r>
            <a:r>
              <a:rPr dirty="0"/>
              <a:t> Moderne </a:t>
            </a:r>
            <a:r>
              <a:rPr dirty="0" err="1"/>
              <a:t>Fédéré</a:t>
            </a:r>
            <a:r>
              <a:rPr dirty="0"/>
              <a:t> :</a:t>
            </a:r>
            <a:r>
              <a:rPr sz="950" b="0" dirty="0">
                <a:solidFill>
                  <a:srgbClr val="B3B3B3"/>
                </a:solidFill>
              </a:rPr>
              <a:t> Unifier les données sans </a:t>
            </a:r>
            <a:r>
              <a:rPr sz="950" b="0" dirty="0" err="1">
                <a:solidFill>
                  <a:srgbClr val="B3B3B3"/>
                </a:solidFill>
              </a:rPr>
              <a:t>ralentir</a:t>
            </a:r>
            <a:r>
              <a:rPr sz="950" b="0" dirty="0">
                <a:solidFill>
                  <a:srgbClr val="B3B3B3"/>
                </a:solidFill>
              </a:rPr>
              <a:t> le cycle de </a:t>
            </a:r>
            <a:r>
              <a:rPr sz="950" b="0" dirty="0" err="1">
                <a:solidFill>
                  <a:srgbClr val="B3B3B3"/>
                </a:solidFill>
              </a:rPr>
              <a:t>déploiement</a:t>
            </a:r>
            <a:r>
              <a:rPr sz="950" b="0" dirty="0">
                <a:solidFill>
                  <a:srgbClr val="B3B3B3"/>
                </a:solidFill>
              </a:rPr>
              <a:t> agile des Squads.</a:t>
            </a:r>
          </a:p>
          <a:p>
            <a:pPr>
              <a:spcAft>
                <a:spcPts val="400"/>
              </a:spcAft>
              <a:defRPr sz="950" b="1">
                <a:solidFill>
                  <a:srgbClr val="FFFFFF"/>
                </a:solidFill>
                <a:latin typeface="Arial"/>
              </a:defRPr>
            </a:pPr>
            <a:r>
              <a:rPr dirty="0"/>
              <a:t>La </a:t>
            </a:r>
            <a:r>
              <a:rPr dirty="0" err="1"/>
              <a:t>Gouvernance</a:t>
            </a:r>
            <a:r>
              <a:rPr dirty="0"/>
              <a:t> Invisible :</a:t>
            </a:r>
            <a:r>
              <a:rPr sz="950" b="0" dirty="0">
                <a:solidFill>
                  <a:srgbClr val="B3B3B3"/>
                </a:solidFill>
              </a:rPr>
              <a:t> </a:t>
            </a:r>
            <a:r>
              <a:rPr sz="950" b="0" dirty="0" err="1">
                <a:solidFill>
                  <a:srgbClr val="B3B3B3"/>
                </a:solidFill>
              </a:rPr>
              <a:t>Automatiser</a:t>
            </a:r>
            <a:r>
              <a:rPr sz="950" b="0" dirty="0">
                <a:solidFill>
                  <a:srgbClr val="B3B3B3"/>
                </a:solidFill>
              </a:rPr>
              <a:t> la </a:t>
            </a:r>
            <a:r>
              <a:rPr sz="950" b="0" dirty="0" err="1">
                <a:solidFill>
                  <a:srgbClr val="B3B3B3"/>
                </a:solidFill>
              </a:rPr>
              <a:t>conformité</a:t>
            </a:r>
            <a:r>
              <a:rPr sz="950" b="0" dirty="0">
                <a:solidFill>
                  <a:srgbClr val="B3B3B3"/>
                </a:solidFill>
              </a:rPr>
              <a:t> et la </a:t>
            </a:r>
            <a:r>
              <a:rPr sz="950" b="0" dirty="0" err="1">
                <a:solidFill>
                  <a:srgbClr val="B3B3B3"/>
                </a:solidFill>
              </a:rPr>
              <a:t>propriété</a:t>
            </a:r>
            <a:r>
              <a:rPr sz="950" b="0" dirty="0">
                <a:solidFill>
                  <a:srgbClr val="B3B3B3"/>
                </a:solidFill>
              </a:rPr>
              <a:t> par le code source (</a:t>
            </a:r>
            <a:r>
              <a:rPr sz="950" b="0" dirty="0" err="1">
                <a:solidFill>
                  <a:srgbClr val="B3B3B3"/>
                </a:solidFill>
              </a:rPr>
              <a:t>owner.yaml</a:t>
            </a:r>
            <a:r>
              <a:rPr sz="950" b="0" dirty="0">
                <a:solidFill>
                  <a:srgbClr val="B3B3B3"/>
                </a:solidFill>
              </a:rPr>
              <a:t> et Backstage).</a:t>
            </a:r>
          </a:p>
          <a:p>
            <a:pPr>
              <a:spcAft>
                <a:spcPts val="400"/>
              </a:spcAft>
              <a:defRPr sz="950" b="1">
                <a:solidFill>
                  <a:srgbClr val="FFFFFF"/>
                </a:solidFill>
                <a:latin typeface="Arial"/>
              </a:defRPr>
            </a:pPr>
            <a:r>
              <a:rPr dirty="0"/>
              <a:t>Inclusion &amp; Cyber-</a:t>
            </a:r>
            <a:r>
              <a:rPr dirty="0" err="1"/>
              <a:t>résilience</a:t>
            </a:r>
            <a:r>
              <a:rPr dirty="0"/>
              <a:t> :</a:t>
            </a:r>
            <a:r>
              <a:rPr sz="950" b="0" dirty="0">
                <a:solidFill>
                  <a:srgbClr val="B3B3B3"/>
                </a:solidFill>
              </a:rPr>
              <a:t> </a:t>
            </a:r>
            <a:r>
              <a:rPr sz="950" b="0" dirty="0" err="1">
                <a:solidFill>
                  <a:srgbClr val="B3B3B3"/>
                </a:solidFill>
              </a:rPr>
              <a:t>Intégrer</a:t>
            </a:r>
            <a:r>
              <a:rPr sz="950" b="0" dirty="0">
                <a:solidFill>
                  <a:srgbClr val="B3B3B3"/>
                </a:solidFill>
              </a:rPr>
              <a:t> les </a:t>
            </a:r>
            <a:r>
              <a:rPr sz="950" b="0" dirty="0" err="1">
                <a:solidFill>
                  <a:srgbClr val="B3B3B3"/>
                </a:solidFill>
              </a:rPr>
              <a:t>normes</a:t>
            </a:r>
            <a:r>
              <a:rPr sz="950" b="0" dirty="0">
                <a:solidFill>
                  <a:srgbClr val="B3B3B3"/>
                </a:solidFill>
              </a:rPr>
              <a:t> RGAA </a:t>
            </a:r>
            <a:r>
              <a:rPr sz="950" b="0" dirty="0" err="1">
                <a:solidFill>
                  <a:srgbClr val="B3B3B3"/>
                </a:solidFill>
              </a:rPr>
              <a:t>d'accessibilité</a:t>
            </a:r>
            <a:r>
              <a:rPr sz="950" b="0" dirty="0">
                <a:solidFill>
                  <a:srgbClr val="B3B3B3"/>
                </a:solidFill>
              </a:rPr>
              <a:t> et </a:t>
            </a:r>
            <a:r>
              <a:rPr sz="950" b="0" dirty="0" err="1">
                <a:solidFill>
                  <a:srgbClr val="B3B3B3"/>
                </a:solidFill>
              </a:rPr>
              <a:t>sécuriser</a:t>
            </a:r>
            <a:r>
              <a:rPr sz="950" b="0" dirty="0">
                <a:solidFill>
                  <a:srgbClr val="B3B3B3"/>
                </a:solidFill>
              </a:rPr>
              <a:t> </a:t>
            </a:r>
            <a:r>
              <a:rPr sz="950" b="0" dirty="0" err="1">
                <a:solidFill>
                  <a:srgbClr val="B3B3B3"/>
                </a:solidFill>
              </a:rPr>
              <a:t>l'infrastructure</a:t>
            </a:r>
            <a:r>
              <a:rPr sz="950" b="0" dirty="0">
                <a:solidFill>
                  <a:srgbClr val="B3B3B3"/>
                </a:solidFill>
              </a:rPr>
              <a:t> </a:t>
            </a:r>
            <a:r>
              <a:rPr sz="950" b="0" dirty="0" err="1">
                <a:solidFill>
                  <a:srgbClr val="B3B3B3"/>
                </a:solidFill>
              </a:rPr>
              <a:t>d'urgence</a:t>
            </a:r>
            <a:r>
              <a:rPr sz="950" b="0" dirty="0">
                <a:solidFill>
                  <a:srgbClr val="B3B3B3"/>
                </a:solidFill>
              </a:rPr>
              <a:t> face aux crises majeures (Plans Alpha et Beta).</a:t>
            </a:r>
          </a:p>
          <a:p>
            <a:pPr>
              <a:spcAft>
                <a:spcPts val="400"/>
              </a:spcAft>
              <a:defRPr sz="950">
                <a:solidFill>
                  <a:srgbClr val="B3B3B3"/>
                </a:solidFill>
                <a:latin typeface="Arial"/>
              </a:defRPr>
            </a:pPr>
            <a:endParaRPr sz="950" b="0" dirty="0">
              <a:solidFill>
                <a:srgbClr val="B3B3B3"/>
              </a:solidFill>
            </a:endParaRPr>
          </a:p>
          <a:p>
            <a:pPr>
              <a:spcAft>
                <a:spcPts val="400"/>
              </a:spcAft>
              <a:defRPr sz="950" b="1">
                <a:solidFill>
                  <a:srgbClr val="FFFFFF"/>
                </a:solidFill>
                <a:latin typeface="Arial"/>
              </a:defRPr>
            </a:pPr>
            <a:r>
              <a:rPr dirty="0"/>
              <a:t>**</a:t>
            </a:r>
            <a:r>
              <a:rPr dirty="0" err="1"/>
              <a:t>Remerciements</a:t>
            </a:r>
            <a:r>
              <a:rPr dirty="0"/>
              <a:t> :</a:t>
            </a:r>
            <a:r>
              <a:rPr sz="950" b="0" dirty="0">
                <a:solidFill>
                  <a:srgbClr val="B3B3B3"/>
                </a:solidFill>
              </a:rPr>
              <a:t>** Je vous </a:t>
            </a:r>
            <a:r>
              <a:rPr sz="950" b="0" dirty="0" err="1">
                <a:solidFill>
                  <a:srgbClr val="B3B3B3"/>
                </a:solidFill>
              </a:rPr>
              <a:t>remercie</a:t>
            </a:r>
            <a:r>
              <a:rPr sz="950" b="0" dirty="0">
                <a:solidFill>
                  <a:srgbClr val="B3B3B3"/>
                </a:solidFill>
              </a:rPr>
              <a:t> pour </a:t>
            </a:r>
            <a:r>
              <a:rPr sz="950" b="0" dirty="0" err="1">
                <a:solidFill>
                  <a:srgbClr val="B3B3B3"/>
                </a:solidFill>
              </a:rPr>
              <a:t>votre</a:t>
            </a:r>
            <a:r>
              <a:rPr sz="950" b="0" dirty="0">
                <a:solidFill>
                  <a:srgbClr val="B3B3B3"/>
                </a:solidFill>
              </a:rPr>
              <a:t> attention et me </a:t>
            </a:r>
            <a:r>
              <a:rPr sz="950" b="0" dirty="0" err="1">
                <a:solidFill>
                  <a:srgbClr val="B3B3B3"/>
                </a:solidFill>
              </a:rPr>
              <a:t>tiens</a:t>
            </a:r>
            <a:r>
              <a:rPr sz="950" b="0" dirty="0">
                <a:solidFill>
                  <a:srgbClr val="B3B3B3"/>
                </a:solidFill>
              </a:rPr>
              <a:t> à </a:t>
            </a:r>
            <a:r>
              <a:rPr sz="950" b="0" dirty="0" err="1">
                <a:solidFill>
                  <a:srgbClr val="B3B3B3"/>
                </a:solidFill>
              </a:rPr>
              <a:t>votre</a:t>
            </a:r>
            <a:r>
              <a:rPr sz="950" b="0" dirty="0">
                <a:solidFill>
                  <a:srgbClr val="B3B3B3"/>
                </a:solidFill>
              </a:rPr>
              <a:t> </a:t>
            </a:r>
            <a:r>
              <a:rPr sz="950" b="0" dirty="0" err="1">
                <a:solidFill>
                  <a:srgbClr val="B3B3B3"/>
                </a:solidFill>
              </a:rPr>
              <a:t>entière</a:t>
            </a:r>
            <a:r>
              <a:rPr sz="950" b="0" dirty="0">
                <a:solidFill>
                  <a:srgbClr val="B3B3B3"/>
                </a:solidFill>
              </a:rPr>
              <a:t> disposition pour </a:t>
            </a:r>
            <a:r>
              <a:rPr sz="950" b="0" dirty="0" err="1">
                <a:solidFill>
                  <a:srgbClr val="B3B3B3"/>
                </a:solidFill>
              </a:rPr>
              <a:t>répondre</a:t>
            </a:r>
            <a:r>
              <a:rPr sz="950" b="0" dirty="0">
                <a:solidFill>
                  <a:srgbClr val="B3B3B3"/>
                </a:solidFill>
              </a:rPr>
              <a:t> à </a:t>
            </a:r>
            <a:r>
              <a:rPr sz="950" b="0" dirty="0" err="1">
                <a:solidFill>
                  <a:srgbClr val="B3B3B3"/>
                </a:solidFill>
              </a:rPr>
              <a:t>vos</a:t>
            </a:r>
            <a:r>
              <a:rPr sz="950" b="0" dirty="0">
                <a:solidFill>
                  <a:srgbClr val="B3B3B3"/>
                </a:solidFill>
              </a:rPr>
              <a:t>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TotalTime>
  <Words>7468</Words>
  <Application>Microsoft Office PowerPoint</Application>
  <PresentationFormat>Grand écran</PresentationFormat>
  <Paragraphs>745</Paragraphs>
  <Slides>29</Slides>
  <Notes>21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29</vt:i4>
      </vt:variant>
    </vt:vector>
  </HeadingPairs>
  <TitlesOfParts>
    <vt:vector size="32"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Caroline MS</dc:creator>
  <cp:keywords/>
  <dc:description>generated using python-pptx</dc:description>
  <cp:lastModifiedBy>Caroline Heymes</cp:lastModifiedBy>
  <cp:revision>4</cp:revision>
  <dcterms:created xsi:type="dcterms:W3CDTF">2013-01-27T09:14:16Z</dcterms:created>
  <dcterms:modified xsi:type="dcterms:W3CDTF">2026-06-10T14:53:34Z</dcterms:modified>
  <cp:category/>
</cp:coreProperties>
</file>